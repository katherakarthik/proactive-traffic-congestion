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media/image5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65" r:id="rId11"/>
    <p:sldId id="266" r:id="rId12"/>
    <p:sldId id="273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embeddedFontLst>
    <p:embeddedFont>
      <p:font typeface="Liter" panose="020B0604020202020204" charset="0"/>
      <p:regular r:id="rId20"/>
    </p:embeddedFont>
    <p:embeddedFont>
      <p:font typeface="Quattrocento Sans" panose="020B0502050000020003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78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unsplash.com/50583af32b56284669026d733e6cb2df194ce5f9"/>
          <p:cNvPicPr>
            <a:picLocks noChangeAspect="1"/>
          </p:cNvPicPr>
          <p:nvPr/>
        </p:nvPicPr>
        <p:blipFill>
          <a:blip r:embed="rId3">
            <a:alphaModFix amt="40000"/>
          </a:blip>
          <a:srcRect t="26464" b="2646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76457"/>
            <a:ext cx="3238500" cy="419100"/>
          </a:xfrm>
          <a:custGeom>
            <a:avLst/>
            <a:gdLst/>
            <a:ahLst/>
            <a:cxnLst/>
            <a:rect l="l" t="t" r="r" b="b"/>
            <a:pathLst>
              <a:path w="3238500" h="419100">
                <a:moveTo>
                  <a:pt x="0" y="0"/>
                </a:moveTo>
                <a:lnTo>
                  <a:pt x="3238500" y="0"/>
                </a:lnTo>
                <a:lnTo>
                  <a:pt x="32385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176457"/>
            <a:ext cx="3324225" cy="4191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RESEARCH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24157"/>
            <a:ext cx="7477125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Traffic Congestion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and Signal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95882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462582"/>
            <a:ext cx="73056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Leveraging Historical Data and Time-Based Patterns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Intelligent Urban Traffic Management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867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0" name="Shape 7"/>
          <p:cNvSpPr/>
          <p:nvPr/>
        </p:nvSpPr>
        <p:spPr>
          <a:xfrm>
            <a:off x="585788" y="6057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11" name="Text 8"/>
          <p:cNvSpPr/>
          <p:nvPr/>
        </p:nvSpPr>
        <p:spPr>
          <a:xfrm>
            <a:off x="1181100" y="588645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1100" y="615315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Kathera Karthik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866716" y="60579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Urban Traffic Challenge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5581650" cy="1752600"/>
          </a:xfrm>
          <a:custGeom>
            <a:avLst/>
            <a:gdLst/>
            <a:ahLst/>
            <a:cxnLst/>
            <a:rect l="l" t="t" r="r" b="b"/>
            <a:pathLst>
              <a:path w="5581650" h="1752600">
                <a:moveTo>
                  <a:pt x="38100" y="0"/>
                </a:moveTo>
                <a:lnTo>
                  <a:pt x="5505447" y="0"/>
                </a:lnTo>
                <a:cubicBezTo>
                  <a:pt x="5547533" y="0"/>
                  <a:pt x="5581650" y="34117"/>
                  <a:pt x="5581650" y="76203"/>
                </a:cubicBezTo>
                <a:lnTo>
                  <a:pt x="5581650" y="1676397"/>
                </a:lnTo>
                <a:cubicBezTo>
                  <a:pt x="5581650" y="1718483"/>
                  <a:pt x="5547533" y="1752600"/>
                  <a:pt x="5505447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4CB5A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7" name="Shape 5"/>
          <p:cNvSpPr/>
          <p:nvPr/>
        </p:nvSpPr>
        <p:spPr>
          <a:xfrm>
            <a:off x="661988" y="179058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42875" y="0"/>
                </a:moveTo>
                <a:cubicBezTo>
                  <a:pt x="127114" y="0"/>
                  <a:pt x="114300" y="12814"/>
                  <a:pt x="114300" y="28575"/>
                </a:cubicBezTo>
                <a:lnTo>
                  <a:pt x="114300" y="42863"/>
                </a:lnTo>
                <a:lnTo>
                  <a:pt x="92869" y="42863"/>
                </a:lnTo>
                <a:lnTo>
                  <a:pt x="92869" y="10716"/>
                </a:lnTo>
                <a:cubicBezTo>
                  <a:pt x="92869" y="4777"/>
                  <a:pt x="88091" y="0"/>
                  <a:pt x="82153" y="0"/>
                </a:cubicBezTo>
                <a:cubicBezTo>
                  <a:pt x="76215" y="0"/>
                  <a:pt x="71438" y="4777"/>
                  <a:pt x="71438" y="10716"/>
                </a:cubicBezTo>
                <a:lnTo>
                  <a:pt x="71438" y="42863"/>
                </a:lnTo>
                <a:lnTo>
                  <a:pt x="42863" y="42863"/>
                </a:lnTo>
                <a:lnTo>
                  <a:pt x="42863" y="10716"/>
                </a:lnTo>
                <a:cubicBezTo>
                  <a:pt x="42863" y="4777"/>
                  <a:pt x="38085" y="0"/>
                  <a:pt x="32147" y="0"/>
                </a:cubicBezTo>
                <a:cubicBezTo>
                  <a:pt x="26209" y="0"/>
                  <a:pt x="21431" y="4777"/>
                  <a:pt x="21431" y="10716"/>
                </a:cubicBezTo>
                <a:lnTo>
                  <a:pt x="21431" y="43755"/>
                </a:lnTo>
                <a:cubicBezTo>
                  <a:pt x="9108" y="46926"/>
                  <a:pt x="0" y="58132"/>
                  <a:pt x="0" y="71438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228600" y="228600"/>
                </a:lnTo>
                <a:cubicBezTo>
                  <a:pt x="244361" y="228600"/>
                  <a:pt x="257175" y="215786"/>
                  <a:pt x="257175" y="200025"/>
                </a:cubicBezTo>
                <a:lnTo>
                  <a:pt x="257175" y="114300"/>
                </a:lnTo>
                <a:cubicBezTo>
                  <a:pt x="257175" y="98539"/>
                  <a:pt x="244361" y="85725"/>
                  <a:pt x="228600" y="85725"/>
                </a:cubicBezTo>
                <a:lnTo>
                  <a:pt x="200025" y="85725"/>
                </a:lnTo>
                <a:lnTo>
                  <a:pt x="200025" y="28575"/>
                </a:lnTo>
                <a:cubicBezTo>
                  <a:pt x="200025" y="12814"/>
                  <a:pt x="187211" y="0"/>
                  <a:pt x="171450" y="0"/>
                </a:cubicBezTo>
                <a:lnTo>
                  <a:pt x="142875" y="0"/>
                </a:lnTo>
                <a:close/>
                <a:moveTo>
                  <a:pt x="171450" y="50006"/>
                </a:moveTo>
                <a:lnTo>
                  <a:pt x="171450" y="64294"/>
                </a:lnTo>
                <a:cubicBezTo>
                  <a:pt x="171450" y="68223"/>
                  <a:pt x="168235" y="71438"/>
                  <a:pt x="164306" y="71438"/>
                </a:cubicBezTo>
                <a:lnTo>
                  <a:pt x="150019" y="71438"/>
                </a:lnTo>
                <a:cubicBezTo>
                  <a:pt x="146090" y="71438"/>
                  <a:pt x="142875" y="68223"/>
                  <a:pt x="142875" y="64294"/>
                </a:cubicBezTo>
                <a:lnTo>
                  <a:pt x="142875" y="50006"/>
                </a:lnTo>
                <a:cubicBezTo>
                  <a:pt x="142875" y="46077"/>
                  <a:pt x="146090" y="42863"/>
                  <a:pt x="150019" y="42863"/>
                </a:cubicBezTo>
                <a:lnTo>
                  <a:pt x="164306" y="42863"/>
                </a:lnTo>
                <a:cubicBezTo>
                  <a:pt x="168235" y="42863"/>
                  <a:pt x="171450" y="46077"/>
                  <a:pt x="171450" y="50006"/>
                </a:cubicBezTo>
                <a:close/>
                <a:moveTo>
                  <a:pt x="164306" y="85725"/>
                </a:moveTo>
                <a:cubicBezTo>
                  <a:pt x="168235" y="85725"/>
                  <a:pt x="171450" y="88940"/>
                  <a:pt x="171450" y="92869"/>
                </a:cubicBezTo>
                <a:lnTo>
                  <a:pt x="171450" y="107156"/>
                </a:lnTo>
                <a:cubicBezTo>
                  <a:pt x="171450" y="111085"/>
                  <a:pt x="168235" y="114300"/>
                  <a:pt x="164306" y="114300"/>
                </a:cubicBezTo>
                <a:lnTo>
                  <a:pt x="150019" y="114300"/>
                </a:lnTo>
                <a:cubicBezTo>
                  <a:pt x="146090" y="114300"/>
                  <a:pt x="142875" y="111085"/>
                  <a:pt x="142875" y="107156"/>
                </a:cubicBezTo>
                <a:lnTo>
                  <a:pt x="142875" y="92869"/>
                </a:lnTo>
                <a:cubicBezTo>
                  <a:pt x="142875" y="88940"/>
                  <a:pt x="146090" y="85725"/>
                  <a:pt x="150019" y="85725"/>
                </a:cubicBezTo>
                <a:lnTo>
                  <a:pt x="164306" y="85725"/>
                </a:lnTo>
                <a:close/>
                <a:moveTo>
                  <a:pt x="171450" y="135731"/>
                </a:moveTo>
                <a:lnTo>
                  <a:pt x="171450" y="150019"/>
                </a:lnTo>
                <a:cubicBezTo>
                  <a:pt x="171450" y="153948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53948"/>
                  <a:pt x="142875" y="150019"/>
                </a:cubicBezTo>
                <a:lnTo>
                  <a:pt x="142875" y="135731"/>
                </a:lnTo>
                <a:cubicBezTo>
                  <a:pt x="142875" y="131802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31802"/>
                  <a:pt x="171450" y="135731"/>
                </a:cubicBezTo>
                <a:close/>
                <a:moveTo>
                  <a:pt x="221456" y="128588"/>
                </a:moveTo>
                <a:cubicBezTo>
                  <a:pt x="225385" y="128588"/>
                  <a:pt x="228600" y="131802"/>
                  <a:pt x="228600" y="135731"/>
                </a:cubicBezTo>
                <a:lnTo>
                  <a:pt x="228600" y="150019"/>
                </a:lnTo>
                <a:cubicBezTo>
                  <a:pt x="228600" y="153948"/>
                  <a:pt x="225385" y="157163"/>
                  <a:pt x="221456" y="157163"/>
                </a:cubicBezTo>
                <a:lnTo>
                  <a:pt x="207169" y="157163"/>
                </a:lnTo>
                <a:cubicBezTo>
                  <a:pt x="203240" y="157163"/>
                  <a:pt x="200025" y="153948"/>
                  <a:pt x="200025" y="150019"/>
                </a:cubicBezTo>
                <a:lnTo>
                  <a:pt x="200025" y="135731"/>
                </a:lnTo>
                <a:cubicBezTo>
                  <a:pt x="200025" y="131802"/>
                  <a:pt x="203240" y="128588"/>
                  <a:pt x="207169" y="128588"/>
                </a:cubicBezTo>
                <a:lnTo>
                  <a:pt x="221456" y="128588"/>
                </a:lnTo>
                <a:close/>
                <a:moveTo>
                  <a:pt x="114300" y="135731"/>
                </a:moveTo>
                <a:lnTo>
                  <a:pt x="114300" y="150019"/>
                </a:lnTo>
                <a:cubicBezTo>
                  <a:pt x="114300" y="153948"/>
                  <a:pt x="111085" y="157163"/>
                  <a:pt x="107156" y="157163"/>
                </a:cubicBezTo>
                <a:lnTo>
                  <a:pt x="92869" y="157163"/>
                </a:lnTo>
                <a:cubicBezTo>
                  <a:pt x="88940" y="157163"/>
                  <a:pt x="85725" y="153948"/>
                  <a:pt x="85725" y="150019"/>
                </a:cubicBezTo>
                <a:lnTo>
                  <a:pt x="85725" y="135731"/>
                </a:lnTo>
                <a:cubicBezTo>
                  <a:pt x="85725" y="131802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31802"/>
                  <a:pt x="114300" y="135731"/>
                </a:cubicBezTo>
                <a:close/>
                <a:moveTo>
                  <a:pt x="107156" y="85725"/>
                </a:moveTo>
                <a:cubicBezTo>
                  <a:pt x="111085" y="85725"/>
                  <a:pt x="114300" y="88940"/>
                  <a:pt x="114300" y="92869"/>
                </a:cubicBezTo>
                <a:lnTo>
                  <a:pt x="114300" y="107156"/>
                </a:lnTo>
                <a:cubicBezTo>
                  <a:pt x="114300" y="111085"/>
                  <a:pt x="111085" y="114300"/>
                  <a:pt x="107156" y="114300"/>
                </a:cubicBezTo>
                <a:lnTo>
                  <a:pt x="92869" y="114300"/>
                </a:lnTo>
                <a:cubicBezTo>
                  <a:pt x="88940" y="114300"/>
                  <a:pt x="85725" y="111085"/>
                  <a:pt x="85725" y="107156"/>
                </a:cubicBezTo>
                <a:lnTo>
                  <a:pt x="85725" y="92869"/>
                </a:lnTo>
                <a:cubicBezTo>
                  <a:pt x="85725" y="88940"/>
                  <a:pt x="88940" y="85725"/>
                  <a:pt x="92869" y="85725"/>
                </a:cubicBezTo>
                <a:lnTo>
                  <a:pt x="107156" y="85725"/>
                </a:lnTo>
                <a:close/>
                <a:moveTo>
                  <a:pt x="57150" y="135731"/>
                </a:moveTo>
                <a:lnTo>
                  <a:pt x="57150" y="150019"/>
                </a:lnTo>
                <a:cubicBezTo>
                  <a:pt x="57150" y="153948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53948"/>
                  <a:pt x="28575" y="150019"/>
                </a:cubicBezTo>
                <a:lnTo>
                  <a:pt x="28575" y="135731"/>
                </a:lnTo>
                <a:cubicBezTo>
                  <a:pt x="28575" y="131802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31802"/>
                  <a:pt x="57150" y="135731"/>
                </a:cubicBezTo>
                <a:close/>
                <a:moveTo>
                  <a:pt x="50006" y="85725"/>
                </a:moveTo>
                <a:cubicBezTo>
                  <a:pt x="53935" y="85725"/>
                  <a:pt x="57150" y="88940"/>
                  <a:pt x="57150" y="92869"/>
                </a:cubicBezTo>
                <a:lnTo>
                  <a:pt x="57150" y="107156"/>
                </a:lnTo>
                <a:cubicBezTo>
                  <a:pt x="57150" y="111085"/>
                  <a:pt x="53935" y="114300"/>
                  <a:pt x="50006" y="114300"/>
                </a:cubicBezTo>
                <a:lnTo>
                  <a:pt x="35719" y="114300"/>
                </a:lnTo>
                <a:cubicBezTo>
                  <a:pt x="31790" y="114300"/>
                  <a:pt x="28575" y="111085"/>
                  <a:pt x="28575" y="107156"/>
                </a:cubicBezTo>
                <a:lnTo>
                  <a:pt x="28575" y="92869"/>
                </a:lnTo>
                <a:cubicBezTo>
                  <a:pt x="28575" y="88940"/>
                  <a:pt x="31790" y="85725"/>
                  <a:pt x="35719" y="85725"/>
                </a:cubicBezTo>
                <a:lnTo>
                  <a:pt x="50006" y="85725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8" name="Text 6"/>
          <p:cNvSpPr/>
          <p:nvPr/>
        </p:nvSpPr>
        <p:spPr>
          <a:xfrm>
            <a:off x="933450" y="1752600"/>
            <a:ext cx="493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209681"/>
            <a:ext cx="51911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urbanization</a:t>
            </a: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dramatically increased the number of vehicles on roads, creating unprecedented traffic congestion in cities worldwide.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457200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47800"/>
                </a:lnTo>
                <a:cubicBezTo>
                  <a:pt x="5600700" y="1489856"/>
                  <a:pt x="5566556" y="1524000"/>
                  <a:pt x="55245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48006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Signal Systems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53149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" y="5219700"/>
            <a:ext cx="283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Fixed-time schedules</a:t>
            </a: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Cannot adapt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56959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5600700"/>
            <a:ext cx="275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control</a:t>
            </a: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Human dependent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0300" y="1524000"/>
            <a:ext cx="5600700" cy="4572000"/>
          </a:xfrm>
          <a:custGeom>
            <a:avLst/>
            <a:gdLst/>
            <a:ahLst/>
            <a:cxnLst/>
            <a:rect l="l" t="t" r="r" b="b"/>
            <a:pathLst>
              <a:path w="5600700" h="4572000">
                <a:moveTo>
                  <a:pt x="76215" y="0"/>
                </a:moveTo>
                <a:lnTo>
                  <a:pt x="5524485" y="0"/>
                </a:lnTo>
                <a:cubicBezTo>
                  <a:pt x="5566577" y="0"/>
                  <a:pt x="5600700" y="34123"/>
                  <a:pt x="5600700" y="76215"/>
                </a:cubicBezTo>
                <a:lnTo>
                  <a:pt x="5600700" y="4495785"/>
                </a:lnTo>
                <a:cubicBezTo>
                  <a:pt x="5600700" y="4537877"/>
                  <a:pt x="5566577" y="4572000"/>
                  <a:pt x="5524485" y="4572000"/>
                </a:cubicBezTo>
                <a:lnTo>
                  <a:pt x="76215" y="4572000"/>
                </a:lnTo>
                <a:cubicBezTo>
                  <a:pt x="34123" y="4572000"/>
                  <a:pt x="0" y="4537877"/>
                  <a:pt x="0" y="4495785"/>
                </a:cubicBezTo>
                <a:lnTo>
                  <a:pt x="0" y="76215"/>
                </a:lnTo>
                <a:cubicBezTo>
                  <a:pt x="0" y="34151"/>
                  <a:pt x="34151" y="0"/>
                  <a:pt x="76215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6467475" y="17905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4650" y="1752600"/>
            <a:ext cx="4972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of Traffic Congestion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38900" y="2304931"/>
            <a:ext cx="2495550" cy="1428750"/>
          </a:xfrm>
          <a:custGeom>
            <a:avLst/>
            <a:gdLst/>
            <a:ahLst/>
            <a:cxnLst/>
            <a:rect l="l" t="t" r="r" b="b"/>
            <a:pathLst>
              <a:path w="2495550" h="1428750">
                <a:moveTo>
                  <a:pt x="38100" y="0"/>
                </a:moveTo>
                <a:lnTo>
                  <a:pt x="2457450" y="0"/>
                </a:lnTo>
                <a:cubicBezTo>
                  <a:pt x="2478492" y="0"/>
                  <a:pt x="2495550" y="17058"/>
                  <a:pt x="2495550" y="38100"/>
                </a:cubicBezTo>
                <a:lnTo>
                  <a:pt x="2495550" y="1352555"/>
                </a:lnTo>
                <a:cubicBezTo>
                  <a:pt x="2495550" y="1394636"/>
                  <a:pt x="2461436" y="1428750"/>
                  <a:pt x="2419355" y="1428750"/>
                </a:cubicBezTo>
                <a:lnTo>
                  <a:pt x="76195" y="1428750"/>
                </a:lnTo>
                <a:cubicBezTo>
                  <a:pt x="34114" y="1428750"/>
                  <a:pt x="0" y="1394636"/>
                  <a:pt x="0" y="13525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8900" y="2304931"/>
            <a:ext cx="2495550" cy="38100"/>
          </a:xfrm>
          <a:custGeom>
            <a:avLst/>
            <a:gdLst/>
            <a:ahLst/>
            <a:cxnLst/>
            <a:rect l="l" t="t" r="r" b="b"/>
            <a:pathLst>
              <a:path w="2495550" h="38100">
                <a:moveTo>
                  <a:pt x="38100" y="0"/>
                </a:moveTo>
                <a:lnTo>
                  <a:pt x="2457450" y="0"/>
                </a:lnTo>
                <a:cubicBezTo>
                  <a:pt x="2478478" y="0"/>
                  <a:pt x="2495550" y="17072"/>
                  <a:pt x="2495550" y="38100"/>
                </a:cubicBezTo>
                <a:lnTo>
                  <a:pt x="24955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2263" y="251448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ubicBezTo>
                  <a:pt x="0" y="76824"/>
                  <a:pt x="76824" y="0"/>
                  <a:pt x="171450" y="0"/>
                </a:cubicBezTo>
                <a:close/>
                <a:moveTo>
                  <a:pt x="155377" y="80367"/>
                </a:moveTo>
                <a:lnTo>
                  <a:pt x="155377" y="171450"/>
                </a:lnTo>
                <a:cubicBezTo>
                  <a:pt x="155377" y="176808"/>
                  <a:pt x="158055" y="181831"/>
                  <a:pt x="162543" y="184845"/>
                </a:cubicBezTo>
                <a:lnTo>
                  <a:pt x="226836" y="227707"/>
                </a:lnTo>
                <a:cubicBezTo>
                  <a:pt x="234203" y="232663"/>
                  <a:pt x="244182" y="230654"/>
                  <a:pt x="249138" y="223220"/>
                </a:cubicBezTo>
                <a:cubicBezTo>
                  <a:pt x="254094" y="215786"/>
                  <a:pt x="252085" y="205874"/>
                  <a:pt x="244651" y="200918"/>
                </a:cubicBezTo>
                <a:lnTo>
                  <a:pt x="187523" y="162878"/>
                </a:lnTo>
                <a:lnTo>
                  <a:pt x="187523" y="80367"/>
                </a:lnTo>
                <a:cubicBezTo>
                  <a:pt x="187523" y="71460"/>
                  <a:pt x="180357" y="64294"/>
                  <a:pt x="171450" y="64294"/>
                </a:cubicBezTo>
                <a:cubicBezTo>
                  <a:pt x="162543" y="64294"/>
                  <a:pt x="155377" y="71460"/>
                  <a:pt x="155377" y="80367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2971681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Wastage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3314581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Hours lost in traffic daily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86850" y="2304931"/>
            <a:ext cx="2495550" cy="1428750"/>
          </a:xfrm>
          <a:custGeom>
            <a:avLst/>
            <a:gdLst/>
            <a:ahLst/>
            <a:cxnLst/>
            <a:rect l="l" t="t" r="r" b="b"/>
            <a:pathLst>
              <a:path w="2495550" h="1428750">
                <a:moveTo>
                  <a:pt x="38100" y="0"/>
                </a:moveTo>
                <a:lnTo>
                  <a:pt x="2457450" y="0"/>
                </a:lnTo>
                <a:cubicBezTo>
                  <a:pt x="2478492" y="0"/>
                  <a:pt x="2495550" y="17058"/>
                  <a:pt x="2495550" y="38100"/>
                </a:cubicBezTo>
                <a:lnTo>
                  <a:pt x="2495550" y="1352555"/>
                </a:lnTo>
                <a:cubicBezTo>
                  <a:pt x="2495550" y="1394636"/>
                  <a:pt x="2461436" y="1428750"/>
                  <a:pt x="2419355" y="1428750"/>
                </a:cubicBezTo>
                <a:lnTo>
                  <a:pt x="76195" y="1428750"/>
                </a:lnTo>
                <a:cubicBezTo>
                  <a:pt x="34114" y="1428750"/>
                  <a:pt x="0" y="1394636"/>
                  <a:pt x="0" y="13525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Shape 23"/>
          <p:cNvSpPr/>
          <p:nvPr/>
        </p:nvSpPr>
        <p:spPr>
          <a:xfrm>
            <a:off x="9086850" y="2304931"/>
            <a:ext cx="2495550" cy="38100"/>
          </a:xfrm>
          <a:custGeom>
            <a:avLst/>
            <a:gdLst/>
            <a:ahLst/>
            <a:cxnLst/>
            <a:rect l="l" t="t" r="r" b="b"/>
            <a:pathLst>
              <a:path w="2495550" h="38100">
                <a:moveTo>
                  <a:pt x="38100" y="0"/>
                </a:moveTo>
                <a:lnTo>
                  <a:pt x="2457450" y="0"/>
                </a:lnTo>
                <a:cubicBezTo>
                  <a:pt x="2478478" y="0"/>
                  <a:pt x="2495550" y="17072"/>
                  <a:pt x="2495550" y="38100"/>
                </a:cubicBezTo>
                <a:lnTo>
                  <a:pt x="24955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6" name="Shape 24"/>
          <p:cNvSpPr/>
          <p:nvPr/>
        </p:nvSpPr>
        <p:spPr>
          <a:xfrm>
            <a:off x="9320213" y="251448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42863"/>
                </a:moveTo>
                <a:cubicBezTo>
                  <a:pt x="21431" y="19221"/>
                  <a:pt x="40652" y="0"/>
                  <a:pt x="64294" y="0"/>
                </a:cubicBezTo>
                <a:lnTo>
                  <a:pt x="171450" y="0"/>
                </a:lnTo>
                <a:cubicBezTo>
                  <a:pt x="195091" y="0"/>
                  <a:pt x="214313" y="19221"/>
                  <a:pt x="214313" y="42863"/>
                </a:cubicBezTo>
                <a:lnTo>
                  <a:pt x="214313" y="171450"/>
                </a:lnTo>
                <a:lnTo>
                  <a:pt x="219670" y="171450"/>
                </a:lnTo>
                <a:cubicBezTo>
                  <a:pt x="252219" y="171450"/>
                  <a:pt x="278606" y="197837"/>
                  <a:pt x="278606" y="230386"/>
                </a:cubicBezTo>
                <a:lnTo>
                  <a:pt x="278606" y="251817"/>
                </a:lnTo>
                <a:cubicBezTo>
                  <a:pt x="278606" y="260725"/>
                  <a:pt x="285772" y="267891"/>
                  <a:pt x="294680" y="267891"/>
                </a:cubicBezTo>
                <a:cubicBezTo>
                  <a:pt x="303587" y="267891"/>
                  <a:pt x="310753" y="260725"/>
                  <a:pt x="310753" y="251817"/>
                </a:cubicBezTo>
                <a:lnTo>
                  <a:pt x="310753" y="148679"/>
                </a:lnTo>
                <a:cubicBezTo>
                  <a:pt x="292269" y="143924"/>
                  <a:pt x="278606" y="127114"/>
                  <a:pt x="278606" y="107156"/>
                </a:cubicBezTo>
                <a:lnTo>
                  <a:pt x="278606" y="67308"/>
                </a:lnTo>
                <a:lnTo>
                  <a:pt x="261327" y="48354"/>
                </a:lnTo>
                <a:cubicBezTo>
                  <a:pt x="255367" y="41791"/>
                  <a:pt x="255836" y="31611"/>
                  <a:pt x="262399" y="25651"/>
                </a:cubicBezTo>
                <a:cubicBezTo>
                  <a:pt x="268962" y="19690"/>
                  <a:pt x="279142" y="20159"/>
                  <a:pt x="285103" y="26722"/>
                </a:cubicBezTo>
                <a:lnTo>
                  <a:pt x="333122" y="79497"/>
                </a:lnTo>
                <a:cubicBezTo>
                  <a:pt x="339417" y="86395"/>
                  <a:pt x="342900" y="95369"/>
                  <a:pt x="342900" y="104745"/>
                </a:cubicBezTo>
                <a:lnTo>
                  <a:pt x="342900" y="251817"/>
                </a:lnTo>
                <a:cubicBezTo>
                  <a:pt x="342900" y="278472"/>
                  <a:pt x="321335" y="300038"/>
                  <a:pt x="294680" y="300038"/>
                </a:cubicBezTo>
                <a:cubicBezTo>
                  <a:pt x="268025" y="300038"/>
                  <a:pt x="246459" y="278472"/>
                  <a:pt x="246459" y="251817"/>
                </a:cubicBezTo>
                <a:lnTo>
                  <a:pt x="246459" y="230386"/>
                </a:lnTo>
                <a:cubicBezTo>
                  <a:pt x="246459" y="215585"/>
                  <a:pt x="234471" y="203597"/>
                  <a:pt x="219670" y="203597"/>
                </a:cubicBezTo>
                <a:lnTo>
                  <a:pt x="214313" y="203597"/>
                </a:lnTo>
                <a:lnTo>
                  <a:pt x="214313" y="311691"/>
                </a:lnTo>
                <a:cubicBezTo>
                  <a:pt x="220541" y="313901"/>
                  <a:pt x="225028" y="319861"/>
                  <a:pt x="225028" y="326827"/>
                </a:cubicBezTo>
                <a:cubicBezTo>
                  <a:pt x="225028" y="335734"/>
                  <a:pt x="217862" y="342900"/>
                  <a:pt x="208955" y="342900"/>
                </a:cubicBezTo>
                <a:lnTo>
                  <a:pt x="26789" y="342900"/>
                </a:lnTo>
                <a:cubicBezTo>
                  <a:pt x="17882" y="342900"/>
                  <a:pt x="10716" y="335734"/>
                  <a:pt x="10716" y="326827"/>
                </a:cubicBezTo>
                <a:cubicBezTo>
                  <a:pt x="10716" y="319794"/>
                  <a:pt x="15203" y="313901"/>
                  <a:pt x="21431" y="311691"/>
                </a:cubicBezTo>
                <a:lnTo>
                  <a:pt x="21431" y="42863"/>
                </a:lnTo>
                <a:close/>
                <a:moveTo>
                  <a:pt x="64294" y="53578"/>
                </a:moveTo>
                <a:lnTo>
                  <a:pt x="64294" y="117872"/>
                </a:lnTo>
                <a:cubicBezTo>
                  <a:pt x="64294" y="123765"/>
                  <a:pt x="69116" y="128588"/>
                  <a:pt x="75009" y="128588"/>
                </a:cubicBezTo>
                <a:lnTo>
                  <a:pt x="160734" y="128588"/>
                </a:lnTo>
                <a:cubicBezTo>
                  <a:pt x="166628" y="128588"/>
                  <a:pt x="171450" y="123765"/>
                  <a:pt x="171450" y="117872"/>
                </a:cubicBezTo>
                <a:lnTo>
                  <a:pt x="171450" y="53578"/>
                </a:lnTo>
                <a:cubicBezTo>
                  <a:pt x="171450" y="47685"/>
                  <a:pt x="166628" y="42863"/>
                  <a:pt x="160734" y="42863"/>
                </a:cubicBezTo>
                <a:lnTo>
                  <a:pt x="75009" y="42863"/>
                </a:lnTo>
                <a:cubicBezTo>
                  <a:pt x="69116" y="42863"/>
                  <a:pt x="64294" y="47685"/>
                  <a:pt x="64294" y="53578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7" name="Text 25"/>
          <p:cNvSpPr/>
          <p:nvPr/>
        </p:nvSpPr>
        <p:spPr>
          <a:xfrm>
            <a:off x="9277350" y="2971681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Fuel Consumption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7350" y="3314581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Unnecessary fuel burn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8900" y="3905131"/>
            <a:ext cx="2495550" cy="1428750"/>
          </a:xfrm>
          <a:custGeom>
            <a:avLst/>
            <a:gdLst/>
            <a:ahLst/>
            <a:cxnLst/>
            <a:rect l="l" t="t" r="r" b="b"/>
            <a:pathLst>
              <a:path w="2495550" h="1428750">
                <a:moveTo>
                  <a:pt x="38100" y="0"/>
                </a:moveTo>
                <a:lnTo>
                  <a:pt x="2457450" y="0"/>
                </a:lnTo>
                <a:cubicBezTo>
                  <a:pt x="2478492" y="0"/>
                  <a:pt x="2495550" y="17058"/>
                  <a:pt x="2495550" y="38100"/>
                </a:cubicBezTo>
                <a:lnTo>
                  <a:pt x="2495550" y="1352555"/>
                </a:lnTo>
                <a:cubicBezTo>
                  <a:pt x="2495550" y="1394636"/>
                  <a:pt x="2461436" y="1428750"/>
                  <a:pt x="2419355" y="1428750"/>
                </a:cubicBezTo>
                <a:lnTo>
                  <a:pt x="76195" y="1428750"/>
                </a:lnTo>
                <a:cubicBezTo>
                  <a:pt x="34114" y="1428750"/>
                  <a:pt x="0" y="1394636"/>
                  <a:pt x="0" y="13525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8900" y="3905131"/>
            <a:ext cx="2495550" cy="38100"/>
          </a:xfrm>
          <a:custGeom>
            <a:avLst/>
            <a:gdLst/>
            <a:ahLst/>
            <a:cxnLst/>
            <a:rect l="l" t="t" r="r" b="b"/>
            <a:pathLst>
              <a:path w="2495550" h="38100">
                <a:moveTo>
                  <a:pt x="38100" y="0"/>
                </a:moveTo>
                <a:lnTo>
                  <a:pt x="2457450" y="0"/>
                </a:lnTo>
                <a:cubicBezTo>
                  <a:pt x="2478478" y="0"/>
                  <a:pt x="2495550" y="17072"/>
                  <a:pt x="2495550" y="38100"/>
                </a:cubicBezTo>
                <a:lnTo>
                  <a:pt x="24955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1" name="Shape 29"/>
          <p:cNvSpPr/>
          <p:nvPr/>
        </p:nvSpPr>
        <p:spPr>
          <a:xfrm>
            <a:off x="6650831" y="4114681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17872" y="192881"/>
                </a:moveTo>
                <a:cubicBezTo>
                  <a:pt x="64629" y="192881"/>
                  <a:pt x="21431" y="149684"/>
                  <a:pt x="21431" y="96441"/>
                </a:cubicBezTo>
                <a:cubicBezTo>
                  <a:pt x="21431" y="43197"/>
                  <a:pt x="64629" y="0"/>
                  <a:pt x="117872" y="0"/>
                </a:cubicBezTo>
                <a:cubicBezTo>
                  <a:pt x="136088" y="0"/>
                  <a:pt x="153099" y="5023"/>
                  <a:pt x="167633" y="13796"/>
                </a:cubicBezTo>
                <a:cubicBezTo>
                  <a:pt x="181094" y="5090"/>
                  <a:pt x="197101" y="0"/>
                  <a:pt x="214313" y="0"/>
                </a:cubicBezTo>
                <a:cubicBezTo>
                  <a:pt x="246058" y="0"/>
                  <a:pt x="273717" y="17212"/>
                  <a:pt x="288585" y="42863"/>
                </a:cubicBezTo>
                <a:lnTo>
                  <a:pt x="289322" y="42863"/>
                </a:lnTo>
                <a:cubicBezTo>
                  <a:pt x="330778" y="42863"/>
                  <a:pt x="364331" y="76416"/>
                  <a:pt x="364331" y="117872"/>
                </a:cubicBezTo>
                <a:cubicBezTo>
                  <a:pt x="364331" y="158256"/>
                  <a:pt x="332452" y="191140"/>
                  <a:pt x="292537" y="192814"/>
                </a:cubicBezTo>
                <a:cubicBezTo>
                  <a:pt x="277401" y="206209"/>
                  <a:pt x="257510" y="214313"/>
                  <a:pt x="235744" y="214313"/>
                </a:cubicBezTo>
                <a:cubicBezTo>
                  <a:pt x="213978" y="214313"/>
                  <a:pt x="194154" y="206209"/>
                  <a:pt x="179018" y="192881"/>
                </a:cubicBezTo>
                <a:lnTo>
                  <a:pt x="117872" y="192881"/>
                </a:lnTo>
                <a:close/>
                <a:moveTo>
                  <a:pt x="342900" y="262533"/>
                </a:moveTo>
                <a:cubicBezTo>
                  <a:pt x="342900" y="271440"/>
                  <a:pt x="335734" y="278606"/>
                  <a:pt x="326827" y="278606"/>
                </a:cubicBezTo>
                <a:lnTo>
                  <a:pt x="16073" y="278606"/>
                </a:lnTo>
                <a:cubicBezTo>
                  <a:pt x="7166" y="278606"/>
                  <a:pt x="0" y="271440"/>
                  <a:pt x="0" y="262533"/>
                </a:cubicBezTo>
                <a:cubicBezTo>
                  <a:pt x="0" y="253625"/>
                  <a:pt x="7166" y="246459"/>
                  <a:pt x="16073" y="246459"/>
                </a:cubicBezTo>
                <a:lnTo>
                  <a:pt x="326827" y="246459"/>
                </a:lnTo>
                <a:cubicBezTo>
                  <a:pt x="335734" y="246459"/>
                  <a:pt x="342900" y="253625"/>
                  <a:pt x="342900" y="262533"/>
                </a:cubicBezTo>
                <a:close/>
                <a:moveTo>
                  <a:pt x="58936" y="310753"/>
                </a:moveTo>
                <a:lnTo>
                  <a:pt x="112514" y="310753"/>
                </a:lnTo>
                <a:cubicBezTo>
                  <a:pt x="121421" y="310753"/>
                  <a:pt x="128588" y="317919"/>
                  <a:pt x="128588" y="326827"/>
                </a:cubicBezTo>
                <a:cubicBezTo>
                  <a:pt x="128588" y="335734"/>
                  <a:pt x="121421" y="342900"/>
                  <a:pt x="112514" y="342900"/>
                </a:cubicBezTo>
                <a:lnTo>
                  <a:pt x="58936" y="342900"/>
                </a:lnTo>
                <a:cubicBezTo>
                  <a:pt x="50029" y="342900"/>
                  <a:pt x="42863" y="335734"/>
                  <a:pt x="42863" y="326827"/>
                </a:cubicBezTo>
                <a:cubicBezTo>
                  <a:pt x="42863" y="317919"/>
                  <a:pt x="50029" y="310753"/>
                  <a:pt x="58936" y="310753"/>
                </a:cubicBezTo>
                <a:close/>
                <a:moveTo>
                  <a:pt x="176808" y="310753"/>
                </a:moveTo>
                <a:lnTo>
                  <a:pt x="369689" y="310753"/>
                </a:lnTo>
                <a:cubicBezTo>
                  <a:pt x="378596" y="310753"/>
                  <a:pt x="385763" y="317919"/>
                  <a:pt x="385763" y="326827"/>
                </a:cubicBezTo>
                <a:cubicBezTo>
                  <a:pt x="385763" y="335734"/>
                  <a:pt x="378596" y="342900"/>
                  <a:pt x="369689" y="342900"/>
                </a:cubicBezTo>
                <a:lnTo>
                  <a:pt x="176808" y="342900"/>
                </a:lnTo>
                <a:cubicBezTo>
                  <a:pt x="167900" y="342900"/>
                  <a:pt x="160734" y="335734"/>
                  <a:pt x="160734" y="326827"/>
                </a:cubicBezTo>
                <a:cubicBezTo>
                  <a:pt x="160734" y="317919"/>
                  <a:pt x="167900" y="310753"/>
                  <a:pt x="176808" y="310753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4571881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Pollution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9400" y="4914781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emissions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86850" y="3905131"/>
            <a:ext cx="2495550" cy="1428750"/>
          </a:xfrm>
          <a:custGeom>
            <a:avLst/>
            <a:gdLst/>
            <a:ahLst/>
            <a:cxnLst/>
            <a:rect l="l" t="t" r="r" b="b"/>
            <a:pathLst>
              <a:path w="2495550" h="1428750">
                <a:moveTo>
                  <a:pt x="38100" y="0"/>
                </a:moveTo>
                <a:lnTo>
                  <a:pt x="2457450" y="0"/>
                </a:lnTo>
                <a:cubicBezTo>
                  <a:pt x="2478492" y="0"/>
                  <a:pt x="2495550" y="17058"/>
                  <a:pt x="2495550" y="38100"/>
                </a:cubicBezTo>
                <a:lnTo>
                  <a:pt x="2495550" y="1352555"/>
                </a:lnTo>
                <a:cubicBezTo>
                  <a:pt x="2495550" y="1394636"/>
                  <a:pt x="2461436" y="1428750"/>
                  <a:pt x="2419355" y="1428750"/>
                </a:cubicBezTo>
                <a:lnTo>
                  <a:pt x="76195" y="1428750"/>
                </a:lnTo>
                <a:cubicBezTo>
                  <a:pt x="34114" y="1428750"/>
                  <a:pt x="0" y="1394636"/>
                  <a:pt x="0" y="13525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Shape 33"/>
          <p:cNvSpPr/>
          <p:nvPr/>
        </p:nvSpPr>
        <p:spPr>
          <a:xfrm>
            <a:off x="9086850" y="3905131"/>
            <a:ext cx="2495550" cy="38100"/>
          </a:xfrm>
          <a:custGeom>
            <a:avLst/>
            <a:gdLst/>
            <a:ahLst/>
            <a:cxnLst/>
            <a:rect l="l" t="t" r="r" b="b"/>
            <a:pathLst>
              <a:path w="2495550" h="38100">
                <a:moveTo>
                  <a:pt x="38100" y="0"/>
                </a:moveTo>
                <a:lnTo>
                  <a:pt x="2457450" y="0"/>
                </a:lnTo>
                <a:cubicBezTo>
                  <a:pt x="2478478" y="0"/>
                  <a:pt x="2495550" y="17072"/>
                  <a:pt x="2495550" y="38100"/>
                </a:cubicBezTo>
                <a:lnTo>
                  <a:pt x="24955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6" name="Shape 34"/>
          <p:cNvSpPr/>
          <p:nvPr/>
        </p:nvSpPr>
        <p:spPr>
          <a:xfrm>
            <a:off x="9277350" y="4114681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155377" y="10783"/>
                </a:moveTo>
                <a:lnTo>
                  <a:pt x="155377" y="-21364"/>
                </a:lnTo>
                <a:cubicBezTo>
                  <a:pt x="155377" y="-30272"/>
                  <a:pt x="148210" y="-37438"/>
                  <a:pt x="139303" y="-37438"/>
                </a:cubicBezTo>
                <a:cubicBezTo>
                  <a:pt x="130396" y="-37438"/>
                  <a:pt x="123230" y="-30272"/>
                  <a:pt x="123230" y="-21364"/>
                </a:cubicBezTo>
                <a:lnTo>
                  <a:pt x="123230" y="10783"/>
                </a:lnTo>
                <a:cubicBezTo>
                  <a:pt x="123230" y="19690"/>
                  <a:pt x="130396" y="26856"/>
                  <a:pt x="139303" y="26856"/>
                </a:cubicBezTo>
                <a:cubicBezTo>
                  <a:pt x="148210" y="26856"/>
                  <a:pt x="155377" y="19690"/>
                  <a:pt x="155377" y="10783"/>
                </a:cubicBezTo>
                <a:close/>
                <a:moveTo>
                  <a:pt x="21431" y="112581"/>
                </a:moveTo>
                <a:lnTo>
                  <a:pt x="53578" y="112581"/>
                </a:lnTo>
                <a:cubicBezTo>
                  <a:pt x="62485" y="112581"/>
                  <a:pt x="69652" y="105415"/>
                  <a:pt x="69652" y="96508"/>
                </a:cubicBezTo>
                <a:cubicBezTo>
                  <a:pt x="69652" y="87600"/>
                  <a:pt x="62485" y="80434"/>
                  <a:pt x="53578" y="80434"/>
                </a:cubicBezTo>
                <a:lnTo>
                  <a:pt x="21431" y="80434"/>
                </a:lnTo>
                <a:cubicBezTo>
                  <a:pt x="12524" y="80434"/>
                  <a:pt x="5358" y="87600"/>
                  <a:pt x="5358" y="96508"/>
                </a:cubicBezTo>
                <a:cubicBezTo>
                  <a:pt x="5358" y="105415"/>
                  <a:pt x="12524" y="112581"/>
                  <a:pt x="21431" y="112581"/>
                </a:cubicBezTo>
                <a:close/>
                <a:moveTo>
                  <a:pt x="188528" y="47283"/>
                </a:moveTo>
                <a:cubicBezTo>
                  <a:pt x="194823" y="53578"/>
                  <a:pt x="205003" y="53578"/>
                  <a:pt x="211232" y="47283"/>
                </a:cubicBezTo>
                <a:lnTo>
                  <a:pt x="233935" y="24579"/>
                </a:lnTo>
                <a:cubicBezTo>
                  <a:pt x="240231" y="18284"/>
                  <a:pt x="240231" y="8104"/>
                  <a:pt x="233935" y="1875"/>
                </a:cubicBezTo>
                <a:cubicBezTo>
                  <a:pt x="227640" y="-4353"/>
                  <a:pt x="217460" y="-4420"/>
                  <a:pt x="211232" y="1875"/>
                </a:cubicBezTo>
                <a:lnTo>
                  <a:pt x="188528" y="24512"/>
                </a:lnTo>
                <a:cubicBezTo>
                  <a:pt x="182233" y="30807"/>
                  <a:pt x="182233" y="40987"/>
                  <a:pt x="188528" y="47216"/>
                </a:cubicBezTo>
                <a:close/>
                <a:moveTo>
                  <a:pt x="67308" y="191274"/>
                </a:moveTo>
                <a:lnTo>
                  <a:pt x="90011" y="168570"/>
                </a:lnTo>
                <a:cubicBezTo>
                  <a:pt x="96307" y="162275"/>
                  <a:pt x="96307" y="152095"/>
                  <a:pt x="90011" y="145866"/>
                </a:cubicBezTo>
                <a:cubicBezTo>
                  <a:pt x="83716" y="139638"/>
                  <a:pt x="73536" y="139571"/>
                  <a:pt x="67308" y="145866"/>
                </a:cubicBezTo>
                <a:lnTo>
                  <a:pt x="44604" y="168503"/>
                </a:lnTo>
                <a:cubicBezTo>
                  <a:pt x="38308" y="174799"/>
                  <a:pt x="38308" y="184978"/>
                  <a:pt x="44604" y="191207"/>
                </a:cubicBezTo>
                <a:cubicBezTo>
                  <a:pt x="50899" y="197435"/>
                  <a:pt x="61079" y="197502"/>
                  <a:pt x="67308" y="191207"/>
                </a:cubicBezTo>
                <a:close/>
                <a:moveTo>
                  <a:pt x="44604" y="1808"/>
                </a:moveTo>
                <a:cubicBezTo>
                  <a:pt x="38308" y="8104"/>
                  <a:pt x="38308" y="18284"/>
                  <a:pt x="44604" y="24512"/>
                </a:cubicBezTo>
                <a:lnTo>
                  <a:pt x="67308" y="47216"/>
                </a:lnTo>
                <a:cubicBezTo>
                  <a:pt x="73603" y="53511"/>
                  <a:pt x="83783" y="53511"/>
                  <a:pt x="90011" y="47216"/>
                </a:cubicBezTo>
                <a:cubicBezTo>
                  <a:pt x="96240" y="40920"/>
                  <a:pt x="96307" y="30740"/>
                  <a:pt x="90011" y="24512"/>
                </a:cubicBezTo>
                <a:lnTo>
                  <a:pt x="67308" y="1808"/>
                </a:lnTo>
                <a:cubicBezTo>
                  <a:pt x="61012" y="-4487"/>
                  <a:pt x="50899" y="-4487"/>
                  <a:pt x="44604" y="1808"/>
                </a:cubicBezTo>
                <a:close/>
                <a:moveTo>
                  <a:pt x="236347" y="117470"/>
                </a:moveTo>
                <a:lnTo>
                  <a:pt x="338212" y="144795"/>
                </a:lnTo>
                <a:cubicBezTo>
                  <a:pt x="342498" y="145933"/>
                  <a:pt x="345646" y="149684"/>
                  <a:pt x="346115" y="154104"/>
                </a:cubicBezTo>
                <a:lnTo>
                  <a:pt x="350937" y="203664"/>
                </a:lnTo>
                <a:lnTo>
                  <a:pt x="195895" y="162141"/>
                </a:lnTo>
                <a:lnTo>
                  <a:pt x="224827" y="121622"/>
                </a:lnTo>
                <a:cubicBezTo>
                  <a:pt x="227439" y="118006"/>
                  <a:pt x="231993" y="116332"/>
                  <a:pt x="236347" y="117470"/>
                </a:cubicBezTo>
                <a:close/>
                <a:moveTo>
                  <a:pt x="149751" y="153033"/>
                </a:moveTo>
                <a:lnTo>
                  <a:pt x="148344" y="154975"/>
                </a:lnTo>
                <a:cubicBezTo>
                  <a:pt x="133811" y="158658"/>
                  <a:pt x="121622" y="169910"/>
                  <a:pt x="117470" y="185447"/>
                </a:cubicBezTo>
                <a:cubicBezTo>
                  <a:pt x="114724" y="195828"/>
                  <a:pt x="109165" y="216523"/>
                  <a:pt x="100861" y="247531"/>
                </a:cubicBezTo>
                <a:lnTo>
                  <a:pt x="95302" y="268225"/>
                </a:lnTo>
                <a:cubicBezTo>
                  <a:pt x="92221" y="279678"/>
                  <a:pt x="99053" y="291398"/>
                  <a:pt x="110438" y="294479"/>
                </a:cubicBezTo>
                <a:lnTo>
                  <a:pt x="120819" y="297225"/>
                </a:lnTo>
                <a:cubicBezTo>
                  <a:pt x="132271" y="300305"/>
                  <a:pt x="143991" y="293474"/>
                  <a:pt x="147072" y="282089"/>
                </a:cubicBezTo>
                <a:lnTo>
                  <a:pt x="152631" y="261394"/>
                </a:lnTo>
                <a:lnTo>
                  <a:pt x="338949" y="311289"/>
                </a:lnTo>
                <a:lnTo>
                  <a:pt x="333390" y="331983"/>
                </a:lnTo>
                <a:cubicBezTo>
                  <a:pt x="330309" y="343436"/>
                  <a:pt x="337140" y="355156"/>
                  <a:pt x="348526" y="358237"/>
                </a:cubicBezTo>
                <a:lnTo>
                  <a:pt x="358906" y="360983"/>
                </a:lnTo>
                <a:cubicBezTo>
                  <a:pt x="370359" y="364063"/>
                  <a:pt x="382079" y="357232"/>
                  <a:pt x="385160" y="345847"/>
                </a:cubicBezTo>
                <a:cubicBezTo>
                  <a:pt x="387906" y="335466"/>
                  <a:pt x="393464" y="314771"/>
                  <a:pt x="401769" y="283763"/>
                </a:cubicBezTo>
                <a:lnTo>
                  <a:pt x="407328" y="263069"/>
                </a:lnTo>
                <a:cubicBezTo>
                  <a:pt x="411480" y="247531"/>
                  <a:pt x="406591" y="231725"/>
                  <a:pt x="395808" y="221211"/>
                </a:cubicBezTo>
                <a:lnTo>
                  <a:pt x="395607" y="218800"/>
                </a:lnTo>
                <a:lnTo>
                  <a:pt x="388910" y="149818"/>
                </a:lnTo>
                <a:cubicBezTo>
                  <a:pt x="386767" y="127583"/>
                  <a:pt x="371029" y="109031"/>
                  <a:pt x="349463" y="103272"/>
                </a:cubicBezTo>
                <a:lnTo>
                  <a:pt x="247464" y="76081"/>
                </a:lnTo>
                <a:cubicBezTo>
                  <a:pt x="225899" y="70321"/>
                  <a:pt x="202994" y="78492"/>
                  <a:pt x="190001" y="96709"/>
                </a:cubicBezTo>
                <a:lnTo>
                  <a:pt x="149684" y="153099"/>
                </a:lnTo>
                <a:close/>
                <a:moveTo>
                  <a:pt x="182367" y="191743"/>
                </a:moveTo>
                <a:cubicBezTo>
                  <a:pt x="189879" y="193623"/>
                  <a:pt x="195792" y="199410"/>
                  <a:pt x="197835" y="206880"/>
                </a:cubicBezTo>
                <a:cubicBezTo>
                  <a:pt x="199877" y="214350"/>
                  <a:pt x="197731" y="222341"/>
                  <a:pt x="192220" y="227782"/>
                </a:cubicBezTo>
                <a:cubicBezTo>
                  <a:pt x="186710" y="233223"/>
                  <a:pt x="178693" y="235268"/>
                  <a:pt x="171249" y="233132"/>
                </a:cubicBezTo>
                <a:cubicBezTo>
                  <a:pt x="163737" y="231251"/>
                  <a:pt x="157823" y="225464"/>
                  <a:pt x="155781" y="217994"/>
                </a:cubicBezTo>
                <a:cubicBezTo>
                  <a:pt x="153739" y="210524"/>
                  <a:pt x="155885" y="202534"/>
                  <a:pt x="161395" y="197092"/>
                </a:cubicBezTo>
                <a:cubicBezTo>
                  <a:pt x="166906" y="191651"/>
                  <a:pt x="174923" y="189606"/>
                  <a:pt x="182367" y="191743"/>
                </a:cubicBezTo>
                <a:close/>
                <a:moveTo>
                  <a:pt x="321737" y="251281"/>
                </a:moveTo>
                <a:cubicBezTo>
                  <a:pt x="323617" y="243769"/>
                  <a:pt x="329404" y="237856"/>
                  <a:pt x="336874" y="235813"/>
                </a:cubicBezTo>
                <a:cubicBezTo>
                  <a:pt x="344344" y="233771"/>
                  <a:pt x="352335" y="235917"/>
                  <a:pt x="357776" y="241428"/>
                </a:cubicBezTo>
                <a:cubicBezTo>
                  <a:pt x="363217" y="246938"/>
                  <a:pt x="365262" y="254955"/>
                  <a:pt x="363126" y="262399"/>
                </a:cubicBezTo>
                <a:cubicBezTo>
                  <a:pt x="361245" y="269911"/>
                  <a:pt x="355458" y="275825"/>
                  <a:pt x="347988" y="277867"/>
                </a:cubicBezTo>
                <a:cubicBezTo>
                  <a:pt x="340518" y="279909"/>
                  <a:pt x="332528" y="277763"/>
                  <a:pt x="327086" y="272252"/>
                </a:cubicBezTo>
                <a:cubicBezTo>
                  <a:pt x="321645" y="266742"/>
                  <a:pt x="319600" y="258725"/>
                  <a:pt x="321737" y="251281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7" name="Text 35"/>
          <p:cNvSpPr/>
          <p:nvPr/>
        </p:nvSpPr>
        <p:spPr>
          <a:xfrm>
            <a:off x="9277350" y="4571881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 Accidents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77350" y="4914781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hazards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LITERATURE SURVEY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Existing ML Approaches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47800"/>
            <a:ext cx="11430000" cy="581025"/>
          </a:xfrm>
          <a:custGeom>
            <a:avLst/>
            <a:gdLst/>
            <a:ahLst/>
            <a:cxnLst/>
            <a:rect l="l" t="t" r="r" b="b"/>
            <a:pathLst>
              <a:path w="11430000" h="581025">
                <a:moveTo>
                  <a:pt x="76201" y="0"/>
                </a:moveTo>
                <a:lnTo>
                  <a:pt x="11353799" y="0"/>
                </a:lnTo>
                <a:cubicBezTo>
                  <a:pt x="11395855" y="0"/>
                  <a:pt x="11430000" y="34145"/>
                  <a:pt x="11430000" y="76201"/>
                </a:cubicBezTo>
                <a:lnTo>
                  <a:pt x="11430000" y="504824"/>
                </a:lnTo>
                <a:cubicBezTo>
                  <a:pt x="11430000" y="546880"/>
                  <a:pt x="11395855" y="581025"/>
                  <a:pt x="1135379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533400" y="1600200"/>
            <a:ext cx="112109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Several ML-based traffic management systems have been proposed. </a:t>
            </a: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techniques and focus areas</a:t>
            </a: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summarized below.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2202656"/>
            <a:ext cx="3705225" cy="1962150"/>
          </a:xfrm>
          <a:custGeom>
            <a:avLst/>
            <a:gdLst/>
            <a:ahLst/>
            <a:cxnLst/>
            <a:rect l="l" t="t" r="r" b="b"/>
            <a:pathLst>
              <a:path w="3705225" h="19621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85960"/>
                </a:lnTo>
                <a:cubicBezTo>
                  <a:pt x="3705225" y="1928010"/>
                  <a:pt x="3671085" y="1962150"/>
                  <a:pt x="3629035" y="1962150"/>
                </a:cubicBezTo>
                <a:lnTo>
                  <a:pt x="76190" y="1962150"/>
                </a:lnTo>
                <a:cubicBezTo>
                  <a:pt x="34140" y="1962150"/>
                  <a:pt x="0" y="1928010"/>
                  <a:pt x="0" y="18859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2202656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9" name="Shape 7"/>
          <p:cNvSpPr/>
          <p:nvPr/>
        </p:nvSpPr>
        <p:spPr>
          <a:xfrm>
            <a:off x="533400" y="23741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0" name="Shape 8"/>
          <p:cNvSpPr/>
          <p:nvPr/>
        </p:nvSpPr>
        <p:spPr>
          <a:xfrm>
            <a:off x="678656" y="250745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9766" y="38695"/>
                </a:moveTo>
                <a:cubicBezTo>
                  <a:pt x="34694" y="38695"/>
                  <a:pt x="38695" y="34694"/>
                  <a:pt x="38695" y="29766"/>
                </a:cubicBezTo>
                <a:cubicBezTo>
                  <a:pt x="38695" y="24837"/>
                  <a:pt x="34694" y="20836"/>
                  <a:pt x="29766" y="20836"/>
                </a:cubicBezTo>
                <a:cubicBezTo>
                  <a:pt x="24837" y="20836"/>
                  <a:pt x="20836" y="24837"/>
                  <a:pt x="20836" y="29766"/>
                </a:cubicBezTo>
                <a:cubicBezTo>
                  <a:pt x="20836" y="34694"/>
                  <a:pt x="24837" y="38695"/>
                  <a:pt x="29766" y="38695"/>
                </a:cubicBezTo>
                <a:close/>
                <a:moveTo>
                  <a:pt x="59531" y="29766"/>
                </a:moveTo>
                <a:cubicBezTo>
                  <a:pt x="59531" y="41970"/>
                  <a:pt x="52201" y="52462"/>
                  <a:pt x="41672" y="57038"/>
                </a:cubicBezTo>
                <a:lnTo>
                  <a:pt x="41672" y="83344"/>
                </a:lnTo>
                <a:lnTo>
                  <a:pt x="107156" y="83344"/>
                </a:lnTo>
                <a:cubicBezTo>
                  <a:pt x="117016" y="83344"/>
                  <a:pt x="125016" y="75344"/>
                  <a:pt x="125016" y="65484"/>
                </a:cubicBezTo>
                <a:lnTo>
                  <a:pt x="125016" y="57038"/>
                </a:lnTo>
                <a:cubicBezTo>
                  <a:pt x="114486" y="52462"/>
                  <a:pt x="107156" y="41970"/>
                  <a:pt x="107156" y="29766"/>
                </a:cubicBezTo>
                <a:cubicBezTo>
                  <a:pt x="107156" y="13320"/>
                  <a:pt x="120476" y="0"/>
                  <a:pt x="136922" y="0"/>
                </a:cubicBezTo>
                <a:cubicBezTo>
                  <a:pt x="153367" y="0"/>
                  <a:pt x="166688" y="13320"/>
                  <a:pt x="166688" y="29766"/>
                </a:cubicBezTo>
                <a:cubicBezTo>
                  <a:pt x="166688" y="41970"/>
                  <a:pt x="159358" y="52462"/>
                  <a:pt x="148828" y="57038"/>
                </a:cubicBezTo>
                <a:lnTo>
                  <a:pt x="148828" y="65484"/>
                </a:lnTo>
                <a:cubicBezTo>
                  <a:pt x="148828" y="88516"/>
                  <a:pt x="130187" y="107156"/>
                  <a:pt x="107156" y="107156"/>
                </a:cubicBezTo>
                <a:lnTo>
                  <a:pt x="41672" y="107156"/>
                </a:lnTo>
                <a:lnTo>
                  <a:pt x="41672" y="133462"/>
                </a:lnTo>
                <a:cubicBezTo>
                  <a:pt x="52201" y="138038"/>
                  <a:pt x="59531" y="148530"/>
                  <a:pt x="59531" y="160734"/>
                </a:cubicBezTo>
                <a:cubicBezTo>
                  <a:pt x="59531" y="177180"/>
                  <a:pt x="46211" y="190500"/>
                  <a:pt x="29766" y="190500"/>
                </a:cubicBezTo>
                <a:cubicBezTo>
                  <a:pt x="13320" y="190500"/>
                  <a:pt x="0" y="177180"/>
                  <a:pt x="0" y="160734"/>
                </a:cubicBezTo>
                <a:cubicBezTo>
                  <a:pt x="0" y="148530"/>
                  <a:pt x="7330" y="138038"/>
                  <a:pt x="17859" y="133462"/>
                </a:cubicBezTo>
                <a:lnTo>
                  <a:pt x="17859" y="57076"/>
                </a:lnTo>
                <a:cubicBezTo>
                  <a:pt x="7330" y="52462"/>
                  <a:pt x="0" y="41970"/>
                  <a:pt x="0" y="29766"/>
                </a:cubicBezTo>
                <a:cubicBezTo>
                  <a:pt x="0" y="13320"/>
                  <a:pt x="13320" y="0"/>
                  <a:pt x="29766" y="0"/>
                </a:cubicBezTo>
                <a:cubicBezTo>
                  <a:pt x="46211" y="0"/>
                  <a:pt x="59531" y="13320"/>
                  <a:pt x="59531" y="29766"/>
                </a:cubicBezTo>
                <a:close/>
                <a:moveTo>
                  <a:pt x="145852" y="29766"/>
                </a:moveTo>
                <a:cubicBezTo>
                  <a:pt x="145852" y="24837"/>
                  <a:pt x="141850" y="20836"/>
                  <a:pt x="136922" y="20836"/>
                </a:cubicBezTo>
                <a:cubicBezTo>
                  <a:pt x="131993" y="20836"/>
                  <a:pt x="127992" y="24837"/>
                  <a:pt x="127992" y="29766"/>
                </a:cubicBezTo>
                <a:cubicBezTo>
                  <a:pt x="127992" y="34694"/>
                  <a:pt x="131993" y="38695"/>
                  <a:pt x="136922" y="38695"/>
                </a:cubicBezTo>
                <a:cubicBezTo>
                  <a:pt x="141850" y="38695"/>
                  <a:pt x="145852" y="34694"/>
                  <a:pt x="145852" y="29766"/>
                </a:cubicBezTo>
                <a:close/>
                <a:moveTo>
                  <a:pt x="29766" y="169664"/>
                </a:moveTo>
                <a:cubicBezTo>
                  <a:pt x="34694" y="169664"/>
                  <a:pt x="38695" y="165663"/>
                  <a:pt x="38695" y="160734"/>
                </a:cubicBezTo>
                <a:cubicBezTo>
                  <a:pt x="38695" y="155806"/>
                  <a:pt x="34694" y="151805"/>
                  <a:pt x="29766" y="151805"/>
                </a:cubicBezTo>
                <a:cubicBezTo>
                  <a:pt x="24837" y="151805"/>
                  <a:pt x="20836" y="155806"/>
                  <a:pt x="20836" y="160734"/>
                </a:cubicBezTo>
                <a:cubicBezTo>
                  <a:pt x="20836" y="165663"/>
                  <a:pt x="24837" y="169664"/>
                  <a:pt x="29766" y="16966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2469356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2945606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learning for traffic prediction using decision trees.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3555206"/>
            <a:ext cx="3400425" cy="457200"/>
          </a:xfrm>
          <a:custGeom>
            <a:avLst/>
            <a:gdLst/>
            <a:ahLst/>
            <a:cxnLst/>
            <a:rect l="l" t="t" r="r" b="b"/>
            <a:pathLst>
              <a:path w="3400425" h="457200">
                <a:moveTo>
                  <a:pt x="38098" y="0"/>
                </a:moveTo>
                <a:lnTo>
                  <a:pt x="3362327" y="0"/>
                </a:lnTo>
                <a:cubicBezTo>
                  <a:pt x="3383368" y="0"/>
                  <a:pt x="3400425" y="17057"/>
                  <a:pt x="3400425" y="38098"/>
                </a:cubicBezTo>
                <a:lnTo>
                  <a:pt x="3400425" y="419102"/>
                </a:lnTo>
                <a:cubicBezTo>
                  <a:pt x="3400425" y="440143"/>
                  <a:pt x="3383368" y="457200"/>
                  <a:pt x="336232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275" y="369998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5" name="Text 13"/>
          <p:cNvSpPr/>
          <p:nvPr/>
        </p:nvSpPr>
        <p:spPr>
          <a:xfrm>
            <a:off x="895350" y="3669506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complex datasets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1721" y="2202656"/>
            <a:ext cx="3705225" cy="1962150"/>
          </a:xfrm>
          <a:custGeom>
            <a:avLst/>
            <a:gdLst/>
            <a:ahLst/>
            <a:cxnLst/>
            <a:rect l="l" t="t" r="r" b="b"/>
            <a:pathLst>
              <a:path w="3705225" h="19621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85960"/>
                </a:lnTo>
                <a:cubicBezTo>
                  <a:pt x="3705225" y="1928010"/>
                  <a:pt x="3671085" y="1962150"/>
                  <a:pt x="3629035" y="1962150"/>
                </a:cubicBezTo>
                <a:lnTo>
                  <a:pt x="76190" y="1962150"/>
                </a:lnTo>
                <a:cubicBezTo>
                  <a:pt x="34140" y="1962150"/>
                  <a:pt x="0" y="1928010"/>
                  <a:pt x="0" y="18859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17" name="Shape 15"/>
          <p:cNvSpPr/>
          <p:nvPr/>
        </p:nvSpPr>
        <p:spPr>
          <a:xfrm>
            <a:off x="4241721" y="2202656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8" name="Shape 16"/>
          <p:cNvSpPr/>
          <p:nvPr/>
        </p:nvSpPr>
        <p:spPr>
          <a:xfrm>
            <a:off x="4394121" y="23741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15564" y="250745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621" y="2469356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94121" y="2945606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 for real-time vehicle detection and tracking.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94121" y="3555206"/>
            <a:ext cx="3400425" cy="457200"/>
          </a:xfrm>
          <a:custGeom>
            <a:avLst/>
            <a:gdLst/>
            <a:ahLst/>
            <a:cxnLst/>
            <a:rect l="l" t="t" r="r" b="b"/>
            <a:pathLst>
              <a:path w="3400425" h="457200">
                <a:moveTo>
                  <a:pt x="38098" y="0"/>
                </a:moveTo>
                <a:lnTo>
                  <a:pt x="3362327" y="0"/>
                </a:lnTo>
                <a:cubicBezTo>
                  <a:pt x="3383368" y="0"/>
                  <a:pt x="3400425" y="17057"/>
                  <a:pt x="3400425" y="38098"/>
                </a:cubicBezTo>
                <a:lnTo>
                  <a:pt x="3400425" y="419102"/>
                </a:lnTo>
                <a:cubicBezTo>
                  <a:pt x="3400425" y="440143"/>
                  <a:pt x="3383368" y="457200"/>
                  <a:pt x="336232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4536996" y="369998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6071" y="3669506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Vision-based analysis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2561" y="2202656"/>
            <a:ext cx="3705225" cy="1962150"/>
          </a:xfrm>
          <a:custGeom>
            <a:avLst/>
            <a:gdLst/>
            <a:ahLst/>
            <a:cxnLst/>
            <a:rect l="l" t="t" r="r" b="b"/>
            <a:pathLst>
              <a:path w="3705225" h="19621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85960"/>
                </a:lnTo>
                <a:cubicBezTo>
                  <a:pt x="3705225" y="1928010"/>
                  <a:pt x="3671085" y="1962150"/>
                  <a:pt x="3629035" y="1962150"/>
                </a:cubicBezTo>
                <a:lnTo>
                  <a:pt x="76190" y="1962150"/>
                </a:lnTo>
                <a:cubicBezTo>
                  <a:pt x="34140" y="1962150"/>
                  <a:pt x="0" y="1928010"/>
                  <a:pt x="0" y="18859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8102561" y="2202656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7" name="Shape 25"/>
          <p:cNvSpPr/>
          <p:nvPr/>
        </p:nvSpPr>
        <p:spPr>
          <a:xfrm>
            <a:off x="8254961" y="23741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8" name="Shape 26"/>
          <p:cNvSpPr/>
          <p:nvPr/>
        </p:nvSpPr>
        <p:spPr>
          <a:xfrm>
            <a:off x="8376404" y="250745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8826461" y="2469356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Systems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54961" y="2945606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cloud platforms for real-time data processing.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54961" y="3555206"/>
            <a:ext cx="3400425" cy="457200"/>
          </a:xfrm>
          <a:custGeom>
            <a:avLst/>
            <a:gdLst/>
            <a:ahLst/>
            <a:cxnLst/>
            <a:rect l="l" t="t" r="r" b="b"/>
            <a:pathLst>
              <a:path w="3400425" h="457200">
                <a:moveTo>
                  <a:pt x="38098" y="0"/>
                </a:moveTo>
                <a:lnTo>
                  <a:pt x="3362327" y="0"/>
                </a:lnTo>
                <a:cubicBezTo>
                  <a:pt x="3383368" y="0"/>
                  <a:pt x="3400425" y="17057"/>
                  <a:pt x="3400425" y="38098"/>
                </a:cubicBezTo>
                <a:lnTo>
                  <a:pt x="3400425" y="419102"/>
                </a:lnTo>
                <a:cubicBezTo>
                  <a:pt x="3400425" y="440143"/>
                  <a:pt x="3383368" y="457200"/>
                  <a:pt x="336232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Shape 30"/>
          <p:cNvSpPr/>
          <p:nvPr/>
        </p:nvSpPr>
        <p:spPr>
          <a:xfrm>
            <a:off x="8397836" y="369998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3" name="Text 31"/>
          <p:cNvSpPr/>
          <p:nvPr/>
        </p:nvSpPr>
        <p:spPr>
          <a:xfrm>
            <a:off x="8616911" y="3669506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computing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0050" y="4317206"/>
            <a:ext cx="5619750" cy="2057400"/>
          </a:xfrm>
          <a:custGeom>
            <a:avLst/>
            <a:gdLst/>
            <a:ahLst/>
            <a:cxnLst/>
            <a:rect l="l" t="t" r="r" b="b"/>
            <a:pathLst>
              <a:path w="5619750" h="2057400">
                <a:moveTo>
                  <a:pt x="38100" y="0"/>
                </a:moveTo>
                <a:lnTo>
                  <a:pt x="5543544" y="0"/>
                </a:lnTo>
                <a:cubicBezTo>
                  <a:pt x="5585631" y="0"/>
                  <a:pt x="5619750" y="34119"/>
                  <a:pt x="5619750" y="76206"/>
                </a:cubicBezTo>
                <a:lnTo>
                  <a:pt x="5619750" y="1981194"/>
                </a:lnTo>
                <a:cubicBezTo>
                  <a:pt x="5619750" y="2023281"/>
                  <a:pt x="5585631" y="2057400"/>
                  <a:pt x="5543544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400050" y="4317206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Shape 34"/>
          <p:cNvSpPr/>
          <p:nvPr/>
        </p:nvSpPr>
        <p:spPr>
          <a:xfrm>
            <a:off x="595313" y="45077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809625" y="4469606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Focus Areas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1500" y="4850606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098" y="0"/>
                </a:moveTo>
                <a:lnTo>
                  <a:pt x="5257802" y="0"/>
                </a:lnTo>
                <a:cubicBezTo>
                  <a:pt x="5278829" y="0"/>
                  <a:pt x="5295900" y="17071"/>
                  <a:pt x="5295900" y="38098"/>
                </a:cubicBezTo>
                <a:lnTo>
                  <a:pt x="5295900" y="609602"/>
                </a:lnTo>
                <a:cubicBezTo>
                  <a:pt x="5295900" y="630643"/>
                  <a:pt x="5278843" y="647700"/>
                  <a:pt x="52578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39" name="Shape 37"/>
          <p:cNvSpPr/>
          <p:nvPr/>
        </p:nvSpPr>
        <p:spPr>
          <a:xfrm>
            <a:off x="698897" y="5003006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29434" y="3851"/>
                </a:moveTo>
                <a:cubicBezTo>
                  <a:pt x="25651" y="1540"/>
                  <a:pt x="20695" y="2779"/>
                  <a:pt x="18384" y="6563"/>
                </a:cubicBezTo>
                <a:cubicBezTo>
                  <a:pt x="10079" y="20293"/>
                  <a:pt x="5324" y="36400"/>
                  <a:pt x="5324" y="53578"/>
                </a:cubicBezTo>
                <a:cubicBezTo>
                  <a:pt x="5324" y="70757"/>
                  <a:pt x="10079" y="86864"/>
                  <a:pt x="18384" y="100593"/>
                </a:cubicBezTo>
                <a:cubicBezTo>
                  <a:pt x="20695" y="104377"/>
                  <a:pt x="25617" y="105616"/>
                  <a:pt x="29434" y="103305"/>
                </a:cubicBezTo>
                <a:cubicBezTo>
                  <a:pt x="33252" y="100995"/>
                  <a:pt x="34457" y="96072"/>
                  <a:pt x="32147" y="92255"/>
                </a:cubicBezTo>
                <a:cubicBezTo>
                  <a:pt x="25349" y="81003"/>
                  <a:pt x="21431" y="67743"/>
                  <a:pt x="21431" y="53578"/>
                </a:cubicBezTo>
                <a:cubicBezTo>
                  <a:pt x="21431" y="39413"/>
                  <a:pt x="25349" y="26153"/>
                  <a:pt x="32180" y="14868"/>
                </a:cubicBezTo>
                <a:cubicBezTo>
                  <a:pt x="34491" y="11084"/>
                  <a:pt x="33252" y="6128"/>
                  <a:pt x="29468" y="3817"/>
                </a:cubicBezTo>
                <a:close/>
                <a:moveTo>
                  <a:pt x="163413" y="3851"/>
                </a:moveTo>
                <a:cubicBezTo>
                  <a:pt x="159629" y="6161"/>
                  <a:pt x="158390" y="11084"/>
                  <a:pt x="160701" y="14901"/>
                </a:cubicBezTo>
                <a:cubicBezTo>
                  <a:pt x="167532" y="26186"/>
                  <a:pt x="171450" y="39447"/>
                  <a:pt x="171450" y="53612"/>
                </a:cubicBezTo>
                <a:cubicBezTo>
                  <a:pt x="171450" y="67776"/>
                  <a:pt x="167532" y="81037"/>
                  <a:pt x="160701" y="92322"/>
                </a:cubicBezTo>
                <a:cubicBezTo>
                  <a:pt x="158390" y="96106"/>
                  <a:pt x="159629" y="101062"/>
                  <a:pt x="163413" y="103372"/>
                </a:cubicBezTo>
                <a:cubicBezTo>
                  <a:pt x="167197" y="105683"/>
                  <a:pt x="172153" y="104444"/>
                  <a:pt x="174464" y="100660"/>
                </a:cubicBezTo>
                <a:cubicBezTo>
                  <a:pt x="182768" y="86931"/>
                  <a:pt x="187523" y="70824"/>
                  <a:pt x="187523" y="53645"/>
                </a:cubicBezTo>
                <a:cubicBezTo>
                  <a:pt x="187523" y="36467"/>
                  <a:pt x="182768" y="20293"/>
                  <a:pt x="174464" y="6563"/>
                </a:cubicBezTo>
                <a:cubicBezTo>
                  <a:pt x="172153" y="2779"/>
                  <a:pt x="167231" y="1540"/>
                  <a:pt x="163413" y="3851"/>
                </a:cubicBezTo>
                <a:close/>
                <a:moveTo>
                  <a:pt x="107156" y="72130"/>
                </a:moveTo>
                <a:cubicBezTo>
                  <a:pt x="113552" y="68413"/>
                  <a:pt x="117872" y="61514"/>
                  <a:pt x="117872" y="53578"/>
                </a:cubicBezTo>
                <a:cubicBezTo>
                  <a:pt x="117872" y="41757"/>
                  <a:pt x="108261" y="32147"/>
                  <a:pt x="96441" y="32147"/>
                </a:cubicBezTo>
                <a:cubicBezTo>
                  <a:pt x="84620" y="32147"/>
                  <a:pt x="75009" y="41757"/>
                  <a:pt x="75009" y="53578"/>
                </a:cubicBezTo>
                <a:cubicBezTo>
                  <a:pt x="75009" y="61514"/>
                  <a:pt x="79329" y="68446"/>
                  <a:pt x="85725" y="72130"/>
                </a:cubicBezTo>
                <a:lnTo>
                  <a:pt x="85725" y="160734"/>
                </a:lnTo>
                <a:cubicBezTo>
                  <a:pt x="85725" y="166661"/>
                  <a:pt x="90514" y="171450"/>
                  <a:pt x="96441" y="171450"/>
                </a:cubicBezTo>
                <a:cubicBezTo>
                  <a:pt x="102368" y="171450"/>
                  <a:pt x="107156" y="166661"/>
                  <a:pt x="107156" y="160734"/>
                </a:cubicBezTo>
                <a:lnTo>
                  <a:pt x="107156" y="72130"/>
                </a:lnTo>
                <a:close/>
                <a:moveTo>
                  <a:pt x="60342" y="30473"/>
                </a:moveTo>
                <a:cubicBezTo>
                  <a:pt x="62753" y="26722"/>
                  <a:pt x="61648" y="21766"/>
                  <a:pt x="57931" y="19355"/>
                </a:cubicBezTo>
                <a:cubicBezTo>
                  <a:pt x="54214" y="16944"/>
                  <a:pt x="49225" y="18049"/>
                  <a:pt x="46814" y="21766"/>
                </a:cubicBezTo>
                <a:cubicBezTo>
                  <a:pt x="40920" y="30941"/>
                  <a:pt x="37505" y="41858"/>
                  <a:pt x="37505" y="53578"/>
                </a:cubicBezTo>
                <a:cubicBezTo>
                  <a:pt x="37505" y="65298"/>
                  <a:pt x="40920" y="76215"/>
                  <a:pt x="46814" y="85390"/>
                </a:cubicBezTo>
                <a:cubicBezTo>
                  <a:pt x="49225" y="89141"/>
                  <a:pt x="54181" y="90212"/>
                  <a:pt x="57931" y="87801"/>
                </a:cubicBezTo>
                <a:cubicBezTo>
                  <a:pt x="61682" y="85390"/>
                  <a:pt x="62753" y="80434"/>
                  <a:pt x="60342" y="76684"/>
                </a:cubicBezTo>
                <a:cubicBezTo>
                  <a:pt x="56056" y="70020"/>
                  <a:pt x="53578" y="62084"/>
                  <a:pt x="53578" y="53578"/>
                </a:cubicBezTo>
                <a:cubicBezTo>
                  <a:pt x="53578" y="45073"/>
                  <a:pt x="56056" y="37136"/>
                  <a:pt x="60342" y="30473"/>
                </a:cubicBezTo>
                <a:close/>
                <a:moveTo>
                  <a:pt x="146067" y="21766"/>
                </a:moveTo>
                <a:cubicBezTo>
                  <a:pt x="143656" y="18016"/>
                  <a:pt x="138700" y="16944"/>
                  <a:pt x="134950" y="19355"/>
                </a:cubicBezTo>
                <a:cubicBezTo>
                  <a:pt x="131199" y="21766"/>
                  <a:pt x="130128" y="26722"/>
                  <a:pt x="132539" y="30473"/>
                </a:cubicBezTo>
                <a:cubicBezTo>
                  <a:pt x="136825" y="37136"/>
                  <a:pt x="139303" y="45073"/>
                  <a:pt x="139303" y="53578"/>
                </a:cubicBezTo>
                <a:cubicBezTo>
                  <a:pt x="139303" y="62084"/>
                  <a:pt x="136825" y="70020"/>
                  <a:pt x="132539" y="76684"/>
                </a:cubicBezTo>
                <a:cubicBezTo>
                  <a:pt x="130128" y="80434"/>
                  <a:pt x="131233" y="85390"/>
                  <a:pt x="134950" y="87801"/>
                </a:cubicBezTo>
                <a:cubicBezTo>
                  <a:pt x="138667" y="90212"/>
                  <a:pt x="143656" y="89107"/>
                  <a:pt x="146067" y="85390"/>
                </a:cubicBezTo>
                <a:cubicBezTo>
                  <a:pt x="151961" y="76215"/>
                  <a:pt x="155377" y="65298"/>
                  <a:pt x="155377" y="53578"/>
                </a:cubicBezTo>
                <a:cubicBezTo>
                  <a:pt x="155377" y="41858"/>
                  <a:pt x="151961" y="30941"/>
                  <a:pt x="146067" y="2176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0" name="Text 38"/>
          <p:cNvSpPr/>
          <p:nvPr/>
        </p:nvSpPr>
        <p:spPr>
          <a:xfrm>
            <a:off x="1014413" y="4964906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4413" y="5193506"/>
            <a:ext cx="2543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and respond to current conditions.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1500" y="5574506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098" y="0"/>
                </a:moveTo>
                <a:lnTo>
                  <a:pt x="5257802" y="0"/>
                </a:lnTo>
                <a:cubicBezTo>
                  <a:pt x="5278829" y="0"/>
                  <a:pt x="5295900" y="17071"/>
                  <a:pt x="5295900" y="38098"/>
                </a:cubicBezTo>
                <a:lnTo>
                  <a:pt x="5295900" y="609602"/>
                </a:lnTo>
                <a:cubicBezTo>
                  <a:pt x="5295900" y="630643"/>
                  <a:pt x="5278843" y="647700"/>
                  <a:pt x="52578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43" name="Shape 41"/>
          <p:cNvSpPr/>
          <p:nvPr/>
        </p:nvSpPr>
        <p:spPr>
          <a:xfrm>
            <a:off x="720328" y="572690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4" name="Text 42"/>
          <p:cNvSpPr/>
          <p:nvPr/>
        </p:nvSpPr>
        <p:spPr>
          <a:xfrm>
            <a:off x="1014413" y="5688806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Infrastructure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14413" y="5917406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 extensive physical deployment.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250" y="4317206"/>
            <a:ext cx="5619750" cy="2057400"/>
          </a:xfrm>
          <a:custGeom>
            <a:avLst/>
            <a:gdLst/>
            <a:ahLst/>
            <a:cxnLst/>
            <a:rect l="l" t="t" r="r" b="b"/>
            <a:pathLst>
              <a:path w="5619750" h="2057400">
                <a:moveTo>
                  <a:pt x="38100" y="0"/>
                </a:moveTo>
                <a:lnTo>
                  <a:pt x="5543544" y="0"/>
                </a:lnTo>
                <a:cubicBezTo>
                  <a:pt x="5585631" y="0"/>
                  <a:pt x="5619750" y="34119"/>
                  <a:pt x="5619750" y="76206"/>
                </a:cubicBezTo>
                <a:lnTo>
                  <a:pt x="5619750" y="1981194"/>
                </a:lnTo>
                <a:cubicBezTo>
                  <a:pt x="5619750" y="2023281"/>
                  <a:pt x="5585631" y="2057400"/>
                  <a:pt x="5543544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1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6191250" y="4317206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8" name="Shape 46"/>
          <p:cNvSpPr/>
          <p:nvPr/>
        </p:nvSpPr>
        <p:spPr>
          <a:xfrm>
            <a:off x="6386513" y="48506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9" name="Text 47"/>
          <p:cNvSpPr/>
          <p:nvPr/>
        </p:nvSpPr>
        <p:spPr>
          <a:xfrm>
            <a:off x="6600825" y="4812506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62700" y="5193506"/>
            <a:ext cx="5381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 focus on </a:t>
            </a: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reacting to current conditions</a:t>
            </a: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There is a need for </a:t>
            </a: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prediction</a:t>
            </a: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prevent congestion before it occurs.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LITERATURE SURVEY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Paper 1: Cloud-Enabled Analytics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71600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800097"/>
                </a:lnTo>
                <a:cubicBezTo>
                  <a:pt x="11430000" y="842183"/>
                  <a:pt x="11395883" y="876300"/>
                  <a:pt x="113537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533400" y="1524000"/>
            <a:ext cx="1123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"Dynamic Traffic Optimization Through Cloud-Enabled Big Data Analytics"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3400" y="1866781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cloud-based approach using Random Forest for real-time traffic optimization.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2400181"/>
            <a:ext cx="5638800" cy="3086100"/>
          </a:xfrm>
          <a:custGeom>
            <a:avLst/>
            <a:gdLst/>
            <a:ahLst/>
            <a:cxnLst/>
            <a:rect l="l" t="t" r="r" b="b"/>
            <a:pathLst>
              <a:path w="5638800" h="3086100">
                <a:moveTo>
                  <a:pt x="76196" y="0"/>
                </a:moveTo>
                <a:lnTo>
                  <a:pt x="5562604" y="0"/>
                </a:lnTo>
                <a:cubicBezTo>
                  <a:pt x="5604686" y="0"/>
                  <a:pt x="5638800" y="34114"/>
                  <a:pt x="5638800" y="76196"/>
                </a:cubicBezTo>
                <a:lnTo>
                  <a:pt x="5638800" y="3009904"/>
                </a:lnTo>
                <a:cubicBezTo>
                  <a:pt x="5638800" y="3051986"/>
                  <a:pt x="5604686" y="3086100"/>
                  <a:pt x="5562604" y="3086100"/>
                </a:cubicBezTo>
                <a:lnTo>
                  <a:pt x="76196" y="3086100"/>
                </a:lnTo>
                <a:cubicBezTo>
                  <a:pt x="34114" y="3086100"/>
                  <a:pt x="0" y="3051986"/>
                  <a:pt x="0" y="30099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533400" y="259068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0" name="Text 8"/>
          <p:cNvSpPr/>
          <p:nvPr/>
        </p:nvSpPr>
        <p:spPr>
          <a:xfrm>
            <a:off x="771525" y="2552581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Technologies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2450" y="2933581"/>
            <a:ext cx="5314950" cy="1143000"/>
          </a:xfrm>
          <a:custGeom>
            <a:avLst/>
            <a:gdLst/>
            <a:ahLst/>
            <a:cxnLst/>
            <a:rect l="l" t="t" r="r" b="b"/>
            <a:pathLst>
              <a:path w="5314950" h="1143000">
                <a:moveTo>
                  <a:pt x="38100" y="0"/>
                </a:moveTo>
                <a:lnTo>
                  <a:pt x="5238746" y="0"/>
                </a:lnTo>
                <a:cubicBezTo>
                  <a:pt x="5280832" y="0"/>
                  <a:pt x="5314950" y="34118"/>
                  <a:pt x="5314950" y="76204"/>
                </a:cubicBezTo>
                <a:lnTo>
                  <a:pt x="5314950" y="1066796"/>
                </a:lnTo>
                <a:cubicBezTo>
                  <a:pt x="5314950" y="1108882"/>
                  <a:pt x="5280832" y="1143000"/>
                  <a:pt x="52387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Shape 10"/>
          <p:cNvSpPr/>
          <p:nvPr/>
        </p:nvSpPr>
        <p:spPr>
          <a:xfrm>
            <a:off x="552450" y="2933581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3" name="Text 11"/>
          <p:cNvSpPr/>
          <p:nvPr/>
        </p:nvSpPr>
        <p:spPr>
          <a:xfrm>
            <a:off x="723900" y="3085981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Algorithm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" y="3428881"/>
            <a:ext cx="5067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ensemble learning method for traffic prediction using multiple decision trees for accuracy.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2450" y="4190881"/>
            <a:ext cx="5314950" cy="1143000"/>
          </a:xfrm>
          <a:custGeom>
            <a:avLst/>
            <a:gdLst/>
            <a:ahLst/>
            <a:cxnLst/>
            <a:rect l="l" t="t" r="r" b="b"/>
            <a:pathLst>
              <a:path w="5314950" h="1143000">
                <a:moveTo>
                  <a:pt x="38100" y="0"/>
                </a:moveTo>
                <a:lnTo>
                  <a:pt x="5238746" y="0"/>
                </a:lnTo>
                <a:cubicBezTo>
                  <a:pt x="5280832" y="0"/>
                  <a:pt x="5314950" y="34118"/>
                  <a:pt x="5314950" y="76204"/>
                </a:cubicBezTo>
                <a:lnTo>
                  <a:pt x="5314950" y="1066796"/>
                </a:lnTo>
                <a:cubicBezTo>
                  <a:pt x="5314950" y="1108882"/>
                  <a:pt x="5280832" y="1143000"/>
                  <a:pt x="52387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Shape 14"/>
          <p:cNvSpPr/>
          <p:nvPr/>
        </p:nvSpPr>
        <p:spPr>
          <a:xfrm>
            <a:off x="552450" y="4190881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" y="4343281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 &amp; Big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3900" y="4686181"/>
            <a:ext cx="5067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Leverages scalable cloud platforms to process large-scale traffic data in real-time.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2400181"/>
            <a:ext cx="5638800" cy="3086100"/>
          </a:xfrm>
          <a:custGeom>
            <a:avLst/>
            <a:gdLst/>
            <a:ahLst/>
            <a:cxnLst/>
            <a:rect l="l" t="t" r="r" b="b"/>
            <a:pathLst>
              <a:path w="5638800" h="3086100">
                <a:moveTo>
                  <a:pt x="76196" y="0"/>
                </a:moveTo>
                <a:lnTo>
                  <a:pt x="5562604" y="0"/>
                </a:lnTo>
                <a:cubicBezTo>
                  <a:pt x="5604686" y="0"/>
                  <a:pt x="5638800" y="34114"/>
                  <a:pt x="5638800" y="76196"/>
                </a:cubicBezTo>
                <a:lnTo>
                  <a:pt x="5638800" y="3009904"/>
                </a:lnTo>
                <a:cubicBezTo>
                  <a:pt x="5638800" y="3051986"/>
                  <a:pt x="5604686" y="3086100"/>
                  <a:pt x="5562604" y="3086100"/>
                </a:cubicBezTo>
                <a:lnTo>
                  <a:pt x="76196" y="3086100"/>
                </a:lnTo>
                <a:cubicBezTo>
                  <a:pt x="34114" y="3086100"/>
                  <a:pt x="0" y="3051986"/>
                  <a:pt x="0" y="30099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CB5A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6360319" y="259068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1" name="Text 19"/>
          <p:cNvSpPr/>
          <p:nvPr/>
        </p:nvSpPr>
        <p:spPr>
          <a:xfrm>
            <a:off x="6562725" y="2552581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24600" y="2933581"/>
            <a:ext cx="1704975" cy="1009650"/>
          </a:xfrm>
          <a:custGeom>
            <a:avLst/>
            <a:gdLst/>
            <a:ahLst/>
            <a:cxnLst/>
            <a:rect l="l" t="t" r="r" b="b"/>
            <a:pathLst>
              <a:path w="1704975" h="1009650">
                <a:moveTo>
                  <a:pt x="76198" y="0"/>
                </a:moveTo>
                <a:lnTo>
                  <a:pt x="1628777" y="0"/>
                </a:lnTo>
                <a:cubicBezTo>
                  <a:pt x="1670860" y="0"/>
                  <a:pt x="1704975" y="34115"/>
                  <a:pt x="1704975" y="76198"/>
                </a:cubicBezTo>
                <a:lnTo>
                  <a:pt x="1704975" y="933452"/>
                </a:lnTo>
                <a:cubicBezTo>
                  <a:pt x="1704975" y="975535"/>
                  <a:pt x="1670860" y="1009650"/>
                  <a:pt x="1628777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34927" y="30478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409831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5563" y="3638431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 embedded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40661" y="2933581"/>
            <a:ext cx="1704975" cy="1009650"/>
          </a:xfrm>
          <a:custGeom>
            <a:avLst/>
            <a:gdLst/>
            <a:ahLst/>
            <a:cxnLst/>
            <a:rect l="l" t="t" r="r" b="b"/>
            <a:pathLst>
              <a:path w="1704975" h="1009650">
                <a:moveTo>
                  <a:pt x="76198" y="0"/>
                </a:moveTo>
                <a:lnTo>
                  <a:pt x="1628777" y="0"/>
                </a:lnTo>
                <a:cubicBezTo>
                  <a:pt x="1670860" y="0"/>
                  <a:pt x="1704975" y="34115"/>
                  <a:pt x="1704975" y="76198"/>
                </a:cubicBezTo>
                <a:lnTo>
                  <a:pt x="1704975" y="933452"/>
                </a:lnTo>
                <a:cubicBezTo>
                  <a:pt x="1704975" y="975535"/>
                  <a:pt x="1670860" y="1009650"/>
                  <a:pt x="1628777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8815268" y="3047881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21469" y="26789"/>
                </a:moveTo>
                <a:cubicBezTo>
                  <a:pt x="321469" y="20594"/>
                  <a:pt x="318288" y="14846"/>
                  <a:pt x="312986" y="11609"/>
                </a:cubicBezTo>
                <a:cubicBezTo>
                  <a:pt x="307684" y="8372"/>
                  <a:pt x="301154" y="8037"/>
                  <a:pt x="295628" y="10827"/>
                </a:cubicBezTo>
                <a:lnTo>
                  <a:pt x="230777" y="43253"/>
                </a:lnTo>
                <a:lnTo>
                  <a:pt x="130652" y="9823"/>
                </a:lnTo>
                <a:cubicBezTo>
                  <a:pt x="126132" y="8316"/>
                  <a:pt x="121276" y="8651"/>
                  <a:pt x="117035" y="10771"/>
                </a:cubicBezTo>
                <a:lnTo>
                  <a:pt x="45597" y="46490"/>
                </a:lnTo>
                <a:cubicBezTo>
                  <a:pt x="39514" y="49560"/>
                  <a:pt x="35719" y="55755"/>
                  <a:pt x="35719" y="62508"/>
                </a:cubicBezTo>
                <a:lnTo>
                  <a:pt x="35719" y="258961"/>
                </a:lnTo>
                <a:cubicBezTo>
                  <a:pt x="35719" y="265156"/>
                  <a:pt x="38900" y="270904"/>
                  <a:pt x="44202" y="274141"/>
                </a:cubicBezTo>
                <a:cubicBezTo>
                  <a:pt x="49504" y="277378"/>
                  <a:pt x="56034" y="277713"/>
                  <a:pt x="61559" y="274923"/>
                </a:cubicBezTo>
                <a:lnTo>
                  <a:pt x="126355" y="242497"/>
                </a:lnTo>
                <a:lnTo>
                  <a:pt x="223075" y="274755"/>
                </a:lnTo>
                <a:cubicBezTo>
                  <a:pt x="220675" y="271183"/>
                  <a:pt x="218331" y="267444"/>
                  <a:pt x="216043" y="263649"/>
                </a:cubicBezTo>
                <a:cubicBezTo>
                  <a:pt x="209903" y="253436"/>
                  <a:pt x="203820" y="241715"/>
                  <a:pt x="199299" y="229158"/>
                </a:cubicBezTo>
                <a:lnTo>
                  <a:pt x="142819" y="210350"/>
                </a:lnTo>
                <a:lnTo>
                  <a:pt x="142819" y="51569"/>
                </a:lnTo>
                <a:lnTo>
                  <a:pt x="214257" y="75400"/>
                </a:lnTo>
                <a:lnTo>
                  <a:pt x="214257" y="130820"/>
                </a:lnTo>
                <a:cubicBezTo>
                  <a:pt x="231558" y="110840"/>
                  <a:pt x="257231" y="98227"/>
                  <a:pt x="285694" y="98227"/>
                </a:cubicBezTo>
                <a:cubicBezTo>
                  <a:pt x="298307" y="98227"/>
                  <a:pt x="310362" y="100682"/>
                  <a:pt x="321413" y="105203"/>
                </a:cubicBezTo>
                <a:lnTo>
                  <a:pt x="321469" y="26789"/>
                </a:lnTo>
                <a:close/>
                <a:moveTo>
                  <a:pt x="285750" y="125016"/>
                </a:moveTo>
                <a:cubicBezTo>
                  <a:pt x="248748" y="125016"/>
                  <a:pt x="218777" y="154484"/>
                  <a:pt x="218777" y="190816"/>
                </a:cubicBezTo>
                <a:cubicBezTo>
                  <a:pt x="218777" y="229270"/>
                  <a:pt x="254552" y="274755"/>
                  <a:pt x="273807" y="296466"/>
                </a:cubicBezTo>
                <a:cubicBezTo>
                  <a:pt x="280281" y="303721"/>
                  <a:pt x="291275" y="303721"/>
                  <a:pt x="297749" y="296466"/>
                </a:cubicBezTo>
                <a:cubicBezTo>
                  <a:pt x="317004" y="274755"/>
                  <a:pt x="352778" y="229270"/>
                  <a:pt x="352778" y="190816"/>
                </a:cubicBezTo>
                <a:cubicBezTo>
                  <a:pt x="352778" y="154484"/>
                  <a:pt x="322808" y="125016"/>
                  <a:pt x="285806" y="125016"/>
                </a:cubicBezTo>
                <a:close/>
                <a:moveTo>
                  <a:pt x="263426" y="191988"/>
                </a:moveTo>
                <a:cubicBezTo>
                  <a:pt x="263426" y="179667"/>
                  <a:pt x="273429" y="169664"/>
                  <a:pt x="285750" y="169664"/>
                </a:cubicBezTo>
                <a:cubicBezTo>
                  <a:pt x="298071" y="169664"/>
                  <a:pt x="308074" y="179667"/>
                  <a:pt x="308074" y="191988"/>
                </a:cubicBezTo>
                <a:cubicBezTo>
                  <a:pt x="308074" y="204309"/>
                  <a:pt x="298071" y="214313"/>
                  <a:pt x="285750" y="214313"/>
                </a:cubicBezTo>
                <a:cubicBezTo>
                  <a:pt x="273429" y="214313"/>
                  <a:pt x="263426" y="204309"/>
                  <a:pt x="263426" y="191988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8" name="Text 26"/>
          <p:cNvSpPr/>
          <p:nvPr/>
        </p:nvSpPr>
        <p:spPr>
          <a:xfrm>
            <a:off x="8216861" y="3409831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GPS Devices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1623" y="3638431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 telematics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56721" y="2933581"/>
            <a:ext cx="1704975" cy="1009650"/>
          </a:xfrm>
          <a:custGeom>
            <a:avLst/>
            <a:gdLst/>
            <a:ahLst/>
            <a:cxnLst/>
            <a:rect l="l" t="t" r="r" b="b"/>
            <a:pathLst>
              <a:path w="1704975" h="1009650">
                <a:moveTo>
                  <a:pt x="76198" y="0"/>
                </a:moveTo>
                <a:lnTo>
                  <a:pt x="1628777" y="0"/>
                </a:lnTo>
                <a:cubicBezTo>
                  <a:pt x="1670860" y="0"/>
                  <a:pt x="1704975" y="34115"/>
                  <a:pt x="1704975" y="76198"/>
                </a:cubicBezTo>
                <a:lnTo>
                  <a:pt x="1704975" y="933452"/>
                </a:lnTo>
                <a:cubicBezTo>
                  <a:pt x="1704975" y="975535"/>
                  <a:pt x="1670860" y="1009650"/>
                  <a:pt x="1628777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67048" y="30478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19825" y="391"/>
                </a:moveTo>
                <a:cubicBezTo>
                  <a:pt x="129480" y="2456"/>
                  <a:pt x="135620" y="11943"/>
                  <a:pt x="133555" y="21599"/>
                </a:cubicBezTo>
                <a:lnTo>
                  <a:pt x="122895" y="71438"/>
                </a:lnTo>
                <a:lnTo>
                  <a:pt x="193495" y="71438"/>
                </a:lnTo>
                <a:lnTo>
                  <a:pt x="205773" y="14120"/>
                </a:lnTo>
                <a:cubicBezTo>
                  <a:pt x="207838" y="4465"/>
                  <a:pt x="217326" y="-1674"/>
                  <a:pt x="226981" y="391"/>
                </a:cubicBezTo>
                <a:cubicBezTo>
                  <a:pt x="236637" y="2456"/>
                  <a:pt x="242776" y="11943"/>
                  <a:pt x="240711" y="21599"/>
                </a:cubicBezTo>
                <a:lnTo>
                  <a:pt x="230051" y="71438"/>
                </a:lnTo>
                <a:lnTo>
                  <a:pt x="267891" y="71438"/>
                </a:lnTo>
                <a:cubicBezTo>
                  <a:pt x="277769" y="71438"/>
                  <a:pt x="285750" y="79418"/>
                  <a:pt x="285750" y="89297"/>
                </a:cubicBezTo>
                <a:cubicBezTo>
                  <a:pt x="285750" y="99175"/>
                  <a:pt x="277769" y="107156"/>
                  <a:pt x="267891" y="107156"/>
                </a:cubicBezTo>
                <a:lnTo>
                  <a:pt x="222349" y="107156"/>
                </a:lnTo>
                <a:lnTo>
                  <a:pt x="207057" y="178594"/>
                </a:lnTo>
                <a:lnTo>
                  <a:pt x="244897" y="178594"/>
                </a:lnTo>
                <a:cubicBezTo>
                  <a:pt x="254775" y="178594"/>
                  <a:pt x="262756" y="186575"/>
                  <a:pt x="262756" y="196453"/>
                </a:cubicBezTo>
                <a:cubicBezTo>
                  <a:pt x="262756" y="206332"/>
                  <a:pt x="254775" y="214313"/>
                  <a:pt x="244897" y="214313"/>
                </a:cubicBezTo>
                <a:lnTo>
                  <a:pt x="199355" y="214313"/>
                </a:lnTo>
                <a:lnTo>
                  <a:pt x="187077" y="271630"/>
                </a:lnTo>
                <a:cubicBezTo>
                  <a:pt x="185012" y="281285"/>
                  <a:pt x="175524" y="287424"/>
                  <a:pt x="165869" y="285359"/>
                </a:cubicBezTo>
                <a:cubicBezTo>
                  <a:pt x="156214" y="283294"/>
                  <a:pt x="150075" y="273807"/>
                  <a:pt x="152140" y="264151"/>
                </a:cubicBezTo>
                <a:lnTo>
                  <a:pt x="162799" y="214313"/>
                </a:lnTo>
                <a:lnTo>
                  <a:pt x="92199" y="214313"/>
                </a:lnTo>
                <a:lnTo>
                  <a:pt x="79921" y="271630"/>
                </a:lnTo>
                <a:cubicBezTo>
                  <a:pt x="77856" y="281285"/>
                  <a:pt x="68368" y="287424"/>
                  <a:pt x="58713" y="285359"/>
                </a:cubicBezTo>
                <a:cubicBezTo>
                  <a:pt x="49057" y="283294"/>
                  <a:pt x="42918" y="273807"/>
                  <a:pt x="44983" y="264151"/>
                </a:cubicBezTo>
                <a:lnTo>
                  <a:pt x="55699" y="214313"/>
                </a:lnTo>
                <a:lnTo>
                  <a:pt x="17859" y="214313"/>
                </a:lnTo>
                <a:cubicBezTo>
                  <a:pt x="7981" y="214313"/>
                  <a:pt x="0" y="206332"/>
                  <a:pt x="0" y="196453"/>
                </a:cubicBezTo>
                <a:cubicBezTo>
                  <a:pt x="0" y="186575"/>
                  <a:pt x="7981" y="178594"/>
                  <a:pt x="17859" y="178594"/>
                </a:cubicBezTo>
                <a:lnTo>
                  <a:pt x="63401" y="178594"/>
                </a:lnTo>
                <a:lnTo>
                  <a:pt x="78693" y="107156"/>
                </a:lnTo>
                <a:lnTo>
                  <a:pt x="40853" y="107156"/>
                </a:lnTo>
                <a:cubicBezTo>
                  <a:pt x="30975" y="107156"/>
                  <a:pt x="22994" y="99175"/>
                  <a:pt x="22994" y="89297"/>
                </a:cubicBezTo>
                <a:cubicBezTo>
                  <a:pt x="22994" y="79418"/>
                  <a:pt x="30975" y="71438"/>
                  <a:pt x="40853" y="71438"/>
                </a:cubicBezTo>
                <a:lnTo>
                  <a:pt x="86395" y="71438"/>
                </a:lnTo>
                <a:lnTo>
                  <a:pt x="98673" y="14120"/>
                </a:lnTo>
                <a:cubicBezTo>
                  <a:pt x="100682" y="4465"/>
                  <a:pt x="110170" y="-1674"/>
                  <a:pt x="119825" y="391"/>
                </a:cubicBezTo>
                <a:close/>
                <a:moveTo>
                  <a:pt x="115193" y="107156"/>
                </a:moveTo>
                <a:lnTo>
                  <a:pt x="99901" y="178594"/>
                </a:lnTo>
                <a:lnTo>
                  <a:pt x="170501" y="178594"/>
                </a:lnTo>
                <a:lnTo>
                  <a:pt x="185793" y="107156"/>
                </a:lnTo>
                <a:lnTo>
                  <a:pt x="115193" y="107156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2" name="Text 30"/>
          <p:cNvSpPr/>
          <p:nvPr/>
        </p:nvSpPr>
        <p:spPr>
          <a:xfrm>
            <a:off x="10032921" y="3409831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37684" y="3638431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reports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24600" y="4057531"/>
            <a:ext cx="5334000" cy="1276350"/>
          </a:xfrm>
          <a:custGeom>
            <a:avLst/>
            <a:gdLst/>
            <a:ahLst/>
            <a:cxnLst/>
            <a:rect l="l" t="t" r="r" b="b"/>
            <a:pathLst>
              <a:path w="5334000" h="1276350">
                <a:moveTo>
                  <a:pt x="76198" y="0"/>
                </a:moveTo>
                <a:lnTo>
                  <a:pt x="5257802" y="0"/>
                </a:lnTo>
                <a:cubicBezTo>
                  <a:pt x="5299885" y="0"/>
                  <a:pt x="5334000" y="34115"/>
                  <a:pt x="5334000" y="76198"/>
                </a:cubicBezTo>
                <a:lnTo>
                  <a:pt x="5334000" y="1200152"/>
                </a:lnTo>
                <a:cubicBezTo>
                  <a:pt x="5334000" y="1242235"/>
                  <a:pt x="5299885" y="1276350"/>
                  <a:pt x="5257802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35" name="Shape 33"/>
          <p:cNvSpPr/>
          <p:nvPr/>
        </p:nvSpPr>
        <p:spPr>
          <a:xfrm>
            <a:off x="6500813" y="43051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6" name="Text 34"/>
          <p:cNvSpPr/>
          <p:nvPr/>
        </p:nvSpPr>
        <p:spPr>
          <a:xfrm>
            <a:off x="6696075" y="4257556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Capabilities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96050" y="46385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8" name="Text 36"/>
          <p:cNvSpPr/>
          <p:nvPr/>
        </p:nvSpPr>
        <p:spPr>
          <a:xfrm>
            <a:off x="6781800" y="4600456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retiming: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Adjusts signal timing in real-time.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96050" y="49433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0" name="Text 38"/>
          <p:cNvSpPr/>
          <p:nvPr/>
        </p:nvSpPr>
        <p:spPr>
          <a:xfrm>
            <a:off x="6781800" y="4905256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rerouting: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Suggests alternate routes.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5600581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552450" y="571488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3" name="Text 41"/>
          <p:cNvSpPr/>
          <p:nvPr/>
        </p:nvSpPr>
        <p:spPr>
          <a:xfrm>
            <a:off x="895350" y="5714881"/>
            <a:ext cx="696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Integrates multi-source data for real-time optimization, but requires extensive hardware.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746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108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LITERATURE SURVEY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617316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Paper 2: Computer Vision Approach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54" y="1063156"/>
            <a:ext cx="823089" cy="34295"/>
          </a:xfrm>
          <a:custGeom>
            <a:avLst/>
            <a:gdLst/>
            <a:ahLst/>
            <a:cxnLst/>
            <a:rect l="l" t="t" r="r" b="b"/>
            <a:pathLst>
              <a:path w="823089" h="34295">
                <a:moveTo>
                  <a:pt x="0" y="0"/>
                </a:moveTo>
                <a:lnTo>
                  <a:pt x="823089" y="0"/>
                </a:lnTo>
                <a:lnTo>
                  <a:pt x="823089" y="34295"/>
                </a:lnTo>
                <a:lnTo>
                  <a:pt x="0" y="34295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342954" y="1234633"/>
            <a:ext cx="11506093" cy="788793"/>
          </a:xfrm>
          <a:custGeom>
            <a:avLst/>
            <a:gdLst/>
            <a:ahLst/>
            <a:cxnLst/>
            <a:rect l="l" t="t" r="r" b="b"/>
            <a:pathLst>
              <a:path w="11506093" h="788793">
                <a:moveTo>
                  <a:pt x="68593" y="0"/>
                </a:moveTo>
                <a:lnTo>
                  <a:pt x="11437499" y="0"/>
                </a:lnTo>
                <a:cubicBezTo>
                  <a:pt x="11475382" y="0"/>
                  <a:pt x="11506093" y="30710"/>
                  <a:pt x="11506093" y="68593"/>
                </a:cubicBezTo>
                <a:lnTo>
                  <a:pt x="11506093" y="720200"/>
                </a:lnTo>
                <a:cubicBezTo>
                  <a:pt x="11506093" y="758083"/>
                  <a:pt x="11475382" y="788793"/>
                  <a:pt x="11437499" y="788793"/>
                </a:cubicBezTo>
                <a:lnTo>
                  <a:pt x="68593" y="788793"/>
                </a:lnTo>
                <a:cubicBezTo>
                  <a:pt x="30710" y="788793"/>
                  <a:pt x="0" y="758083"/>
                  <a:pt x="0" y="720200"/>
                </a:cubicBezTo>
                <a:lnTo>
                  <a:pt x="0" y="68593"/>
                </a:lnTo>
                <a:cubicBezTo>
                  <a:pt x="0" y="30710"/>
                  <a:pt x="30710" y="0"/>
                  <a:pt x="685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480135" y="1371814"/>
            <a:ext cx="11334616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"Traffic Management Using Computer Vision"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0135" y="1680366"/>
            <a:ext cx="1130032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vision-based system for real-time vehicle detection and density-aware traffic control.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54" y="2126205"/>
            <a:ext cx="7622143" cy="2503561"/>
          </a:xfrm>
          <a:custGeom>
            <a:avLst/>
            <a:gdLst/>
            <a:ahLst/>
            <a:cxnLst/>
            <a:rect l="l" t="t" r="r" b="b"/>
            <a:pathLst>
              <a:path w="7622143" h="2503561">
                <a:moveTo>
                  <a:pt x="68598" y="0"/>
                </a:moveTo>
                <a:lnTo>
                  <a:pt x="7553546" y="0"/>
                </a:lnTo>
                <a:cubicBezTo>
                  <a:pt x="7591431" y="0"/>
                  <a:pt x="7622143" y="30712"/>
                  <a:pt x="7622143" y="68598"/>
                </a:cubicBezTo>
                <a:lnTo>
                  <a:pt x="7622143" y="2434964"/>
                </a:lnTo>
                <a:cubicBezTo>
                  <a:pt x="7622143" y="2472849"/>
                  <a:pt x="7591431" y="2503561"/>
                  <a:pt x="7553546" y="2503561"/>
                </a:cubicBezTo>
                <a:lnTo>
                  <a:pt x="68598" y="2503561"/>
                </a:lnTo>
                <a:cubicBezTo>
                  <a:pt x="30712" y="2503561"/>
                  <a:pt x="0" y="2472849"/>
                  <a:pt x="0" y="2434964"/>
                </a:cubicBezTo>
                <a:lnTo>
                  <a:pt x="0" y="68598"/>
                </a:lnTo>
                <a:cubicBezTo>
                  <a:pt x="0" y="30738"/>
                  <a:pt x="30738" y="0"/>
                  <a:pt x="68598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501570" y="2297684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58945" y="0"/>
                </a:moveTo>
                <a:cubicBezTo>
                  <a:pt x="50070" y="0"/>
                  <a:pt x="42869" y="7201"/>
                  <a:pt x="42869" y="16076"/>
                </a:cubicBezTo>
                <a:lnTo>
                  <a:pt x="42869" y="85738"/>
                </a:lnTo>
                <a:cubicBezTo>
                  <a:pt x="42869" y="94614"/>
                  <a:pt x="50070" y="101814"/>
                  <a:pt x="58945" y="101814"/>
                </a:cubicBezTo>
                <a:lnTo>
                  <a:pt x="80380" y="101814"/>
                </a:lnTo>
                <a:cubicBezTo>
                  <a:pt x="89255" y="101814"/>
                  <a:pt x="96456" y="94614"/>
                  <a:pt x="96456" y="85738"/>
                </a:cubicBezTo>
                <a:lnTo>
                  <a:pt x="96456" y="64304"/>
                </a:lnTo>
                <a:lnTo>
                  <a:pt x="107173" y="64304"/>
                </a:lnTo>
                <a:cubicBezTo>
                  <a:pt x="130852" y="64304"/>
                  <a:pt x="150042" y="83494"/>
                  <a:pt x="150042" y="107173"/>
                </a:cubicBezTo>
                <a:cubicBezTo>
                  <a:pt x="150042" y="130852"/>
                  <a:pt x="130852" y="150042"/>
                  <a:pt x="107173" y="150042"/>
                </a:cubicBezTo>
                <a:lnTo>
                  <a:pt x="10717" y="150042"/>
                </a:lnTo>
                <a:cubicBezTo>
                  <a:pt x="4789" y="150042"/>
                  <a:pt x="0" y="154831"/>
                  <a:pt x="0" y="160759"/>
                </a:cubicBezTo>
                <a:cubicBezTo>
                  <a:pt x="0" y="166688"/>
                  <a:pt x="4789" y="171477"/>
                  <a:pt x="10717" y="171477"/>
                </a:cubicBezTo>
                <a:lnTo>
                  <a:pt x="160759" y="171477"/>
                </a:lnTo>
                <a:cubicBezTo>
                  <a:pt x="166688" y="171477"/>
                  <a:pt x="171477" y="166688"/>
                  <a:pt x="171477" y="160759"/>
                </a:cubicBezTo>
                <a:cubicBezTo>
                  <a:pt x="171477" y="154831"/>
                  <a:pt x="166688" y="150042"/>
                  <a:pt x="160759" y="150042"/>
                </a:cubicBezTo>
                <a:lnTo>
                  <a:pt x="155099" y="150042"/>
                </a:lnTo>
                <a:cubicBezTo>
                  <a:pt x="165281" y="138655"/>
                  <a:pt x="171477" y="123651"/>
                  <a:pt x="171477" y="107173"/>
                </a:cubicBezTo>
                <a:cubicBezTo>
                  <a:pt x="171477" y="71672"/>
                  <a:pt x="142674" y="42869"/>
                  <a:pt x="107173" y="42869"/>
                </a:cubicBezTo>
                <a:lnTo>
                  <a:pt x="96456" y="42869"/>
                </a:lnTo>
                <a:lnTo>
                  <a:pt x="96456" y="16076"/>
                </a:lnTo>
                <a:cubicBezTo>
                  <a:pt x="96456" y="7201"/>
                  <a:pt x="89255" y="0"/>
                  <a:pt x="80380" y="0"/>
                </a:cubicBezTo>
                <a:lnTo>
                  <a:pt x="58945" y="0"/>
                </a:lnTo>
                <a:close/>
                <a:moveTo>
                  <a:pt x="40190" y="117890"/>
                </a:moveTo>
                <a:cubicBezTo>
                  <a:pt x="35735" y="117890"/>
                  <a:pt x="32152" y="121474"/>
                  <a:pt x="32152" y="125928"/>
                </a:cubicBezTo>
                <a:cubicBezTo>
                  <a:pt x="32152" y="130383"/>
                  <a:pt x="35735" y="133966"/>
                  <a:pt x="40190" y="133966"/>
                </a:cubicBezTo>
                <a:lnTo>
                  <a:pt x="99135" y="133966"/>
                </a:lnTo>
                <a:cubicBezTo>
                  <a:pt x="103589" y="133966"/>
                  <a:pt x="107173" y="130383"/>
                  <a:pt x="107173" y="125928"/>
                </a:cubicBezTo>
                <a:cubicBezTo>
                  <a:pt x="107173" y="121474"/>
                  <a:pt x="103589" y="117890"/>
                  <a:pt x="99135" y="117890"/>
                </a:cubicBezTo>
                <a:lnTo>
                  <a:pt x="40190" y="11789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0" name="Text 8"/>
          <p:cNvSpPr/>
          <p:nvPr/>
        </p:nvSpPr>
        <p:spPr>
          <a:xfrm>
            <a:off x="694481" y="2263387"/>
            <a:ext cx="7219173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7283" y="2606343"/>
            <a:ext cx="7330633" cy="771646"/>
          </a:xfrm>
          <a:custGeom>
            <a:avLst/>
            <a:gdLst/>
            <a:ahLst/>
            <a:cxnLst/>
            <a:rect l="l" t="t" r="r" b="b"/>
            <a:pathLst>
              <a:path w="7330633" h="771646">
                <a:moveTo>
                  <a:pt x="34295" y="0"/>
                </a:moveTo>
                <a:lnTo>
                  <a:pt x="7262041" y="0"/>
                </a:lnTo>
                <a:cubicBezTo>
                  <a:pt x="7299923" y="0"/>
                  <a:pt x="7330633" y="30709"/>
                  <a:pt x="7330633" y="68592"/>
                </a:cubicBezTo>
                <a:lnTo>
                  <a:pt x="7330633" y="703054"/>
                </a:lnTo>
                <a:cubicBezTo>
                  <a:pt x="7330633" y="740936"/>
                  <a:pt x="7299923" y="771646"/>
                  <a:pt x="7262041" y="771646"/>
                </a:cubicBezTo>
                <a:lnTo>
                  <a:pt x="34295" y="771646"/>
                </a:lnTo>
                <a:cubicBezTo>
                  <a:pt x="15355" y="771646"/>
                  <a:pt x="0" y="756291"/>
                  <a:pt x="0" y="737350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Shape 10"/>
          <p:cNvSpPr/>
          <p:nvPr/>
        </p:nvSpPr>
        <p:spPr>
          <a:xfrm>
            <a:off x="497283" y="2606343"/>
            <a:ext cx="34295" cy="771646"/>
          </a:xfrm>
          <a:custGeom>
            <a:avLst/>
            <a:gdLst/>
            <a:ahLst/>
            <a:cxnLst/>
            <a:rect l="l" t="t" r="r" b="b"/>
            <a:pathLst>
              <a:path w="34295" h="771646">
                <a:moveTo>
                  <a:pt x="34295" y="0"/>
                </a:moveTo>
                <a:lnTo>
                  <a:pt x="34295" y="0"/>
                </a:lnTo>
                <a:lnTo>
                  <a:pt x="34295" y="771646"/>
                </a:lnTo>
                <a:lnTo>
                  <a:pt x="34295" y="771646"/>
                </a:lnTo>
                <a:cubicBezTo>
                  <a:pt x="15355" y="771646"/>
                  <a:pt x="0" y="756291"/>
                  <a:pt x="0" y="737350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612" y="2743524"/>
            <a:ext cx="342954" cy="342954"/>
          </a:xfrm>
          <a:custGeom>
            <a:avLst/>
            <a:gdLst/>
            <a:ahLst/>
            <a:cxnLst/>
            <a:rect l="l" t="t" r="r" b="b"/>
            <a:pathLst>
              <a:path w="342954" h="342954">
                <a:moveTo>
                  <a:pt x="171477" y="0"/>
                </a:moveTo>
                <a:lnTo>
                  <a:pt x="171477" y="0"/>
                </a:lnTo>
                <a:cubicBezTo>
                  <a:pt x="266181" y="0"/>
                  <a:pt x="342954" y="76773"/>
                  <a:pt x="342954" y="171477"/>
                </a:cubicBezTo>
                <a:lnTo>
                  <a:pt x="342954" y="171477"/>
                </a:lnTo>
                <a:cubicBezTo>
                  <a:pt x="342954" y="266181"/>
                  <a:pt x="266181" y="342954"/>
                  <a:pt x="171477" y="342954"/>
                </a:cubicBezTo>
                <a:lnTo>
                  <a:pt x="171477" y="342954"/>
                </a:lnTo>
                <a:cubicBezTo>
                  <a:pt x="76773" y="342954"/>
                  <a:pt x="0" y="266181"/>
                  <a:pt x="0" y="171477"/>
                </a:cubicBezTo>
                <a:lnTo>
                  <a:pt x="0" y="171477"/>
                </a:lnTo>
                <a:cubicBezTo>
                  <a:pt x="0" y="76773"/>
                  <a:pt x="76773" y="0"/>
                  <a:pt x="171477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4" name="Text 12"/>
          <p:cNvSpPr/>
          <p:nvPr/>
        </p:nvSpPr>
        <p:spPr>
          <a:xfrm>
            <a:off x="795867" y="2794967"/>
            <a:ext cx="13718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1747" y="2743524"/>
            <a:ext cx="482707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Deployment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1747" y="3017887"/>
            <a:ext cx="4818498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Strategically placed cameras provide continuous visual feed of traffic conditions.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7283" y="3480874"/>
            <a:ext cx="7330633" cy="771646"/>
          </a:xfrm>
          <a:custGeom>
            <a:avLst/>
            <a:gdLst/>
            <a:ahLst/>
            <a:cxnLst/>
            <a:rect l="l" t="t" r="r" b="b"/>
            <a:pathLst>
              <a:path w="7330633" h="771646">
                <a:moveTo>
                  <a:pt x="34295" y="0"/>
                </a:moveTo>
                <a:lnTo>
                  <a:pt x="7262041" y="0"/>
                </a:lnTo>
                <a:cubicBezTo>
                  <a:pt x="7299923" y="0"/>
                  <a:pt x="7330633" y="30709"/>
                  <a:pt x="7330633" y="68592"/>
                </a:cubicBezTo>
                <a:lnTo>
                  <a:pt x="7330633" y="703054"/>
                </a:lnTo>
                <a:cubicBezTo>
                  <a:pt x="7330633" y="740936"/>
                  <a:pt x="7299923" y="771646"/>
                  <a:pt x="7262041" y="771646"/>
                </a:cubicBezTo>
                <a:lnTo>
                  <a:pt x="34295" y="771646"/>
                </a:lnTo>
                <a:cubicBezTo>
                  <a:pt x="15355" y="771646"/>
                  <a:pt x="0" y="756291"/>
                  <a:pt x="0" y="737350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Shape 16"/>
          <p:cNvSpPr/>
          <p:nvPr/>
        </p:nvSpPr>
        <p:spPr>
          <a:xfrm>
            <a:off x="497283" y="3480874"/>
            <a:ext cx="34295" cy="771646"/>
          </a:xfrm>
          <a:custGeom>
            <a:avLst/>
            <a:gdLst/>
            <a:ahLst/>
            <a:cxnLst/>
            <a:rect l="l" t="t" r="r" b="b"/>
            <a:pathLst>
              <a:path w="34295" h="771646">
                <a:moveTo>
                  <a:pt x="34295" y="0"/>
                </a:moveTo>
                <a:lnTo>
                  <a:pt x="34295" y="0"/>
                </a:lnTo>
                <a:lnTo>
                  <a:pt x="34295" y="771646"/>
                </a:lnTo>
                <a:lnTo>
                  <a:pt x="34295" y="771646"/>
                </a:lnTo>
                <a:cubicBezTo>
                  <a:pt x="15355" y="771646"/>
                  <a:pt x="0" y="756291"/>
                  <a:pt x="0" y="737350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1612" y="3618056"/>
            <a:ext cx="342954" cy="342954"/>
          </a:xfrm>
          <a:custGeom>
            <a:avLst/>
            <a:gdLst/>
            <a:ahLst/>
            <a:cxnLst/>
            <a:rect l="l" t="t" r="r" b="b"/>
            <a:pathLst>
              <a:path w="342954" h="342954">
                <a:moveTo>
                  <a:pt x="171477" y="0"/>
                </a:moveTo>
                <a:lnTo>
                  <a:pt x="171477" y="0"/>
                </a:lnTo>
                <a:cubicBezTo>
                  <a:pt x="266181" y="0"/>
                  <a:pt x="342954" y="76773"/>
                  <a:pt x="342954" y="171477"/>
                </a:cubicBezTo>
                <a:lnTo>
                  <a:pt x="342954" y="171477"/>
                </a:lnTo>
                <a:cubicBezTo>
                  <a:pt x="342954" y="266181"/>
                  <a:pt x="266181" y="342954"/>
                  <a:pt x="171477" y="342954"/>
                </a:cubicBezTo>
                <a:lnTo>
                  <a:pt x="171477" y="342954"/>
                </a:lnTo>
                <a:cubicBezTo>
                  <a:pt x="76773" y="342954"/>
                  <a:pt x="0" y="266181"/>
                  <a:pt x="0" y="171477"/>
                </a:cubicBezTo>
                <a:lnTo>
                  <a:pt x="0" y="171477"/>
                </a:lnTo>
                <a:cubicBezTo>
                  <a:pt x="0" y="76773"/>
                  <a:pt x="76773" y="0"/>
                  <a:pt x="171477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0" name="Text 18"/>
          <p:cNvSpPr/>
          <p:nvPr/>
        </p:nvSpPr>
        <p:spPr>
          <a:xfrm>
            <a:off x="779362" y="3669499"/>
            <a:ext cx="17147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1747" y="3618056"/>
            <a:ext cx="378963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 Object Detection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31747" y="3892419"/>
            <a:ext cx="3781063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deep learning model for real-time vehicle detection.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06351" y="2126205"/>
            <a:ext cx="3746768" cy="2503561"/>
          </a:xfrm>
          <a:custGeom>
            <a:avLst/>
            <a:gdLst/>
            <a:ahLst/>
            <a:cxnLst/>
            <a:rect l="l" t="t" r="r" b="b"/>
            <a:pathLst>
              <a:path w="3746768" h="2503561">
                <a:moveTo>
                  <a:pt x="68598" y="0"/>
                </a:moveTo>
                <a:lnTo>
                  <a:pt x="3678170" y="0"/>
                </a:lnTo>
                <a:cubicBezTo>
                  <a:pt x="3716056" y="0"/>
                  <a:pt x="3746768" y="30712"/>
                  <a:pt x="3746768" y="68598"/>
                </a:cubicBezTo>
                <a:lnTo>
                  <a:pt x="3746768" y="2434964"/>
                </a:lnTo>
                <a:cubicBezTo>
                  <a:pt x="3746768" y="2472849"/>
                  <a:pt x="3716056" y="2503561"/>
                  <a:pt x="3678170" y="2503561"/>
                </a:cubicBezTo>
                <a:lnTo>
                  <a:pt x="68598" y="2503561"/>
                </a:lnTo>
                <a:cubicBezTo>
                  <a:pt x="30712" y="2503561"/>
                  <a:pt x="0" y="2472849"/>
                  <a:pt x="0" y="2434964"/>
                </a:cubicBezTo>
                <a:lnTo>
                  <a:pt x="0" y="68598"/>
                </a:lnTo>
                <a:cubicBezTo>
                  <a:pt x="0" y="30738"/>
                  <a:pt x="30738" y="0"/>
                  <a:pt x="685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CB5A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8255322" y="2306258"/>
            <a:ext cx="173620" cy="154329"/>
          </a:xfrm>
          <a:custGeom>
            <a:avLst/>
            <a:gdLst/>
            <a:ahLst/>
            <a:cxnLst/>
            <a:rect l="l" t="t" r="r" b="b"/>
            <a:pathLst>
              <a:path w="173620" h="154329">
                <a:moveTo>
                  <a:pt x="86810" y="9646"/>
                </a:moveTo>
                <a:cubicBezTo>
                  <a:pt x="62455" y="9646"/>
                  <a:pt x="42953" y="20738"/>
                  <a:pt x="28756" y="33940"/>
                </a:cubicBezTo>
                <a:cubicBezTo>
                  <a:pt x="14649" y="47052"/>
                  <a:pt x="5215" y="62696"/>
                  <a:pt x="723" y="73457"/>
                </a:cubicBezTo>
                <a:cubicBezTo>
                  <a:pt x="-271" y="75838"/>
                  <a:pt x="-271" y="78491"/>
                  <a:pt x="723" y="80872"/>
                </a:cubicBezTo>
                <a:cubicBezTo>
                  <a:pt x="5215" y="91633"/>
                  <a:pt x="14649" y="107307"/>
                  <a:pt x="28756" y="120389"/>
                </a:cubicBezTo>
                <a:cubicBezTo>
                  <a:pt x="42953" y="133561"/>
                  <a:pt x="62455" y="144684"/>
                  <a:pt x="86810" y="144684"/>
                </a:cubicBezTo>
                <a:cubicBezTo>
                  <a:pt x="111165" y="144684"/>
                  <a:pt x="130667" y="133591"/>
                  <a:pt x="144864" y="120389"/>
                </a:cubicBezTo>
                <a:cubicBezTo>
                  <a:pt x="158971" y="107277"/>
                  <a:pt x="168406" y="91633"/>
                  <a:pt x="172897" y="80872"/>
                </a:cubicBezTo>
                <a:cubicBezTo>
                  <a:pt x="173892" y="78491"/>
                  <a:pt x="173892" y="75838"/>
                  <a:pt x="172897" y="73457"/>
                </a:cubicBezTo>
                <a:cubicBezTo>
                  <a:pt x="168406" y="62696"/>
                  <a:pt x="158971" y="47022"/>
                  <a:pt x="144864" y="33940"/>
                </a:cubicBezTo>
                <a:cubicBezTo>
                  <a:pt x="130667" y="20768"/>
                  <a:pt x="111165" y="9646"/>
                  <a:pt x="86810" y="9646"/>
                </a:cubicBezTo>
                <a:close/>
                <a:moveTo>
                  <a:pt x="43405" y="77165"/>
                </a:moveTo>
                <a:cubicBezTo>
                  <a:pt x="43405" y="53209"/>
                  <a:pt x="62854" y="33759"/>
                  <a:pt x="86810" y="33759"/>
                </a:cubicBezTo>
                <a:cubicBezTo>
                  <a:pt x="110766" y="33759"/>
                  <a:pt x="130215" y="53209"/>
                  <a:pt x="130215" y="77165"/>
                </a:cubicBezTo>
                <a:cubicBezTo>
                  <a:pt x="130215" y="101120"/>
                  <a:pt x="110766" y="120570"/>
                  <a:pt x="86810" y="120570"/>
                </a:cubicBezTo>
                <a:cubicBezTo>
                  <a:pt x="62854" y="120570"/>
                  <a:pt x="43405" y="101120"/>
                  <a:pt x="43405" y="77165"/>
                </a:cubicBezTo>
                <a:close/>
                <a:moveTo>
                  <a:pt x="86810" y="57873"/>
                </a:moveTo>
                <a:cubicBezTo>
                  <a:pt x="86810" y="68514"/>
                  <a:pt x="78159" y="77165"/>
                  <a:pt x="67519" y="77165"/>
                </a:cubicBezTo>
                <a:cubicBezTo>
                  <a:pt x="64053" y="77165"/>
                  <a:pt x="60797" y="76260"/>
                  <a:pt x="57964" y="74633"/>
                </a:cubicBezTo>
                <a:cubicBezTo>
                  <a:pt x="57662" y="77918"/>
                  <a:pt x="57934" y="81294"/>
                  <a:pt x="58838" y="84640"/>
                </a:cubicBezTo>
                <a:cubicBezTo>
                  <a:pt x="62967" y="100073"/>
                  <a:pt x="78853" y="109236"/>
                  <a:pt x="94285" y="105107"/>
                </a:cubicBezTo>
                <a:cubicBezTo>
                  <a:pt x="109718" y="100977"/>
                  <a:pt x="118882" y="85092"/>
                  <a:pt x="114752" y="69659"/>
                </a:cubicBezTo>
                <a:cubicBezTo>
                  <a:pt x="111075" y="55884"/>
                  <a:pt x="98023" y="47113"/>
                  <a:pt x="84278" y="48318"/>
                </a:cubicBezTo>
                <a:cubicBezTo>
                  <a:pt x="85876" y="51122"/>
                  <a:pt x="86810" y="54377"/>
                  <a:pt x="86810" y="57873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5" name="Text 23"/>
          <p:cNvSpPr/>
          <p:nvPr/>
        </p:nvSpPr>
        <p:spPr>
          <a:xfrm>
            <a:off x="8440731" y="2263387"/>
            <a:ext cx="335237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 Features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43533" y="2606343"/>
            <a:ext cx="3472405" cy="583021"/>
          </a:xfrm>
          <a:custGeom>
            <a:avLst/>
            <a:gdLst/>
            <a:ahLst/>
            <a:cxnLst/>
            <a:rect l="l" t="t" r="r" b="b"/>
            <a:pathLst>
              <a:path w="3472405" h="583021">
                <a:moveTo>
                  <a:pt x="34293" y="0"/>
                </a:moveTo>
                <a:lnTo>
                  <a:pt x="3438112" y="0"/>
                </a:lnTo>
                <a:cubicBezTo>
                  <a:pt x="3457051" y="0"/>
                  <a:pt x="3472405" y="15354"/>
                  <a:pt x="3472405" y="34293"/>
                </a:cubicBezTo>
                <a:lnTo>
                  <a:pt x="3472405" y="548728"/>
                </a:lnTo>
                <a:cubicBezTo>
                  <a:pt x="3472405" y="567667"/>
                  <a:pt x="3457051" y="583021"/>
                  <a:pt x="3438112" y="583021"/>
                </a:cubicBezTo>
                <a:lnTo>
                  <a:pt x="34293" y="583021"/>
                </a:lnTo>
                <a:cubicBezTo>
                  <a:pt x="15354" y="583021"/>
                  <a:pt x="0" y="567667"/>
                  <a:pt x="0" y="548728"/>
                </a:cubicBezTo>
                <a:lnTo>
                  <a:pt x="0" y="34293"/>
                </a:lnTo>
                <a:cubicBezTo>
                  <a:pt x="0" y="15366"/>
                  <a:pt x="15366" y="0"/>
                  <a:pt x="34293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8346419" y="2709229"/>
            <a:ext cx="333522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46419" y="2915001"/>
            <a:ext cx="332665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FPS detection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43533" y="3257954"/>
            <a:ext cx="3472405" cy="583021"/>
          </a:xfrm>
          <a:custGeom>
            <a:avLst/>
            <a:gdLst/>
            <a:ahLst/>
            <a:cxnLst/>
            <a:rect l="l" t="t" r="r" b="b"/>
            <a:pathLst>
              <a:path w="3472405" h="583021">
                <a:moveTo>
                  <a:pt x="34293" y="0"/>
                </a:moveTo>
                <a:lnTo>
                  <a:pt x="3438112" y="0"/>
                </a:lnTo>
                <a:cubicBezTo>
                  <a:pt x="3457051" y="0"/>
                  <a:pt x="3472405" y="15354"/>
                  <a:pt x="3472405" y="34293"/>
                </a:cubicBezTo>
                <a:lnTo>
                  <a:pt x="3472405" y="548728"/>
                </a:lnTo>
                <a:cubicBezTo>
                  <a:pt x="3472405" y="567667"/>
                  <a:pt x="3457051" y="583021"/>
                  <a:pt x="3438112" y="583021"/>
                </a:cubicBezTo>
                <a:lnTo>
                  <a:pt x="34293" y="583021"/>
                </a:lnTo>
                <a:cubicBezTo>
                  <a:pt x="15354" y="583021"/>
                  <a:pt x="0" y="567667"/>
                  <a:pt x="0" y="548728"/>
                </a:cubicBezTo>
                <a:lnTo>
                  <a:pt x="0" y="34293"/>
                </a:lnTo>
                <a:cubicBezTo>
                  <a:pt x="0" y="15366"/>
                  <a:pt x="15366" y="0"/>
                  <a:pt x="34293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8346419" y="3360840"/>
            <a:ext cx="333522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46419" y="3566613"/>
            <a:ext cx="332665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 detection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43533" y="3909566"/>
            <a:ext cx="3472405" cy="583021"/>
          </a:xfrm>
          <a:custGeom>
            <a:avLst/>
            <a:gdLst/>
            <a:ahLst/>
            <a:cxnLst/>
            <a:rect l="l" t="t" r="r" b="b"/>
            <a:pathLst>
              <a:path w="3472405" h="583021">
                <a:moveTo>
                  <a:pt x="34293" y="0"/>
                </a:moveTo>
                <a:lnTo>
                  <a:pt x="3438112" y="0"/>
                </a:lnTo>
                <a:cubicBezTo>
                  <a:pt x="3457051" y="0"/>
                  <a:pt x="3472405" y="15354"/>
                  <a:pt x="3472405" y="34293"/>
                </a:cubicBezTo>
                <a:lnTo>
                  <a:pt x="3472405" y="548728"/>
                </a:lnTo>
                <a:cubicBezTo>
                  <a:pt x="3472405" y="567667"/>
                  <a:pt x="3457051" y="583021"/>
                  <a:pt x="3438112" y="583021"/>
                </a:cubicBezTo>
                <a:lnTo>
                  <a:pt x="34293" y="583021"/>
                </a:lnTo>
                <a:cubicBezTo>
                  <a:pt x="15354" y="583021"/>
                  <a:pt x="0" y="567667"/>
                  <a:pt x="0" y="548728"/>
                </a:cubicBezTo>
                <a:lnTo>
                  <a:pt x="0" y="34293"/>
                </a:lnTo>
                <a:cubicBezTo>
                  <a:pt x="0" y="15366"/>
                  <a:pt x="15366" y="0"/>
                  <a:pt x="34293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8346419" y="4012452"/>
            <a:ext cx="333522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Multi-scale Detection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46419" y="4218224"/>
            <a:ext cx="332665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various sizes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0101" y="4732655"/>
            <a:ext cx="5667308" cy="1783359"/>
          </a:xfrm>
          <a:custGeom>
            <a:avLst/>
            <a:gdLst/>
            <a:ahLst/>
            <a:cxnLst/>
            <a:rect l="l" t="t" r="r" b="b"/>
            <a:pathLst>
              <a:path w="5667308" h="1783359">
                <a:moveTo>
                  <a:pt x="34295" y="0"/>
                </a:moveTo>
                <a:lnTo>
                  <a:pt x="5598720" y="0"/>
                </a:lnTo>
                <a:cubicBezTo>
                  <a:pt x="5636600" y="0"/>
                  <a:pt x="5667308" y="30708"/>
                  <a:pt x="5667308" y="68588"/>
                </a:cubicBezTo>
                <a:lnTo>
                  <a:pt x="5667308" y="1714771"/>
                </a:lnTo>
                <a:cubicBezTo>
                  <a:pt x="5667308" y="1752651"/>
                  <a:pt x="5636600" y="1783359"/>
                  <a:pt x="5598720" y="1783359"/>
                </a:cubicBezTo>
                <a:lnTo>
                  <a:pt x="34295" y="1783359"/>
                </a:lnTo>
                <a:cubicBezTo>
                  <a:pt x="15355" y="1783359"/>
                  <a:pt x="0" y="1768004"/>
                  <a:pt x="0" y="1749063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360101" y="4732655"/>
            <a:ext cx="34295" cy="1783359"/>
          </a:xfrm>
          <a:custGeom>
            <a:avLst/>
            <a:gdLst/>
            <a:ahLst/>
            <a:cxnLst/>
            <a:rect l="l" t="t" r="r" b="b"/>
            <a:pathLst>
              <a:path w="34295" h="1783359">
                <a:moveTo>
                  <a:pt x="34295" y="0"/>
                </a:moveTo>
                <a:lnTo>
                  <a:pt x="34295" y="0"/>
                </a:lnTo>
                <a:lnTo>
                  <a:pt x="34295" y="1783359"/>
                </a:lnTo>
                <a:lnTo>
                  <a:pt x="34295" y="1783359"/>
                </a:lnTo>
                <a:cubicBezTo>
                  <a:pt x="15355" y="1783359"/>
                  <a:pt x="0" y="1768004"/>
                  <a:pt x="0" y="1749063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Shape 35"/>
          <p:cNvSpPr/>
          <p:nvPr/>
        </p:nvSpPr>
        <p:spPr>
          <a:xfrm>
            <a:off x="535865" y="4912705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40331" y="10942"/>
                </a:moveTo>
                <a:cubicBezTo>
                  <a:pt x="43616" y="13233"/>
                  <a:pt x="44400" y="17754"/>
                  <a:pt x="42109" y="21009"/>
                </a:cubicBezTo>
                <a:lnTo>
                  <a:pt x="25229" y="45123"/>
                </a:lnTo>
                <a:cubicBezTo>
                  <a:pt x="23993" y="46871"/>
                  <a:pt x="22064" y="47987"/>
                  <a:pt x="19924" y="48168"/>
                </a:cubicBezTo>
                <a:cubicBezTo>
                  <a:pt x="17784" y="48348"/>
                  <a:pt x="15674" y="47625"/>
                  <a:pt x="14167" y="46118"/>
                </a:cubicBezTo>
                <a:lnTo>
                  <a:pt x="2110" y="34061"/>
                </a:lnTo>
                <a:cubicBezTo>
                  <a:pt x="-693" y="31228"/>
                  <a:pt x="-693" y="26646"/>
                  <a:pt x="2110" y="23813"/>
                </a:cubicBezTo>
                <a:cubicBezTo>
                  <a:pt x="4913" y="20979"/>
                  <a:pt x="9525" y="21009"/>
                  <a:pt x="12358" y="23813"/>
                </a:cubicBezTo>
                <a:lnTo>
                  <a:pt x="18327" y="29781"/>
                </a:lnTo>
                <a:lnTo>
                  <a:pt x="30263" y="12720"/>
                </a:lnTo>
                <a:cubicBezTo>
                  <a:pt x="32554" y="9435"/>
                  <a:pt x="37075" y="8651"/>
                  <a:pt x="40331" y="10942"/>
                </a:cubicBezTo>
                <a:close/>
                <a:moveTo>
                  <a:pt x="40331" y="59170"/>
                </a:moveTo>
                <a:cubicBezTo>
                  <a:pt x="43616" y="61460"/>
                  <a:pt x="44400" y="65982"/>
                  <a:pt x="42109" y="69237"/>
                </a:cubicBezTo>
                <a:lnTo>
                  <a:pt x="25229" y="93351"/>
                </a:lnTo>
                <a:cubicBezTo>
                  <a:pt x="23993" y="95099"/>
                  <a:pt x="22064" y="96215"/>
                  <a:pt x="19924" y="96395"/>
                </a:cubicBezTo>
                <a:cubicBezTo>
                  <a:pt x="17784" y="96576"/>
                  <a:pt x="15674" y="95853"/>
                  <a:pt x="14167" y="94346"/>
                </a:cubicBezTo>
                <a:lnTo>
                  <a:pt x="2110" y="82289"/>
                </a:lnTo>
                <a:cubicBezTo>
                  <a:pt x="-723" y="79455"/>
                  <a:pt x="-723" y="74874"/>
                  <a:pt x="2110" y="72070"/>
                </a:cubicBezTo>
                <a:cubicBezTo>
                  <a:pt x="4943" y="69267"/>
                  <a:pt x="9525" y="69237"/>
                  <a:pt x="12328" y="72070"/>
                </a:cubicBezTo>
                <a:lnTo>
                  <a:pt x="18296" y="78039"/>
                </a:lnTo>
                <a:lnTo>
                  <a:pt x="30233" y="60978"/>
                </a:lnTo>
                <a:cubicBezTo>
                  <a:pt x="32524" y="57693"/>
                  <a:pt x="37045" y="56909"/>
                  <a:pt x="40300" y="59200"/>
                </a:cubicBezTo>
                <a:close/>
                <a:moveTo>
                  <a:pt x="67519" y="28937"/>
                </a:moveTo>
                <a:cubicBezTo>
                  <a:pt x="67519" y="23602"/>
                  <a:pt x="71829" y="19291"/>
                  <a:pt x="77165" y="19291"/>
                </a:cubicBezTo>
                <a:lnTo>
                  <a:pt x="144684" y="19291"/>
                </a:lnTo>
                <a:cubicBezTo>
                  <a:pt x="150019" y="19291"/>
                  <a:pt x="154329" y="23602"/>
                  <a:pt x="154329" y="28937"/>
                </a:cubicBezTo>
                <a:cubicBezTo>
                  <a:pt x="154329" y="34272"/>
                  <a:pt x="150019" y="38582"/>
                  <a:pt x="144684" y="38582"/>
                </a:cubicBezTo>
                <a:lnTo>
                  <a:pt x="77165" y="38582"/>
                </a:lnTo>
                <a:cubicBezTo>
                  <a:pt x="71829" y="38582"/>
                  <a:pt x="67519" y="34272"/>
                  <a:pt x="67519" y="28937"/>
                </a:cubicBezTo>
                <a:close/>
                <a:moveTo>
                  <a:pt x="67519" y="77165"/>
                </a:moveTo>
                <a:cubicBezTo>
                  <a:pt x="67519" y="71829"/>
                  <a:pt x="71829" y="67519"/>
                  <a:pt x="77165" y="67519"/>
                </a:cubicBezTo>
                <a:lnTo>
                  <a:pt x="144684" y="67519"/>
                </a:lnTo>
                <a:cubicBezTo>
                  <a:pt x="150019" y="67519"/>
                  <a:pt x="154329" y="71829"/>
                  <a:pt x="154329" y="77165"/>
                </a:cubicBezTo>
                <a:cubicBezTo>
                  <a:pt x="154329" y="82500"/>
                  <a:pt x="150019" y="86810"/>
                  <a:pt x="144684" y="86810"/>
                </a:cubicBezTo>
                <a:lnTo>
                  <a:pt x="77165" y="86810"/>
                </a:lnTo>
                <a:cubicBezTo>
                  <a:pt x="71829" y="86810"/>
                  <a:pt x="67519" y="82500"/>
                  <a:pt x="67519" y="77165"/>
                </a:cubicBezTo>
                <a:close/>
                <a:moveTo>
                  <a:pt x="48228" y="125392"/>
                </a:moveTo>
                <a:cubicBezTo>
                  <a:pt x="48228" y="120057"/>
                  <a:pt x="52538" y="115747"/>
                  <a:pt x="57873" y="115747"/>
                </a:cubicBezTo>
                <a:lnTo>
                  <a:pt x="144684" y="115747"/>
                </a:lnTo>
                <a:cubicBezTo>
                  <a:pt x="150019" y="115747"/>
                  <a:pt x="154329" y="120057"/>
                  <a:pt x="154329" y="125392"/>
                </a:cubicBezTo>
                <a:cubicBezTo>
                  <a:pt x="154329" y="130728"/>
                  <a:pt x="150019" y="135038"/>
                  <a:pt x="144684" y="135038"/>
                </a:cubicBezTo>
                <a:lnTo>
                  <a:pt x="57873" y="135038"/>
                </a:lnTo>
                <a:cubicBezTo>
                  <a:pt x="52538" y="135038"/>
                  <a:pt x="48228" y="130728"/>
                  <a:pt x="48228" y="125392"/>
                </a:cubicBezTo>
                <a:close/>
                <a:moveTo>
                  <a:pt x="19291" y="113335"/>
                </a:moveTo>
                <a:cubicBezTo>
                  <a:pt x="25946" y="113335"/>
                  <a:pt x="31348" y="118738"/>
                  <a:pt x="31348" y="125392"/>
                </a:cubicBezTo>
                <a:cubicBezTo>
                  <a:pt x="31348" y="132047"/>
                  <a:pt x="25946" y="137449"/>
                  <a:pt x="19291" y="137449"/>
                </a:cubicBezTo>
                <a:cubicBezTo>
                  <a:pt x="12637" y="137449"/>
                  <a:pt x="7234" y="132047"/>
                  <a:pt x="7234" y="125392"/>
                </a:cubicBezTo>
                <a:cubicBezTo>
                  <a:pt x="7234" y="118738"/>
                  <a:pt x="12637" y="113335"/>
                  <a:pt x="19291" y="11333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711629" y="4869836"/>
            <a:ext cx="5255764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Workflow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14430" y="5178494"/>
            <a:ext cx="5375797" cy="274363"/>
          </a:xfrm>
          <a:custGeom>
            <a:avLst/>
            <a:gdLst/>
            <a:ahLst/>
            <a:cxnLst/>
            <a:rect l="l" t="t" r="r" b="b"/>
            <a:pathLst>
              <a:path w="5375797" h="274363">
                <a:moveTo>
                  <a:pt x="34295" y="0"/>
                </a:moveTo>
                <a:lnTo>
                  <a:pt x="5341502" y="0"/>
                </a:lnTo>
                <a:cubicBezTo>
                  <a:pt x="5360443" y="0"/>
                  <a:pt x="5375797" y="15355"/>
                  <a:pt x="5375797" y="34295"/>
                </a:cubicBezTo>
                <a:lnTo>
                  <a:pt x="5375797" y="240068"/>
                </a:lnTo>
                <a:cubicBezTo>
                  <a:pt x="5375797" y="259008"/>
                  <a:pt x="5360443" y="274363"/>
                  <a:pt x="5341502" y="274363"/>
                </a:cubicBezTo>
                <a:lnTo>
                  <a:pt x="34295" y="274363"/>
                </a:lnTo>
                <a:cubicBezTo>
                  <a:pt x="15367" y="274363"/>
                  <a:pt x="0" y="258996"/>
                  <a:pt x="0" y="2400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40" name="Shape 38"/>
          <p:cNvSpPr/>
          <p:nvPr/>
        </p:nvSpPr>
        <p:spPr>
          <a:xfrm>
            <a:off x="625890" y="5247085"/>
            <a:ext cx="154329" cy="137181"/>
          </a:xfrm>
          <a:custGeom>
            <a:avLst/>
            <a:gdLst/>
            <a:ahLst/>
            <a:cxnLst/>
            <a:rect l="l" t="t" r="r" b="b"/>
            <a:pathLst>
              <a:path w="154329" h="137181">
                <a:moveTo>
                  <a:pt x="25722" y="17148"/>
                </a:moveTo>
                <a:cubicBezTo>
                  <a:pt x="16264" y="17148"/>
                  <a:pt x="8574" y="24837"/>
                  <a:pt x="8574" y="34295"/>
                </a:cubicBezTo>
                <a:lnTo>
                  <a:pt x="8574" y="102886"/>
                </a:lnTo>
                <a:cubicBezTo>
                  <a:pt x="8574" y="112344"/>
                  <a:pt x="16264" y="120034"/>
                  <a:pt x="25722" y="120034"/>
                </a:cubicBezTo>
                <a:lnTo>
                  <a:pt x="94312" y="120034"/>
                </a:lnTo>
                <a:cubicBezTo>
                  <a:pt x="103770" y="120034"/>
                  <a:pt x="111460" y="112344"/>
                  <a:pt x="111460" y="102886"/>
                </a:cubicBezTo>
                <a:lnTo>
                  <a:pt x="111460" y="34295"/>
                </a:lnTo>
                <a:cubicBezTo>
                  <a:pt x="111460" y="24837"/>
                  <a:pt x="103770" y="17148"/>
                  <a:pt x="94312" y="17148"/>
                </a:cubicBezTo>
                <a:lnTo>
                  <a:pt x="25722" y="17148"/>
                </a:lnTo>
                <a:close/>
                <a:moveTo>
                  <a:pt x="124321" y="90025"/>
                </a:moveTo>
                <a:lnTo>
                  <a:pt x="144014" y="105780"/>
                </a:lnTo>
                <a:cubicBezTo>
                  <a:pt x="145139" y="106691"/>
                  <a:pt x="146532" y="107173"/>
                  <a:pt x="147979" y="107173"/>
                </a:cubicBezTo>
                <a:cubicBezTo>
                  <a:pt x="151489" y="107173"/>
                  <a:pt x="154329" y="104333"/>
                  <a:pt x="154329" y="100823"/>
                </a:cubicBezTo>
                <a:lnTo>
                  <a:pt x="154329" y="36358"/>
                </a:lnTo>
                <a:cubicBezTo>
                  <a:pt x="154329" y="32849"/>
                  <a:pt x="151489" y="30008"/>
                  <a:pt x="147979" y="30008"/>
                </a:cubicBezTo>
                <a:cubicBezTo>
                  <a:pt x="146532" y="30008"/>
                  <a:pt x="145139" y="30491"/>
                  <a:pt x="144014" y="31402"/>
                </a:cubicBezTo>
                <a:lnTo>
                  <a:pt x="124321" y="47156"/>
                </a:lnTo>
                <a:lnTo>
                  <a:pt x="124321" y="90025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1" name="Text 39"/>
          <p:cNvSpPr/>
          <p:nvPr/>
        </p:nvSpPr>
        <p:spPr>
          <a:xfrm>
            <a:off x="891679" y="5212790"/>
            <a:ext cx="144040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live video feed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4430" y="5487153"/>
            <a:ext cx="5375797" cy="274363"/>
          </a:xfrm>
          <a:custGeom>
            <a:avLst/>
            <a:gdLst/>
            <a:ahLst/>
            <a:cxnLst/>
            <a:rect l="l" t="t" r="r" b="b"/>
            <a:pathLst>
              <a:path w="5375797" h="274363">
                <a:moveTo>
                  <a:pt x="34295" y="0"/>
                </a:moveTo>
                <a:lnTo>
                  <a:pt x="5341502" y="0"/>
                </a:lnTo>
                <a:cubicBezTo>
                  <a:pt x="5360443" y="0"/>
                  <a:pt x="5375797" y="15355"/>
                  <a:pt x="5375797" y="34295"/>
                </a:cubicBezTo>
                <a:lnTo>
                  <a:pt x="5375797" y="240068"/>
                </a:lnTo>
                <a:cubicBezTo>
                  <a:pt x="5375797" y="259008"/>
                  <a:pt x="5360443" y="274363"/>
                  <a:pt x="5341502" y="274363"/>
                </a:cubicBezTo>
                <a:lnTo>
                  <a:pt x="34295" y="274363"/>
                </a:lnTo>
                <a:cubicBezTo>
                  <a:pt x="15367" y="274363"/>
                  <a:pt x="0" y="258996"/>
                  <a:pt x="0" y="2400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43" name="Shape 41"/>
          <p:cNvSpPr/>
          <p:nvPr/>
        </p:nvSpPr>
        <p:spPr>
          <a:xfrm>
            <a:off x="634464" y="555574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32152" y="15004"/>
                </a:moveTo>
                <a:cubicBezTo>
                  <a:pt x="32152" y="6725"/>
                  <a:pt x="38877" y="0"/>
                  <a:pt x="47156" y="0"/>
                </a:cubicBezTo>
                <a:lnTo>
                  <a:pt x="53586" y="0"/>
                </a:lnTo>
                <a:cubicBezTo>
                  <a:pt x="58329" y="0"/>
                  <a:pt x="62160" y="3831"/>
                  <a:pt x="62160" y="8574"/>
                </a:cubicBezTo>
                <a:lnTo>
                  <a:pt x="62160" y="128608"/>
                </a:lnTo>
                <a:cubicBezTo>
                  <a:pt x="62160" y="133350"/>
                  <a:pt x="58329" y="137181"/>
                  <a:pt x="53586" y="137181"/>
                </a:cubicBezTo>
                <a:lnTo>
                  <a:pt x="45013" y="137181"/>
                </a:lnTo>
                <a:cubicBezTo>
                  <a:pt x="37028" y="137181"/>
                  <a:pt x="30303" y="131716"/>
                  <a:pt x="28401" y="124321"/>
                </a:cubicBezTo>
                <a:cubicBezTo>
                  <a:pt x="28213" y="124321"/>
                  <a:pt x="28053" y="124321"/>
                  <a:pt x="27865" y="124321"/>
                </a:cubicBezTo>
                <a:cubicBezTo>
                  <a:pt x="16022" y="124321"/>
                  <a:pt x="6430" y="114729"/>
                  <a:pt x="6430" y="102886"/>
                </a:cubicBezTo>
                <a:cubicBezTo>
                  <a:pt x="6430" y="98063"/>
                  <a:pt x="8038" y="93616"/>
                  <a:pt x="10717" y="90025"/>
                </a:cubicBezTo>
                <a:cubicBezTo>
                  <a:pt x="5519" y="86114"/>
                  <a:pt x="2143" y="79897"/>
                  <a:pt x="2143" y="72878"/>
                </a:cubicBezTo>
                <a:cubicBezTo>
                  <a:pt x="2143" y="64599"/>
                  <a:pt x="6859" y="57391"/>
                  <a:pt x="13718" y="53828"/>
                </a:cubicBezTo>
                <a:cubicBezTo>
                  <a:pt x="11816" y="50612"/>
                  <a:pt x="10717" y="46861"/>
                  <a:pt x="10717" y="42869"/>
                </a:cubicBezTo>
                <a:cubicBezTo>
                  <a:pt x="10717" y="31027"/>
                  <a:pt x="20309" y="21435"/>
                  <a:pt x="32152" y="21435"/>
                </a:cubicBezTo>
                <a:lnTo>
                  <a:pt x="32152" y="15004"/>
                </a:lnTo>
                <a:close/>
                <a:moveTo>
                  <a:pt x="105030" y="15004"/>
                </a:moveTo>
                <a:lnTo>
                  <a:pt x="105030" y="21435"/>
                </a:lnTo>
                <a:cubicBezTo>
                  <a:pt x="116872" y="21435"/>
                  <a:pt x="126464" y="31027"/>
                  <a:pt x="126464" y="42869"/>
                </a:cubicBezTo>
                <a:cubicBezTo>
                  <a:pt x="126464" y="46888"/>
                  <a:pt x="125366" y="50639"/>
                  <a:pt x="123463" y="53828"/>
                </a:cubicBezTo>
                <a:cubicBezTo>
                  <a:pt x="130349" y="57391"/>
                  <a:pt x="135038" y="64572"/>
                  <a:pt x="135038" y="72878"/>
                </a:cubicBezTo>
                <a:cubicBezTo>
                  <a:pt x="135038" y="79897"/>
                  <a:pt x="131662" y="86114"/>
                  <a:pt x="126464" y="90025"/>
                </a:cubicBezTo>
                <a:cubicBezTo>
                  <a:pt x="129143" y="93616"/>
                  <a:pt x="130751" y="98063"/>
                  <a:pt x="130751" y="102886"/>
                </a:cubicBezTo>
                <a:cubicBezTo>
                  <a:pt x="130751" y="114729"/>
                  <a:pt x="121159" y="124321"/>
                  <a:pt x="109316" y="124321"/>
                </a:cubicBezTo>
                <a:cubicBezTo>
                  <a:pt x="109129" y="124321"/>
                  <a:pt x="108968" y="124321"/>
                  <a:pt x="108781" y="124321"/>
                </a:cubicBezTo>
                <a:cubicBezTo>
                  <a:pt x="106878" y="131716"/>
                  <a:pt x="100153" y="137181"/>
                  <a:pt x="92169" y="137181"/>
                </a:cubicBezTo>
                <a:lnTo>
                  <a:pt x="83595" y="137181"/>
                </a:lnTo>
                <a:cubicBezTo>
                  <a:pt x="78853" y="137181"/>
                  <a:pt x="75021" y="133350"/>
                  <a:pt x="75021" y="128608"/>
                </a:cubicBezTo>
                <a:lnTo>
                  <a:pt x="75021" y="8574"/>
                </a:lnTo>
                <a:cubicBezTo>
                  <a:pt x="75021" y="3831"/>
                  <a:pt x="78853" y="0"/>
                  <a:pt x="83595" y="0"/>
                </a:cubicBezTo>
                <a:lnTo>
                  <a:pt x="90025" y="0"/>
                </a:lnTo>
                <a:cubicBezTo>
                  <a:pt x="98304" y="0"/>
                  <a:pt x="105030" y="6725"/>
                  <a:pt x="105030" y="15004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4" name="Text 42"/>
          <p:cNvSpPr/>
          <p:nvPr/>
        </p:nvSpPr>
        <p:spPr>
          <a:xfrm>
            <a:off x="891679" y="5521448"/>
            <a:ext cx="139753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YOLO detection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14430" y="5795811"/>
            <a:ext cx="5375797" cy="274363"/>
          </a:xfrm>
          <a:custGeom>
            <a:avLst/>
            <a:gdLst/>
            <a:ahLst/>
            <a:cxnLst/>
            <a:rect l="l" t="t" r="r" b="b"/>
            <a:pathLst>
              <a:path w="5375797" h="274363">
                <a:moveTo>
                  <a:pt x="34295" y="0"/>
                </a:moveTo>
                <a:lnTo>
                  <a:pt x="5341502" y="0"/>
                </a:lnTo>
                <a:cubicBezTo>
                  <a:pt x="5360443" y="0"/>
                  <a:pt x="5375797" y="15355"/>
                  <a:pt x="5375797" y="34295"/>
                </a:cubicBezTo>
                <a:lnTo>
                  <a:pt x="5375797" y="240068"/>
                </a:lnTo>
                <a:cubicBezTo>
                  <a:pt x="5375797" y="259008"/>
                  <a:pt x="5360443" y="274363"/>
                  <a:pt x="5341502" y="274363"/>
                </a:cubicBezTo>
                <a:lnTo>
                  <a:pt x="34295" y="274363"/>
                </a:lnTo>
                <a:cubicBezTo>
                  <a:pt x="15367" y="274363"/>
                  <a:pt x="0" y="258996"/>
                  <a:pt x="0" y="2400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46" name="Shape 44"/>
          <p:cNvSpPr/>
          <p:nvPr/>
        </p:nvSpPr>
        <p:spPr>
          <a:xfrm>
            <a:off x="634464" y="5864402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40351" y="11092"/>
                </a:moveTo>
                <a:cubicBezTo>
                  <a:pt x="37001" y="7743"/>
                  <a:pt x="31562" y="7743"/>
                  <a:pt x="28213" y="11092"/>
                </a:cubicBezTo>
                <a:lnTo>
                  <a:pt x="2492" y="36814"/>
                </a:lnTo>
                <a:cubicBezTo>
                  <a:pt x="-857" y="40163"/>
                  <a:pt x="-857" y="45602"/>
                  <a:pt x="2492" y="48951"/>
                </a:cubicBezTo>
                <a:cubicBezTo>
                  <a:pt x="5841" y="52300"/>
                  <a:pt x="11280" y="52300"/>
                  <a:pt x="14629" y="48951"/>
                </a:cubicBezTo>
                <a:lnTo>
                  <a:pt x="25722" y="37859"/>
                </a:lnTo>
                <a:lnTo>
                  <a:pt x="25722" y="120034"/>
                </a:lnTo>
                <a:cubicBezTo>
                  <a:pt x="25722" y="124776"/>
                  <a:pt x="29553" y="128608"/>
                  <a:pt x="34295" y="128608"/>
                </a:cubicBezTo>
                <a:cubicBezTo>
                  <a:pt x="39038" y="128608"/>
                  <a:pt x="42869" y="124776"/>
                  <a:pt x="42869" y="120034"/>
                </a:cubicBezTo>
                <a:lnTo>
                  <a:pt x="42869" y="37859"/>
                </a:lnTo>
                <a:lnTo>
                  <a:pt x="53962" y="48951"/>
                </a:lnTo>
                <a:cubicBezTo>
                  <a:pt x="57311" y="52300"/>
                  <a:pt x="62750" y="52300"/>
                  <a:pt x="66099" y="48951"/>
                </a:cubicBezTo>
                <a:cubicBezTo>
                  <a:pt x="69448" y="45602"/>
                  <a:pt x="69448" y="40163"/>
                  <a:pt x="66099" y="36814"/>
                </a:cubicBezTo>
                <a:lnTo>
                  <a:pt x="40377" y="11092"/>
                </a:lnTo>
                <a:close/>
                <a:moveTo>
                  <a:pt x="112183" y="10181"/>
                </a:moveTo>
                <a:cubicBezTo>
                  <a:pt x="109959" y="8574"/>
                  <a:pt x="107066" y="8118"/>
                  <a:pt x="104467" y="9003"/>
                </a:cubicBezTo>
                <a:lnTo>
                  <a:pt x="91606" y="13289"/>
                </a:lnTo>
                <a:cubicBezTo>
                  <a:pt x="87105" y="14790"/>
                  <a:pt x="84693" y="19639"/>
                  <a:pt x="86194" y="24141"/>
                </a:cubicBezTo>
                <a:cubicBezTo>
                  <a:pt x="87694" y="28642"/>
                  <a:pt x="92544" y="31053"/>
                  <a:pt x="97045" y="29553"/>
                </a:cubicBezTo>
                <a:lnTo>
                  <a:pt x="98626" y="29017"/>
                </a:lnTo>
                <a:lnTo>
                  <a:pt x="98626" y="42842"/>
                </a:lnTo>
                <a:lnTo>
                  <a:pt x="94339" y="42842"/>
                </a:lnTo>
                <a:cubicBezTo>
                  <a:pt x="89597" y="42842"/>
                  <a:pt x="85765" y="46674"/>
                  <a:pt x="85765" y="51416"/>
                </a:cubicBezTo>
                <a:cubicBezTo>
                  <a:pt x="85765" y="56159"/>
                  <a:pt x="89597" y="59990"/>
                  <a:pt x="94339" y="59990"/>
                </a:cubicBezTo>
                <a:lnTo>
                  <a:pt x="120061" y="59990"/>
                </a:lnTo>
                <a:cubicBezTo>
                  <a:pt x="124803" y="59990"/>
                  <a:pt x="128634" y="56159"/>
                  <a:pt x="128634" y="51416"/>
                </a:cubicBezTo>
                <a:cubicBezTo>
                  <a:pt x="128634" y="46674"/>
                  <a:pt x="124803" y="42842"/>
                  <a:pt x="120061" y="42842"/>
                </a:cubicBezTo>
                <a:lnTo>
                  <a:pt x="115774" y="42842"/>
                </a:lnTo>
                <a:lnTo>
                  <a:pt x="115774" y="17121"/>
                </a:lnTo>
                <a:cubicBezTo>
                  <a:pt x="115774" y="14361"/>
                  <a:pt x="114461" y="11789"/>
                  <a:pt x="112210" y="10155"/>
                </a:cubicBezTo>
                <a:close/>
                <a:moveTo>
                  <a:pt x="97822" y="115372"/>
                </a:moveTo>
                <a:cubicBezTo>
                  <a:pt x="95250" y="119337"/>
                  <a:pt x="96375" y="124642"/>
                  <a:pt x="100341" y="127241"/>
                </a:cubicBezTo>
                <a:cubicBezTo>
                  <a:pt x="104306" y="129840"/>
                  <a:pt x="109611" y="128688"/>
                  <a:pt x="112210" y="124723"/>
                </a:cubicBezTo>
                <a:lnTo>
                  <a:pt x="123490" y="107334"/>
                </a:lnTo>
                <a:cubicBezTo>
                  <a:pt x="126812" y="102189"/>
                  <a:pt x="128608" y="96188"/>
                  <a:pt x="128608" y="90052"/>
                </a:cubicBezTo>
                <a:cubicBezTo>
                  <a:pt x="128608" y="78209"/>
                  <a:pt x="119016" y="68618"/>
                  <a:pt x="107173" y="68618"/>
                </a:cubicBezTo>
                <a:cubicBezTo>
                  <a:pt x="95330" y="68618"/>
                  <a:pt x="85738" y="78209"/>
                  <a:pt x="85738" y="90052"/>
                </a:cubicBezTo>
                <a:cubicBezTo>
                  <a:pt x="85738" y="99724"/>
                  <a:pt x="92142" y="107923"/>
                  <a:pt x="100957" y="110576"/>
                </a:cubicBezTo>
                <a:lnTo>
                  <a:pt x="97822" y="115399"/>
                </a:lnTo>
                <a:close/>
                <a:moveTo>
                  <a:pt x="100743" y="90025"/>
                </a:moveTo>
                <a:cubicBezTo>
                  <a:pt x="100743" y="86476"/>
                  <a:pt x="103624" y="83595"/>
                  <a:pt x="107173" y="83595"/>
                </a:cubicBezTo>
                <a:cubicBezTo>
                  <a:pt x="110722" y="83595"/>
                  <a:pt x="113603" y="86476"/>
                  <a:pt x="113603" y="90025"/>
                </a:cubicBezTo>
                <a:cubicBezTo>
                  <a:pt x="113603" y="93574"/>
                  <a:pt x="110722" y="96456"/>
                  <a:pt x="107173" y="96456"/>
                </a:cubicBezTo>
                <a:cubicBezTo>
                  <a:pt x="103624" y="96456"/>
                  <a:pt x="100743" y="93574"/>
                  <a:pt x="100743" y="90025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7" name="Text 45"/>
          <p:cNvSpPr/>
          <p:nvPr/>
        </p:nvSpPr>
        <p:spPr>
          <a:xfrm>
            <a:off x="891679" y="5830106"/>
            <a:ext cx="133751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 vehicles in ROI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14430" y="6104469"/>
            <a:ext cx="5375797" cy="274363"/>
          </a:xfrm>
          <a:custGeom>
            <a:avLst/>
            <a:gdLst/>
            <a:ahLst/>
            <a:cxnLst/>
            <a:rect l="l" t="t" r="r" b="b"/>
            <a:pathLst>
              <a:path w="5375797" h="274363">
                <a:moveTo>
                  <a:pt x="34295" y="0"/>
                </a:moveTo>
                <a:lnTo>
                  <a:pt x="5341502" y="0"/>
                </a:lnTo>
                <a:cubicBezTo>
                  <a:pt x="5360443" y="0"/>
                  <a:pt x="5375797" y="15355"/>
                  <a:pt x="5375797" y="34295"/>
                </a:cubicBezTo>
                <a:lnTo>
                  <a:pt x="5375797" y="240068"/>
                </a:lnTo>
                <a:cubicBezTo>
                  <a:pt x="5375797" y="259008"/>
                  <a:pt x="5360443" y="274363"/>
                  <a:pt x="5341502" y="274363"/>
                </a:cubicBezTo>
                <a:lnTo>
                  <a:pt x="34295" y="274363"/>
                </a:lnTo>
                <a:cubicBezTo>
                  <a:pt x="15367" y="274363"/>
                  <a:pt x="0" y="258996"/>
                  <a:pt x="0" y="2400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49" name="Shape 47"/>
          <p:cNvSpPr/>
          <p:nvPr/>
        </p:nvSpPr>
        <p:spPr>
          <a:xfrm>
            <a:off x="660186" y="6173060"/>
            <a:ext cx="85738" cy="137181"/>
          </a:xfrm>
          <a:custGeom>
            <a:avLst/>
            <a:gdLst/>
            <a:ahLst/>
            <a:cxnLst/>
            <a:rect l="l" t="t" r="r" b="b"/>
            <a:pathLst>
              <a:path w="85738" h="137181">
                <a:moveTo>
                  <a:pt x="17148" y="-8574"/>
                </a:moveTo>
                <a:cubicBezTo>
                  <a:pt x="7690" y="-8574"/>
                  <a:pt x="0" y="-884"/>
                  <a:pt x="0" y="8574"/>
                </a:cubicBezTo>
                <a:lnTo>
                  <a:pt x="0" y="102886"/>
                </a:lnTo>
                <a:cubicBezTo>
                  <a:pt x="0" y="126571"/>
                  <a:pt x="19184" y="145755"/>
                  <a:pt x="42869" y="145755"/>
                </a:cubicBezTo>
                <a:cubicBezTo>
                  <a:pt x="66554" y="145755"/>
                  <a:pt x="85738" y="126571"/>
                  <a:pt x="85738" y="102886"/>
                </a:cubicBezTo>
                <a:lnTo>
                  <a:pt x="85738" y="8574"/>
                </a:lnTo>
                <a:cubicBezTo>
                  <a:pt x="85738" y="-884"/>
                  <a:pt x="78049" y="-8574"/>
                  <a:pt x="68591" y="-8574"/>
                </a:cubicBezTo>
                <a:lnTo>
                  <a:pt x="17148" y="-8574"/>
                </a:lnTo>
                <a:close/>
                <a:moveTo>
                  <a:pt x="42869" y="96456"/>
                </a:moveTo>
                <a:cubicBezTo>
                  <a:pt x="51148" y="96456"/>
                  <a:pt x="57873" y="103181"/>
                  <a:pt x="57873" y="111460"/>
                </a:cubicBezTo>
                <a:cubicBezTo>
                  <a:pt x="57873" y="119739"/>
                  <a:pt x="51148" y="126464"/>
                  <a:pt x="42869" y="126464"/>
                </a:cubicBezTo>
                <a:cubicBezTo>
                  <a:pt x="34590" y="126464"/>
                  <a:pt x="27865" y="119739"/>
                  <a:pt x="27865" y="111460"/>
                </a:cubicBezTo>
                <a:cubicBezTo>
                  <a:pt x="27865" y="103181"/>
                  <a:pt x="34590" y="96456"/>
                  <a:pt x="42869" y="96456"/>
                </a:cubicBezTo>
                <a:close/>
                <a:moveTo>
                  <a:pt x="57873" y="68591"/>
                </a:moveTo>
                <a:cubicBezTo>
                  <a:pt x="57873" y="76872"/>
                  <a:pt x="51150" y="83595"/>
                  <a:pt x="42869" y="83595"/>
                </a:cubicBezTo>
                <a:cubicBezTo>
                  <a:pt x="34588" y="83595"/>
                  <a:pt x="27865" y="76872"/>
                  <a:pt x="27865" y="68591"/>
                </a:cubicBezTo>
                <a:cubicBezTo>
                  <a:pt x="27865" y="60310"/>
                  <a:pt x="34588" y="53586"/>
                  <a:pt x="42869" y="53586"/>
                </a:cubicBezTo>
                <a:cubicBezTo>
                  <a:pt x="51150" y="53586"/>
                  <a:pt x="57873" y="60310"/>
                  <a:pt x="57873" y="68591"/>
                </a:cubicBezTo>
                <a:close/>
                <a:moveTo>
                  <a:pt x="42869" y="40726"/>
                </a:moveTo>
                <a:cubicBezTo>
                  <a:pt x="34588" y="40726"/>
                  <a:pt x="27865" y="34003"/>
                  <a:pt x="27865" y="25722"/>
                </a:cubicBezTo>
                <a:cubicBezTo>
                  <a:pt x="27865" y="17440"/>
                  <a:pt x="34588" y="10717"/>
                  <a:pt x="42869" y="10717"/>
                </a:cubicBezTo>
                <a:cubicBezTo>
                  <a:pt x="51150" y="10717"/>
                  <a:pt x="57873" y="17440"/>
                  <a:pt x="57873" y="25722"/>
                </a:cubicBezTo>
                <a:cubicBezTo>
                  <a:pt x="57873" y="34003"/>
                  <a:pt x="51150" y="40726"/>
                  <a:pt x="42869" y="4072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0" name="Text 48"/>
          <p:cNvSpPr/>
          <p:nvPr/>
        </p:nvSpPr>
        <p:spPr>
          <a:xfrm>
            <a:off x="891679" y="6138765"/>
            <a:ext cx="121748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 signal timing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82596" y="4732655"/>
            <a:ext cx="5667308" cy="1783359"/>
          </a:xfrm>
          <a:custGeom>
            <a:avLst/>
            <a:gdLst/>
            <a:ahLst/>
            <a:cxnLst/>
            <a:rect l="l" t="t" r="r" b="b"/>
            <a:pathLst>
              <a:path w="5667308" h="1783359">
                <a:moveTo>
                  <a:pt x="34295" y="0"/>
                </a:moveTo>
                <a:lnTo>
                  <a:pt x="5598720" y="0"/>
                </a:lnTo>
                <a:cubicBezTo>
                  <a:pt x="5636600" y="0"/>
                  <a:pt x="5667308" y="30708"/>
                  <a:pt x="5667308" y="68588"/>
                </a:cubicBezTo>
                <a:lnTo>
                  <a:pt x="5667308" y="1714771"/>
                </a:lnTo>
                <a:cubicBezTo>
                  <a:pt x="5667308" y="1752651"/>
                  <a:pt x="5636600" y="1783359"/>
                  <a:pt x="5598720" y="1783359"/>
                </a:cubicBezTo>
                <a:lnTo>
                  <a:pt x="34295" y="1783359"/>
                </a:lnTo>
                <a:cubicBezTo>
                  <a:pt x="15355" y="1783359"/>
                  <a:pt x="0" y="1768004"/>
                  <a:pt x="0" y="1749063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1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2" name="Shape 50"/>
          <p:cNvSpPr/>
          <p:nvPr/>
        </p:nvSpPr>
        <p:spPr>
          <a:xfrm>
            <a:off x="6182596" y="4732655"/>
            <a:ext cx="34295" cy="1783359"/>
          </a:xfrm>
          <a:custGeom>
            <a:avLst/>
            <a:gdLst/>
            <a:ahLst/>
            <a:cxnLst/>
            <a:rect l="l" t="t" r="r" b="b"/>
            <a:pathLst>
              <a:path w="34295" h="1783359">
                <a:moveTo>
                  <a:pt x="34295" y="0"/>
                </a:moveTo>
                <a:lnTo>
                  <a:pt x="34295" y="0"/>
                </a:lnTo>
                <a:lnTo>
                  <a:pt x="34295" y="1783359"/>
                </a:lnTo>
                <a:lnTo>
                  <a:pt x="34295" y="1783359"/>
                </a:lnTo>
                <a:cubicBezTo>
                  <a:pt x="15355" y="1783359"/>
                  <a:pt x="0" y="1768004"/>
                  <a:pt x="0" y="1749063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3" name="Shape 51"/>
          <p:cNvSpPr/>
          <p:nvPr/>
        </p:nvSpPr>
        <p:spPr>
          <a:xfrm>
            <a:off x="6358360" y="5169921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77165" y="154329"/>
                </a:moveTo>
                <a:cubicBezTo>
                  <a:pt x="119753" y="154329"/>
                  <a:pt x="154329" y="119753"/>
                  <a:pt x="154329" y="77165"/>
                </a:cubicBezTo>
                <a:cubicBezTo>
                  <a:pt x="154329" y="34576"/>
                  <a:pt x="119753" y="0"/>
                  <a:pt x="77165" y="0"/>
                </a:cubicBezTo>
                <a:cubicBezTo>
                  <a:pt x="34576" y="0"/>
                  <a:pt x="0" y="34576"/>
                  <a:pt x="0" y="77165"/>
                </a:cubicBezTo>
                <a:cubicBezTo>
                  <a:pt x="0" y="119753"/>
                  <a:pt x="34576" y="154329"/>
                  <a:pt x="77165" y="154329"/>
                </a:cubicBezTo>
                <a:close/>
                <a:moveTo>
                  <a:pt x="102605" y="64113"/>
                </a:moveTo>
                <a:lnTo>
                  <a:pt x="78491" y="102695"/>
                </a:lnTo>
                <a:cubicBezTo>
                  <a:pt x="77225" y="104715"/>
                  <a:pt x="75055" y="105981"/>
                  <a:pt x="72673" y="106101"/>
                </a:cubicBezTo>
                <a:cubicBezTo>
                  <a:pt x="70292" y="106222"/>
                  <a:pt x="68001" y="105137"/>
                  <a:pt x="66585" y="103208"/>
                </a:cubicBezTo>
                <a:lnTo>
                  <a:pt x="52116" y="83916"/>
                </a:lnTo>
                <a:cubicBezTo>
                  <a:pt x="49705" y="80721"/>
                  <a:pt x="50368" y="76200"/>
                  <a:pt x="53563" y="73789"/>
                </a:cubicBezTo>
                <a:cubicBezTo>
                  <a:pt x="56758" y="71377"/>
                  <a:pt x="61280" y="72040"/>
                  <a:pt x="63691" y="75235"/>
                </a:cubicBezTo>
                <a:lnTo>
                  <a:pt x="71829" y="86087"/>
                </a:lnTo>
                <a:lnTo>
                  <a:pt x="90337" y="56457"/>
                </a:lnTo>
                <a:cubicBezTo>
                  <a:pt x="92447" y="53081"/>
                  <a:pt x="96908" y="52026"/>
                  <a:pt x="100314" y="54166"/>
                </a:cubicBezTo>
                <a:cubicBezTo>
                  <a:pt x="103720" y="56306"/>
                  <a:pt x="104745" y="60737"/>
                  <a:pt x="102605" y="64143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4" name="Text 52"/>
          <p:cNvSpPr/>
          <p:nvPr/>
        </p:nvSpPr>
        <p:spPr>
          <a:xfrm>
            <a:off x="6534124" y="5127051"/>
            <a:ext cx="5255764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4073" y="546314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134663" y="74646"/>
                </a:moveTo>
                <a:cubicBezTo>
                  <a:pt x="138012" y="71297"/>
                  <a:pt x="138012" y="65858"/>
                  <a:pt x="134663" y="62509"/>
                </a:cubicBezTo>
                <a:lnTo>
                  <a:pt x="91794" y="19639"/>
                </a:lnTo>
                <a:cubicBezTo>
                  <a:pt x="88445" y="16290"/>
                  <a:pt x="83005" y="16290"/>
                  <a:pt x="79656" y="19639"/>
                </a:cubicBezTo>
                <a:cubicBezTo>
                  <a:pt x="76307" y="22989"/>
                  <a:pt x="76307" y="28428"/>
                  <a:pt x="79656" y="31777"/>
                </a:cubicBezTo>
                <a:lnTo>
                  <a:pt x="107896" y="60017"/>
                </a:lnTo>
                <a:lnTo>
                  <a:pt x="8574" y="60017"/>
                </a:lnTo>
                <a:cubicBezTo>
                  <a:pt x="3831" y="60017"/>
                  <a:pt x="0" y="63848"/>
                  <a:pt x="0" y="68591"/>
                </a:cubicBezTo>
                <a:cubicBezTo>
                  <a:pt x="0" y="73333"/>
                  <a:pt x="3831" y="77165"/>
                  <a:pt x="8574" y="77165"/>
                </a:cubicBezTo>
                <a:lnTo>
                  <a:pt x="107896" y="77165"/>
                </a:lnTo>
                <a:lnTo>
                  <a:pt x="79656" y="105405"/>
                </a:lnTo>
                <a:cubicBezTo>
                  <a:pt x="76307" y="108754"/>
                  <a:pt x="76307" y="114193"/>
                  <a:pt x="79656" y="117542"/>
                </a:cubicBezTo>
                <a:cubicBezTo>
                  <a:pt x="83005" y="120891"/>
                  <a:pt x="88445" y="120891"/>
                  <a:pt x="91794" y="117542"/>
                </a:cubicBezTo>
                <a:lnTo>
                  <a:pt x="134663" y="74673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6" name="Text 54"/>
          <p:cNvSpPr/>
          <p:nvPr/>
        </p:nvSpPr>
        <p:spPr>
          <a:xfrm>
            <a:off x="6554708" y="5435710"/>
            <a:ext cx="522660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accuracy:</a:t>
            </a:r>
            <a:r>
              <a:rPr lang="en-US" sz="108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Precise live data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4073" y="5703211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134663" y="74646"/>
                </a:moveTo>
                <a:cubicBezTo>
                  <a:pt x="138012" y="71297"/>
                  <a:pt x="138012" y="65858"/>
                  <a:pt x="134663" y="62509"/>
                </a:cubicBezTo>
                <a:lnTo>
                  <a:pt x="91794" y="19639"/>
                </a:lnTo>
                <a:cubicBezTo>
                  <a:pt x="88445" y="16290"/>
                  <a:pt x="83005" y="16290"/>
                  <a:pt x="79656" y="19639"/>
                </a:cubicBezTo>
                <a:cubicBezTo>
                  <a:pt x="76307" y="22989"/>
                  <a:pt x="76307" y="28428"/>
                  <a:pt x="79656" y="31777"/>
                </a:cubicBezTo>
                <a:lnTo>
                  <a:pt x="107896" y="60017"/>
                </a:lnTo>
                <a:lnTo>
                  <a:pt x="8574" y="60017"/>
                </a:lnTo>
                <a:cubicBezTo>
                  <a:pt x="3831" y="60017"/>
                  <a:pt x="0" y="63848"/>
                  <a:pt x="0" y="68591"/>
                </a:cubicBezTo>
                <a:cubicBezTo>
                  <a:pt x="0" y="73333"/>
                  <a:pt x="3831" y="77165"/>
                  <a:pt x="8574" y="77165"/>
                </a:cubicBezTo>
                <a:lnTo>
                  <a:pt x="107896" y="77165"/>
                </a:lnTo>
                <a:lnTo>
                  <a:pt x="79656" y="105405"/>
                </a:lnTo>
                <a:cubicBezTo>
                  <a:pt x="76307" y="108754"/>
                  <a:pt x="76307" y="114193"/>
                  <a:pt x="79656" y="117542"/>
                </a:cubicBezTo>
                <a:cubicBezTo>
                  <a:pt x="83005" y="120891"/>
                  <a:pt x="88445" y="120891"/>
                  <a:pt x="91794" y="117542"/>
                </a:cubicBezTo>
                <a:lnTo>
                  <a:pt x="134663" y="74673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8" name="Text 56"/>
          <p:cNvSpPr/>
          <p:nvPr/>
        </p:nvSpPr>
        <p:spPr>
          <a:xfrm>
            <a:off x="6554708" y="5675777"/>
            <a:ext cx="522660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Density-based:</a:t>
            </a:r>
            <a:r>
              <a:rPr lang="en-US" sz="108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Adapts to actual conditions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54073" y="594327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134663" y="74646"/>
                </a:moveTo>
                <a:cubicBezTo>
                  <a:pt x="138012" y="71297"/>
                  <a:pt x="138012" y="65858"/>
                  <a:pt x="134663" y="62509"/>
                </a:cubicBezTo>
                <a:lnTo>
                  <a:pt x="91794" y="19639"/>
                </a:lnTo>
                <a:cubicBezTo>
                  <a:pt x="88445" y="16290"/>
                  <a:pt x="83005" y="16290"/>
                  <a:pt x="79656" y="19639"/>
                </a:cubicBezTo>
                <a:cubicBezTo>
                  <a:pt x="76307" y="22989"/>
                  <a:pt x="76307" y="28428"/>
                  <a:pt x="79656" y="31777"/>
                </a:cubicBezTo>
                <a:lnTo>
                  <a:pt x="107896" y="60017"/>
                </a:lnTo>
                <a:lnTo>
                  <a:pt x="8574" y="60017"/>
                </a:lnTo>
                <a:cubicBezTo>
                  <a:pt x="3831" y="60017"/>
                  <a:pt x="0" y="63848"/>
                  <a:pt x="0" y="68591"/>
                </a:cubicBezTo>
                <a:cubicBezTo>
                  <a:pt x="0" y="73333"/>
                  <a:pt x="3831" y="77165"/>
                  <a:pt x="8574" y="77165"/>
                </a:cubicBezTo>
                <a:lnTo>
                  <a:pt x="107896" y="77165"/>
                </a:lnTo>
                <a:lnTo>
                  <a:pt x="79656" y="105405"/>
                </a:lnTo>
                <a:cubicBezTo>
                  <a:pt x="76307" y="108754"/>
                  <a:pt x="76307" y="114193"/>
                  <a:pt x="79656" y="117542"/>
                </a:cubicBezTo>
                <a:cubicBezTo>
                  <a:pt x="83005" y="120891"/>
                  <a:pt x="88445" y="120891"/>
                  <a:pt x="91794" y="117542"/>
                </a:cubicBezTo>
                <a:lnTo>
                  <a:pt x="134663" y="74673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60" name="Text 58"/>
          <p:cNvSpPr/>
          <p:nvPr/>
        </p:nvSpPr>
        <p:spPr>
          <a:xfrm>
            <a:off x="6554708" y="5915845"/>
            <a:ext cx="522660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Automated:</a:t>
            </a:r>
            <a:r>
              <a:rPr lang="en-US" sz="108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Reduces human error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PROBLEM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of Existing Systems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71600"/>
            <a:ext cx="5638800" cy="971550"/>
          </a:xfrm>
          <a:custGeom>
            <a:avLst/>
            <a:gdLst/>
            <a:ahLst/>
            <a:cxnLst/>
            <a:rect l="l" t="t" r="r" b="b"/>
            <a:pathLst>
              <a:path w="5638800" h="971550">
                <a:moveTo>
                  <a:pt x="76199" y="0"/>
                </a:moveTo>
                <a:lnTo>
                  <a:pt x="5562601" y="0"/>
                </a:lnTo>
                <a:cubicBezTo>
                  <a:pt x="5604685" y="0"/>
                  <a:pt x="5638800" y="34115"/>
                  <a:pt x="5638800" y="76199"/>
                </a:cubicBezTo>
                <a:lnTo>
                  <a:pt x="5638800" y="895351"/>
                </a:lnTo>
                <a:cubicBezTo>
                  <a:pt x="5638800" y="937435"/>
                  <a:pt x="5604685" y="971550"/>
                  <a:pt x="5562601" y="971550"/>
                </a:cubicBezTo>
                <a:lnTo>
                  <a:pt x="76199" y="971550"/>
                </a:lnTo>
                <a:cubicBezTo>
                  <a:pt x="34115" y="971550"/>
                  <a:pt x="0" y="937435"/>
                  <a:pt x="0" y="895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61975" y="15619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24000"/>
            <a:ext cx="5162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Drawbacks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942979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systems face </a:t>
            </a: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challenges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cost, scalability, and deployment.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495429"/>
            <a:ext cx="5619750" cy="3048000"/>
          </a:xfrm>
          <a:custGeom>
            <a:avLst/>
            <a:gdLst/>
            <a:ahLst/>
            <a:cxnLst/>
            <a:rect l="l" t="t" r="r" b="b"/>
            <a:pathLst>
              <a:path w="5619750" h="30480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971800"/>
                </a:lnTo>
                <a:cubicBezTo>
                  <a:pt x="5619750" y="3013856"/>
                  <a:pt x="5585606" y="3048000"/>
                  <a:pt x="5543550" y="3048000"/>
                </a:cubicBezTo>
                <a:lnTo>
                  <a:pt x="38100" y="3048000"/>
                </a:lnTo>
                <a:cubicBezTo>
                  <a:pt x="17072" y="3048000"/>
                  <a:pt x="0" y="3030928"/>
                  <a:pt x="0" y="3009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2B2D42"/>
              </a:gs>
            </a:gsLst>
            <a:lin ang="270000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400050" y="2495429"/>
            <a:ext cx="38100" cy="3048000"/>
          </a:xfrm>
          <a:custGeom>
            <a:avLst/>
            <a:gdLst/>
            <a:ahLst/>
            <a:cxnLst/>
            <a:rect l="l" t="t" r="r" b="b"/>
            <a:pathLst>
              <a:path w="38100" h="3048000">
                <a:moveTo>
                  <a:pt x="38100" y="0"/>
                </a:moveTo>
                <a:lnTo>
                  <a:pt x="38100" y="0"/>
                </a:lnTo>
                <a:lnTo>
                  <a:pt x="38100" y="3048000"/>
                </a:lnTo>
                <a:lnTo>
                  <a:pt x="38100" y="3048000"/>
                </a:lnTo>
                <a:cubicBezTo>
                  <a:pt x="17072" y="3048000"/>
                  <a:pt x="0" y="3030928"/>
                  <a:pt x="0" y="3009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268592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809625" y="2647829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Heavy Hardware Dependency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990729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76198" y="0"/>
                </a:moveTo>
                <a:lnTo>
                  <a:pt x="5219702" y="0"/>
                </a:lnTo>
                <a:cubicBezTo>
                  <a:pt x="5261757" y="0"/>
                  <a:pt x="5295900" y="34143"/>
                  <a:pt x="5295900" y="76198"/>
                </a:cubicBezTo>
                <a:lnTo>
                  <a:pt x="5295900" y="647702"/>
                </a:lnTo>
                <a:cubicBezTo>
                  <a:pt x="5295900" y="689757"/>
                  <a:pt x="5261757" y="723900"/>
                  <a:pt x="5219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2"/>
          <p:cNvSpPr/>
          <p:nvPr/>
        </p:nvSpPr>
        <p:spPr>
          <a:xfrm>
            <a:off x="709613" y="315075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9928" y="21699"/>
                </a:moveTo>
                <a:lnTo>
                  <a:pt x="46446" y="32147"/>
                </a:lnTo>
                <a:lnTo>
                  <a:pt x="21431" y="32147"/>
                </a:lnTo>
                <a:cubicBezTo>
                  <a:pt x="9611" y="32147"/>
                  <a:pt x="0" y="41757"/>
                  <a:pt x="0" y="53578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50019" y="160734"/>
                </a:lnTo>
                <a:cubicBezTo>
                  <a:pt x="161839" y="160734"/>
                  <a:pt x="171450" y="151124"/>
                  <a:pt x="171450" y="139303"/>
                </a:cubicBezTo>
                <a:lnTo>
                  <a:pt x="171450" y="53578"/>
                </a:lnTo>
                <a:cubicBezTo>
                  <a:pt x="171450" y="41757"/>
                  <a:pt x="161839" y="32147"/>
                  <a:pt x="150019" y="32147"/>
                </a:cubicBezTo>
                <a:lnTo>
                  <a:pt x="125004" y="32147"/>
                </a:lnTo>
                <a:lnTo>
                  <a:pt x="121522" y="21699"/>
                </a:lnTo>
                <a:cubicBezTo>
                  <a:pt x="119345" y="15136"/>
                  <a:pt x="113217" y="10716"/>
                  <a:pt x="106286" y="10716"/>
                </a:cubicBezTo>
                <a:lnTo>
                  <a:pt x="65164" y="10716"/>
                </a:lnTo>
                <a:cubicBezTo>
                  <a:pt x="58233" y="10716"/>
                  <a:pt x="52105" y="15136"/>
                  <a:pt x="49928" y="21699"/>
                </a:cubicBezTo>
                <a:close/>
                <a:moveTo>
                  <a:pt x="85725" y="64294"/>
                </a:moveTo>
                <a:cubicBezTo>
                  <a:pt x="103467" y="64294"/>
                  <a:pt x="117872" y="78698"/>
                  <a:pt x="117872" y="96441"/>
                </a:cubicBezTo>
                <a:cubicBezTo>
                  <a:pt x="117872" y="114183"/>
                  <a:pt x="103467" y="128588"/>
                  <a:pt x="85725" y="128588"/>
                </a:cubicBezTo>
                <a:cubicBezTo>
                  <a:pt x="67983" y="128588"/>
                  <a:pt x="53578" y="114183"/>
                  <a:pt x="53578" y="96441"/>
                </a:cubicBezTo>
                <a:cubicBezTo>
                  <a:pt x="53578" y="78698"/>
                  <a:pt x="67983" y="64294"/>
                  <a:pt x="85725" y="64294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5" name="Text 13"/>
          <p:cNvSpPr/>
          <p:nvPr/>
        </p:nvSpPr>
        <p:spPr>
          <a:xfrm>
            <a:off x="962025" y="3105029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409829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installation and maintenance costs.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828929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76198" y="0"/>
                </a:moveTo>
                <a:lnTo>
                  <a:pt x="5219702" y="0"/>
                </a:lnTo>
                <a:cubicBezTo>
                  <a:pt x="5261757" y="0"/>
                  <a:pt x="5295900" y="34143"/>
                  <a:pt x="5295900" y="76198"/>
                </a:cubicBezTo>
                <a:lnTo>
                  <a:pt x="5295900" y="647702"/>
                </a:lnTo>
                <a:cubicBezTo>
                  <a:pt x="5295900" y="689757"/>
                  <a:pt x="5261757" y="723900"/>
                  <a:pt x="5219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Shape 16"/>
          <p:cNvSpPr/>
          <p:nvPr/>
        </p:nvSpPr>
        <p:spPr>
          <a:xfrm>
            <a:off x="709613" y="398895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9" name="Text 17"/>
          <p:cNvSpPr/>
          <p:nvPr/>
        </p:nvSpPr>
        <p:spPr>
          <a:xfrm>
            <a:off x="962025" y="3943229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248029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extensive road-embedded infrastructure.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" y="4667129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76198" y="0"/>
                </a:moveTo>
                <a:lnTo>
                  <a:pt x="5219702" y="0"/>
                </a:lnTo>
                <a:cubicBezTo>
                  <a:pt x="5261757" y="0"/>
                  <a:pt x="5295900" y="34143"/>
                  <a:pt x="5295900" y="76198"/>
                </a:cubicBezTo>
                <a:lnTo>
                  <a:pt x="5295900" y="647702"/>
                </a:lnTo>
                <a:cubicBezTo>
                  <a:pt x="5295900" y="689757"/>
                  <a:pt x="5261757" y="723900"/>
                  <a:pt x="5219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Shape 20"/>
          <p:cNvSpPr/>
          <p:nvPr/>
        </p:nvSpPr>
        <p:spPr>
          <a:xfrm>
            <a:off x="698897" y="4827152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3" name="Text 21"/>
          <p:cNvSpPr/>
          <p:nvPr/>
        </p:nvSpPr>
        <p:spPr>
          <a:xfrm>
            <a:off x="962025" y="4781429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5086229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operational costs and internet dependency.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0" y="1371600"/>
            <a:ext cx="5619750" cy="2514600"/>
          </a:xfrm>
          <a:custGeom>
            <a:avLst/>
            <a:gdLst/>
            <a:ahLst/>
            <a:cxnLst/>
            <a:rect l="l" t="t" r="r" b="b"/>
            <a:pathLst>
              <a:path w="5619750" h="2514600">
                <a:moveTo>
                  <a:pt x="38100" y="0"/>
                </a:moveTo>
                <a:lnTo>
                  <a:pt x="5543558" y="0"/>
                </a:lnTo>
                <a:cubicBezTo>
                  <a:pt x="5585638" y="0"/>
                  <a:pt x="5619750" y="34112"/>
                  <a:pt x="5619750" y="76192"/>
                </a:cubicBezTo>
                <a:lnTo>
                  <a:pt x="5619750" y="2438408"/>
                </a:lnTo>
                <a:cubicBezTo>
                  <a:pt x="5619750" y="2480488"/>
                  <a:pt x="5585638" y="2514600"/>
                  <a:pt x="5543558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1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6191250" y="137160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22231" y="156210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8" name="Text 26"/>
          <p:cNvSpPr/>
          <p:nvPr/>
        </p:nvSpPr>
        <p:spPr>
          <a:xfrm>
            <a:off x="6600825" y="15240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Economic Barriers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62700" y="1914404"/>
            <a:ext cx="5295900" cy="838200"/>
          </a:xfrm>
          <a:custGeom>
            <a:avLst/>
            <a:gdLst/>
            <a:ahLst/>
            <a:cxnLst/>
            <a:rect l="l" t="t" r="r" b="b"/>
            <a:pathLst>
              <a:path w="5295900" h="838200">
                <a:moveTo>
                  <a:pt x="76201" y="0"/>
                </a:moveTo>
                <a:lnTo>
                  <a:pt x="5219699" y="0"/>
                </a:lnTo>
                <a:cubicBezTo>
                  <a:pt x="5261784" y="0"/>
                  <a:pt x="5295900" y="34116"/>
                  <a:pt x="5295900" y="76201"/>
                </a:cubicBezTo>
                <a:lnTo>
                  <a:pt x="5295900" y="761999"/>
                </a:lnTo>
                <a:cubicBezTo>
                  <a:pt x="5295900" y="804084"/>
                  <a:pt x="5261784" y="838200"/>
                  <a:pt x="52196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6515100" y="2066804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Installation Cost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315700" y="210490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2" name="Text 30"/>
          <p:cNvSpPr/>
          <p:nvPr/>
        </p:nvSpPr>
        <p:spPr>
          <a:xfrm>
            <a:off x="6515100" y="2371604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capital expenditure is prohibitively high.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62700" y="2885954"/>
            <a:ext cx="5295900" cy="838200"/>
          </a:xfrm>
          <a:custGeom>
            <a:avLst/>
            <a:gdLst/>
            <a:ahLst/>
            <a:cxnLst/>
            <a:rect l="l" t="t" r="r" b="b"/>
            <a:pathLst>
              <a:path w="5295900" h="838200">
                <a:moveTo>
                  <a:pt x="76201" y="0"/>
                </a:moveTo>
                <a:lnTo>
                  <a:pt x="5219699" y="0"/>
                </a:lnTo>
                <a:cubicBezTo>
                  <a:pt x="5261784" y="0"/>
                  <a:pt x="5295900" y="34116"/>
                  <a:pt x="5295900" y="76201"/>
                </a:cubicBezTo>
                <a:lnTo>
                  <a:pt x="5295900" y="761999"/>
                </a:lnTo>
                <a:cubicBezTo>
                  <a:pt x="5295900" y="804084"/>
                  <a:pt x="5261784" y="838200"/>
                  <a:pt x="52196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6515100" y="3038354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Maintenance Cost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279981" y="307645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6" name="Text 34"/>
          <p:cNvSpPr/>
          <p:nvPr/>
        </p:nvSpPr>
        <p:spPr>
          <a:xfrm>
            <a:off x="6515100" y="3343154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continuous monitoring and calibration.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2200" y="4038479"/>
            <a:ext cx="5638800" cy="1504950"/>
          </a:xfrm>
          <a:custGeom>
            <a:avLst/>
            <a:gdLst/>
            <a:ahLst/>
            <a:cxnLst/>
            <a:rect l="l" t="t" r="r" b="b"/>
            <a:pathLst>
              <a:path w="5638800" h="1504950">
                <a:moveTo>
                  <a:pt x="76196" y="0"/>
                </a:moveTo>
                <a:lnTo>
                  <a:pt x="5562604" y="0"/>
                </a:lnTo>
                <a:cubicBezTo>
                  <a:pt x="5604686" y="0"/>
                  <a:pt x="5638800" y="34114"/>
                  <a:pt x="5638800" y="76196"/>
                </a:cubicBezTo>
                <a:lnTo>
                  <a:pt x="5638800" y="1428754"/>
                </a:lnTo>
                <a:cubicBezTo>
                  <a:pt x="5638800" y="1470836"/>
                  <a:pt x="5604686" y="1504950"/>
                  <a:pt x="5562604" y="1504950"/>
                </a:cubicBezTo>
                <a:lnTo>
                  <a:pt x="76196" y="1504950"/>
                </a:lnTo>
                <a:cubicBezTo>
                  <a:pt x="34114" y="1504950"/>
                  <a:pt x="0" y="1470836"/>
                  <a:pt x="0" y="14287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6372225" y="422897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906" y="0"/>
                </a:moveTo>
                <a:cubicBezTo>
                  <a:pt x="5321" y="0"/>
                  <a:pt x="0" y="5321"/>
                  <a:pt x="0" y="11906"/>
                </a:cubicBezTo>
                <a:cubicBezTo>
                  <a:pt x="0" y="18492"/>
                  <a:pt x="5321" y="23812"/>
                  <a:pt x="11906" y="23812"/>
                </a:cubicBezTo>
                <a:lnTo>
                  <a:pt x="11906" y="27905"/>
                </a:lnTo>
                <a:cubicBezTo>
                  <a:pt x="11906" y="43681"/>
                  <a:pt x="18194" y="58824"/>
                  <a:pt x="29356" y="69986"/>
                </a:cubicBezTo>
                <a:lnTo>
                  <a:pt x="54620" y="95250"/>
                </a:lnTo>
                <a:lnTo>
                  <a:pt x="29356" y="120514"/>
                </a:lnTo>
                <a:cubicBezTo>
                  <a:pt x="18194" y="131676"/>
                  <a:pt x="11906" y="146819"/>
                  <a:pt x="11906" y="162595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30969" y="190500"/>
                </a:lnTo>
                <a:cubicBezTo>
                  <a:pt x="137554" y="190500"/>
                  <a:pt x="142875" y="185179"/>
                  <a:pt x="142875" y="178594"/>
                </a:cubicBezTo>
                <a:cubicBezTo>
                  <a:pt x="142875" y="172008"/>
                  <a:pt x="137554" y="166688"/>
                  <a:pt x="130969" y="166688"/>
                </a:cubicBezTo>
                <a:lnTo>
                  <a:pt x="130969" y="162595"/>
                </a:lnTo>
                <a:cubicBezTo>
                  <a:pt x="130969" y="146819"/>
                  <a:pt x="124681" y="131676"/>
                  <a:pt x="113519" y="120514"/>
                </a:cubicBezTo>
                <a:lnTo>
                  <a:pt x="88255" y="95250"/>
                </a:lnTo>
                <a:lnTo>
                  <a:pt x="113519" y="69986"/>
                </a:lnTo>
                <a:cubicBezTo>
                  <a:pt x="124681" y="58824"/>
                  <a:pt x="130969" y="43681"/>
                  <a:pt x="130969" y="27905"/>
                </a:cubicBezTo>
                <a:lnTo>
                  <a:pt x="130969" y="23812"/>
                </a:lnTo>
                <a:cubicBezTo>
                  <a:pt x="137554" y="23812"/>
                  <a:pt x="142875" y="18492"/>
                  <a:pt x="142875" y="11906"/>
                </a:cubicBezTo>
                <a:cubicBezTo>
                  <a:pt x="142875" y="5321"/>
                  <a:pt x="137554" y="0"/>
                  <a:pt x="130969" y="0"/>
                </a:cubicBezTo>
                <a:lnTo>
                  <a:pt x="11906" y="0"/>
                </a:lnTo>
                <a:close/>
                <a:moveTo>
                  <a:pt x="35719" y="27905"/>
                </a:moveTo>
                <a:lnTo>
                  <a:pt x="35719" y="23812"/>
                </a:lnTo>
                <a:lnTo>
                  <a:pt x="107156" y="23812"/>
                </a:lnTo>
                <a:lnTo>
                  <a:pt x="107156" y="27905"/>
                </a:lnTo>
                <a:cubicBezTo>
                  <a:pt x="107156" y="34975"/>
                  <a:pt x="105073" y="41821"/>
                  <a:pt x="101203" y="47625"/>
                </a:cubicBezTo>
                <a:lnTo>
                  <a:pt x="41672" y="47625"/>
                </a:lnTo>
                <a:cubicBezTo>
                  <a:pt x="37840" y="41821"/>
                  <a:pt x="35719" y="34975"/>
                  <a:pt x="35719" y="27905"/>
                </a:cubicBezTo>
                <a:close/>
                <a:moveTo>
                  <a:pt x="41672" y="142875"/>
                </a:moveTo>
                <a:cubicBezTo>
                  <a:pt x="42974" y="140903"/>
                  <a:pt x="44500" y="139043"/>
                  <a:pt x="46174" y="137331"/>
                </a:cubicBezTo>
                <a:lnTo>
                  <a:pt x="71438" y="112068"/>
                </a:lnTo>
                <a:lnTo>
                  <a:pt x="96701" y="137331"/>
                </a:lnTo>
                <a:cubicBezTo>
                  <a:pt x="98413" y="139043"/>
                  <a:pt x="99901" y="140903"/>
                  <a:pt x="101240" y="142875"/>
                </a:cubicBezTo>
                <a:lnTo>
                  <a:pt x="41672" y="142875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9" name="Text 37"/>
          <p:cNvSpPr/>
          <p:nvPr/>
        </p:nvSpPr>
        <p:spPr>
          <a:xfrm>
            <a:off x="6562725" y="4190879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 Nature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24600" y="4571879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systems </a:t>
            </a: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to existing congestion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missing prevention opportunities.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24600" y="4933829"/>
            <a:ext cx="5334000" cy="457200"/>
          </a:xfrm>
          <a:custGeom>
            <a:avLst/>
            <a:gdLst/>
            <a:ahLst/>
            <a:cxnLst/>
            <a:rect l="l" t="t" r="r" b="b"/>
            <a:pathLst>
              <a:path w="5334000" h="457200">
                <a:moveTo>
                  <a:pt x="38098" y="0"/>
                </a:moveTo>
                <a:lnTo>
                  <a:pt x="5295902" y="0"/>
                </a:lnTo>
                <a:cubicBezTo>
                  <a:pt x="5316943" y="0"/>
                  <a:pt x="5334000" y="17057"/>
                  <a:pt x="5334000" y="38098"/>
                </a:cubicBezTo>
                <a:lnTo>
                  <a:pt x="5334000" y="419102"/>
                </a:lnTo>
                <a:cubicBezTo>
                  <a:pt x="5334000" y="440143"/>
                  <a:pt x="5316943" y="457200"/>
                  <a:pt x="52959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5048129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 Act too late to prevent gridlock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1000" y="5657729"/>
            <a:ext cx="11430000" cy="514350"/>
          </a:xfrm>
          <a:custGeom>
            <a:avLst/>
            <a:gdLst/>
            <a:ahLst/>
            <a:cxnLst/>
            <a:rect l="l" t="t" r="r" b="b"/>
            <a:pathLst>
              <a:path w="11430000" h="514350">
                <a:moveTo>
                  <a:pt x="76201" y="0"/>
                </a:moveTo>
                <a:lnTo>
                  <a:pt x="11353799" y="0"/>
                </a:lnTo>
                <a:cubicBezTo>
                  <a:pt x="11395884" y="0"/>
                  <a:pt x="11430000" y="34116"/>
                  <a:pt x="11430000" y="76201"/>
                </a:cubicBezTo>
                <a:lnTo>
                  <a:pt x="11430000" y="438149"/>
                </a:lnTo>
                <a:cubicBezTo>
                  <a:pt x="11430000" y="480234"/>
                  <a:pt x="11395884" y="514350"/>
                  <a:pt x="11353799" y="514350"/>
                </a:cubicBezTo>
                <a:lnTo>
                  <a:pt x="76201" y="514350"/>
                </a:lnTo>
                <a:cubicBezTo>
                  <a:pt x="34116" y="514350"/>
                  <a:pt x="0" y="480234"/>
                  <a:pt x="0" y="4381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/>
              </a:gs>
              <a:gs pos="100000">
                <a:srgbClr val="4A6C8C"/>
              </a:gs>
            </a:gsLst>
            <a:lin ang="0" scaled="1"/>
          </a:gradFill>
          <a:ln/>
        </p:spPr>
      </p:sp>
      <p:sp>
        <p:nvSpPr>
          <p:cNvPr id="44" name="Text 42"/>
          <p:cNvSpPr/>
          <p:nvPr/>
        </p:nvSpPr>
        <p:spPr>
          <a:xfrm>
            <a:off x="495300" y="5781554"/>
            <a:ext cx="718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Solutions are difficult to deploy at large scale, especially in resource-constrained regions.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377613" y="577202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3204" y="93204"/>
                </a:moveTo>
                <a:cubicBezTo>
                  <a:pt x="98450" y="87957"/>
                  <a:pt x="106933" y="87957"/>
                  <a:pt x="112123" y="93204"/>
                </a:cubicBezTo>
                <a:lnTo>
                  <a:pt x="142819" y="123899"/>
                </a:lnTo>
                <a:lnTo>
                  <a:pt x="173515" y="93204"/>
                </a:lnTo>
                <a:cubicBezTo>
                  <a:pt x="178761" y="87957"/>
                  <a:pt x="187244" y="87957"/>
                  <a:pt x="192435" y="93204"/>
                </a:cubicBezTo>
                <a:cubicBezTo>
                  <a:pt x="197625" y="98450"/>
                  <a:pt x="197681" y="106933"/>
                  <a:pt x="192435" y="112123"/>
                </a:cubicBezTo>
                <a:lnTo>
                  <a:pt x="161739" y="142819"/>
                </a:lnTo>
                <a:lnTo>
                  <a:pt x="192435" y="173515"/>
                </a:lnTo>
                <a:cubicBezTo>
                  <a:pt x="197681" y="178761"/>
                  <a:pt x="197681" y="187244"/>
                  <a:pt x="192435" y="192435"/>
                </a:cubicBezTo>
                <a:cubicBezTo>
                  <a:pt x="187189" y="197625"/>
                  <a:pt x="178705" y="197681"/>
                  <a:pt x="173515" y="192435"/>
                </a:cubicBezTo>
                <a:lnTo>
                  <a:pt x="142819" y="161739"/>
                </a:lnTo>
                <a:lnTo>
                  <a:pt x="112123" y="192435"/>
                </a:lnTo>
                <a:cubicBezTo>
                  <a:pt x="106877" y="197681"/>
                  <a:pt x="98394" y="197681"/>
                  <a:pt x="93204" y="192435"/>
                </a:cubicBezTo>
                <a:cubicBezTo>
                  <a:pt x="88013" y="187189"/>
                  <a:pt x="87957" y="178705"/>
                  <a:pt x="93204" y="173515"/>
                </a:cubicBezTo>
                <a:lnTo>
                  <a:pt x="123899" y="142819"/>
                </a:lnTo>
                <a:lnTo>
                  <a:pt x="93204" y="112123"/>
                </a:lnTo>
                <a:cubicBezTo>
                  <a:pt x="87957" y="106877"/>
                  <a:pt x="87957" y="98394"/>
                  <a:pt x="93204" y="93204"/>
                </a:cubicBezTo>
                <a:close/>
              </a:path>
            </a:pathLst>
          </a:custGeom>
          <a:solidFill>
            <a:srgbClr val="1A1D21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PROBLEM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Identifying the Critical Gaps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5619750" cy="2714625"/>
          </a:xfrm>
          <a:custGeom>
            <a:avLst/>
            <a:gdLst/>
            <a:ahLst/>
            <a:cxnLst/>
            <a:rect l="l" t="t" r="r" b="b"/>
            <a:pathLst>
              <a:path w="5619750" h="2714625">
                <a:moveTo>
                  <a:pt x="38100" y="0"/>
                </a:moveTo>
                <a:lnTo>
                  <a:pt x="5543550" y="0"/>
                </a:lnTo>
                <a:cubicBezTo>
                  <a:pt x="5585634" y="0"/>
                  <a:pt x="5619750" y="34116"/>
                  <a:pt x="5619750" y="76200"/>
                </a:cubicBezTo>
                <a:lnTo>
                  <a:pt x="5619750" y="2638425"/>
                </a:lnTo>
                <a:cubicBezTo>
                  <a:pt x="5619750" y="2680509"/>
                  <a:pt x="5585634" y="2714625"/>
                  <a:pt x="5543550" y="2714625"/>
                </a:cubicBezTo>
                <a:lnTo>
                  <a:pt x="38100" y="2714625"/>
                </a:lnTo>
                <a:cubicBezTo>
                  <a:pt x="17072" y="2714625"/>
                  <a:pt x="0" y="2697553"/>
                  <a:pt x="0" y="2676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2714625"/>
          </a:xfrm>
          <a:custGeom>
            <a:avLst/>
            <a:gdLst/>
            <a:ahLst/>
            <a:cxnLst/>
            <a:rect l="l" t="t" r="r" b="b"/>
            <a:pathLst>
              <a:path w="38100" h="2714625">
                <a:moveTo>
                  <a:pt x="38100" y="0"/>
                </a:moveTo>
                <a:lnTo>
                  <a:pt x="38100" y="0"/>
                </a:lnTo>
                <a:lnTo>
                  <a:pt x="38100" y="2714625"/>
                </a:lnTo>
                <a:lnTo>
                  <a:pt x="38100" y="2714625"/>
                </a:lnTo>
                <a:cubicBezTo>
                  <a:pt x="17072" y="2714625"/>
                  <a:pt x="0" y="2697553"/>
                  <a:pt x="0" y="2676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" name="Shape 5"/>
          <p:cNvSpPr/>
          <p:nvPr/>
        </p:nvSpPr>
        <p:spPr>
          <a:xfrm>
            <a:off x="600075" y="16381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8" name="Text 6"/>
          <p:cNvSpPr/>
          <p:nvPr/>
        </p:nvSpPr>
        <p:spPr>
          <a:xfrm>
            <a:off x="857250" y="1600200"/>
            <a:ext cx="512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System 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019179"/>
            <a:ext cx="5295900" cy="781050"/>
          </a:xfrm>
          <a:custGeom>
            <a:avLst/>
            <a:gdLst/>
            <a:ahLst/>
            <a:cxnLst/>
            <a:rect l="l" t="t" r="r" b="b"/>
            <a:pathLst>
              <a:path w="5295900" h="781050">
                <a:moveTo>
                  <a:pt x="76199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704851"/>
                </a:lnTo>
                <a:cubicBezTo>
                  <a:pt x="5295900" y="746934"/>
                  <a:pt x="5261784" y="781050"/>
                  <a:pt x="521970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709613" y="217920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1" name="Text 9"/>
          <p:cNvSpPr/>
          <p:nvPr/>
        </p:nvSpPr>
        <p:spPr>
          <a:xfrm>
            <a:off x="962025" y="2133479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After Congestion Forms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438279"/>
            <a:ext cx="5143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Systems </a:t>
            </a:r>
            <a:r>
              <a:rPr lang="en-US" sz="1200" dirty="0">
                <a:solidFill>
                  <a:srgbClr val="8D99AE"/>
                </a:solidFill>
                <a:highlight>
                  <a:srgbClr val="8D99AE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problems only after they occur 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914529"/>
            <a:ext cx="5295900" cy="781050"/>
          </a:xfrm>
          <a:custGeom>
            <a:avLst/>
            <a:gdLst/>
            <a:ahLst/>
            <a:cxnLst/>
            <a:rect l="l" t="t" r="r" b="b"/>
            <a:pathLst>
              <a:path w="5295900" h="781050">
                <a:moveTo>
                  <a:pt x="76199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704851"/>
                </a:lnTo>
                <a:cubicBezTo>
                  <a:pt x="5295900" y="746934"/>
                  <a:pt x="5261784" y="781050"/>
                  <a:pt x="521970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2"/>
          <p:cNvSpPr/>
          <p:nvPr/>
        </p:nvSpPr>
        <p:spPr>
          <a:xfrm>
            <a:off x="709613" y="307455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140509"/>
                </a:moveTo>
                <a:lnTo>
                  <a:pt x="0" y="36668"/>
                </a:lnTo>
                <a:cubicBezTo>
                  <a:pt x="0" y="28899"/>
                  <a:pt x="8070" y="23742"/>
                  <a:pt x="15504" y="25952"/>
                </a:cubicBezTo>
                <a:cubicBezTo>
                  <a:pt x="44872" y="34725"/>
                  <a:pt x="65633" y="27794"/>
                  <a:pt x="86529" y="20828"/>
                </a:cubicBezTo>
                <a:cubicBezTo>
                  <a:pt x="108127" y="13629"/>
                  <a:pt x="129860" y="6396"/>
                  <a:pt x="161304" y="16442"/>
                </a:cubicBezTo>
                <a:cubicBezTo>
                  <a:pt x="167499" y="18417"/>
                  <a:pt x="171450" y="24412"/>
                  <a:pt x="171450" y="30941"/>
                </a:cubicBezTo>
                <a:lnTo>
                  <a:pt x="171450" y="134782"/>
                </a:lnTo>
                <a:cubicBezTo>
                  <a:pt x="171450" y="142551"/>
                  <a:pt x="163380" y="147708"/>
                  <a:pt x="155979" y="145498"/>
                </a:cubicBezTo>
                <a:cubicBezTo>
                  <a:pt x="126612" y="136725"/>
                  <a:pt x="105817" y="143656"/>
                  <a:pt x="84955" y="150622"/>
                </a:cubicBezTo>
                <a:cubicBezTo>
                  <a:pt x="63356" y="157821"/>
                  <a:pt x="41624" y="165054"/>
                  <a:pt x="10180" y="155008"/>
                </a:cubicBezTo>
                <a:cubicBezTo>
                  <a:pt x="3985" y="153033"/>
                  <a:pt x="33" y="147038"/>
                  <a:pt x="33" y="140509"/>
                </a:cubicBezTo>
                <a:close/>
                <a:moveTo>
                  <a:pt x="112514" y="85725"/>
                </a:moveTo>
                <a:cubicBezTo>
                  <a:pt x="112514" y="67977"/>
                  <a:pt x="100526" y="53578"/>
                  <a:pt x="85725" y="53578"/>
                </a:cubicBezTo>
                <a:cubicBezTo>
                  <a:pt x="70924" y="53578"/>
                  <a:pt x="58936" y="67977"/>
                  <a:pt x="58936" y="85725"/>
                </a:cubicBezTo>
                <a:cubicBezTo>
                  <a:pt x="58936" y="103473"/>
                  <a:pt x="70924" y="117872"/>
                  <a:pt x="85725" y="117872"/>
                </a:cubicBezTo>
                <a:cubicBezTo>
                  <a:pt x="100526" y="117872"/>
                  <a:pt x="112514" y="103473"/>
                  <a:pt x="112514" y="85725"/>
                </a:cubicBezTo>
                <a:close/>
                <a:moveTo>
                  <a:pt x="40184" y="138499"/>
                </a:moveTo>
                <a:cubicBezTo>
                  <a:pt x="41657" y="138499"/>
                  <a:pt x="42829" y="137227"/>
                  <a:pt x="42595" y="135787"/>
                </a:cubicBezTo>
                <a:cubicBezTo>
                  <a:pt x="41054" y="126478"/>
                  <a:pt x="33553" y="119211"/>
                  <a:pt x="24110" y="118039"/>
                </a:cubicBezTo>
                <a:cubicBezTo>
                  <a:pt x="22637" y="117872"/>
                  <a:pt x="21431" y="119077"/>
                  <a:pt x="21431" y="120551"/>
                </a:cubicBezTo>
                <a:lnTo>
                  <a:pt x="21431" y="133912"/>
                </a:lnTo>
                <a:cubicBezTo>
                  <a:pt x="21431" y="135117"/>
                  <a:pt x="22235" y="136189"/>
                  <a:pt x="23440" y="136490"/>
                </a:cubicBezTo>
                <a:cubicBezTo>
                  <a:pt x="29434" y="137897"/>
                  <a:pt x="34926" y="138533"/>
                  <a:pt x="40184" y="138533"/>
                </a:cubicBezTo>
                <a:close/>
                <a:moveTo>
                  <a:pt x="146838" y="121388"/>
                </a:moveTo>
                <a:cubicBezTo>
                  <a:pt x="148512" y="121656"/>
                  <a:pt x="150019" y="120383"/>
                  <a:pt x="150019" y="118709"/>
                </a:cubicBezTo>
                <a:lnTo>
                  <a:pt x="150019" y="104444"/>
                </a:lnTo>
                <a:cubicBezTo>
                  <a:pt x="150019" y="102970"/>
                  <a:pt x="148813" y="101731"/>
                  <a:pt x="147340" y="101932"/>
                </a:cubicBezTo>
                <a:cubicBezTo>
                  <a:pt x="138901" y="102970"/>
                  <a:pt x="131970" y="108931"/>
                  <a:pt x="129525" y="116867"/>
                </a:cubicBezTo>
                <a:cubicBezTo>
                  <a:pt x="129056" y="118441"/>
                  <a:pt x="130295" y="119915"/>
                  <a:pt x="131936" y="119948"/>
                </a:cubicBezTo>
                <a:cubicBezTo>
                  <a:pt x="136691" y="120082"/>
                  <a:pt x="141647" y="120517"/>
                  <a:pt x="146804" y="121388"/>
                </a:cubicBezTo>
                <a:close/>
                <a:moveTo>
                  <a:pt x="150019" y="50899"/>
                </a:moveTo>
                <a:lnTo>
                  <a:pt x="150019" y="37538"/>
                </a:lnTo>
                <a:cubicBezTo>
                  <a:pt x="150019" y="36333"/>
                  <a:pt x="149182" y="35261"/>
                  <a:pt x="148010" y="34960"/>
                </a:cubicBezTo>
                <a:cubicBezTo>
                  <a:pt x="142016" y="33553"/>
                  <a:pt x="136524" y="32917"/>
                  <a:pt x="131266" y="32917"/>
                </a:cubicBezTo>
                <a:cubicBezTo>
                  <a:pt x="129793" y="32917"/>
                  <a:pt x="128621" y="34190"/>
                  <a:pt x="128855" y="35629"/>
                </a:cubicBezTo>
                <a:cubicBezTo>
                  <a:pt x="130396" y="44939"/>
                  <a:pt x="137897" y="52205"/>
                  <a:pt x="147340" y="53377"/>
                </a:cubicBezTo>
                <a:cubicBezTo>
                  <a:pt x="148813" y="53545"/>
                  <a:pt x="150019" y="52339"/>
                  <a:pt x="150019" y="50866"/>
                </a:cubicBezTo>
                <a:close/>
                <a:moveTo>
                  <a:pt x="41925" y="54549"/>
                </a:moveTo>
                <a:cubicBezTo>
                  <a:pt x="42394" y="52975"/>
                  <a:pt x="41155" y="51502"/>
                  <a:pt x="39514" y="51468"/>
                </a:cubicBezTo>
                <a:cubicBezTo>
                  <a:pt x="34759" y="51335"/>
                  <a:pt x="29803" y="50899"/>
                  <a:pt x="24646" y="50029"/>
                </a:cubicBezTo>
                <a:cubicBezTo>
                  <a:pt x="22972" y="49761"/>
                  <a:pt x="21465" y="51033"/>
                  <a:pt x="21465" y="52707"/>
                </a:cubicBezTo>
                <a:lnTo>
                  <a:pt x="21431" y="66973"/>
                </a:lnTo>
                <a:cubicBezTo>
                  <a:pt x="21431" y="68446"/>
                  <a:pt x="22637" y="69685"/>
                  <a:pt x="24110" y="69484"/>
                </a:cubicBezTo>
                <a:cubicBezTo>
                  <a:pt x="32549" y="68446"/>
                  <a:pt x="39480" y="62485"/>
                  <a:pt x="41925" y="54549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5" name="Text 13"/>
          <p:cNvSpPr/>
          <p:nvPr/>
        </p:nvSpPr>
        <p:spPr>
          <a:xfrm>
            <a:off x="962025" y="3028829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Expensive Hardware Requirements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333629"/>
            <a:ext cx="5143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is </a:t>
            </a:r>
            <a:r>
              <a:rPr lang="en-US" sz="1200" dirty="0">
                <a:solidFill>
                  <a:srgbClr val="8D99AE"/>
                </a:solidFill>
                <a:highlight>
                  <a:srgbClr val="8D99AE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prohibitively expensive 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0" y="1447800"/>
            <a:ext cx="5619750" cy="2714625"/>
          </a:xfrm>
          <a:custGeom>
            <a:avLst/>
            <a:gdLst/>
            <a:ahLst/>
            <a:cxnLst/>
            <a:rect l="l" t="t" r="r" b="b"/>
            <a:pathLst>
              <a:path w="5619750" h="2714625">
                <a:moveTo>
                  <a:pt x="38100" y="0"/>
                </a:moveTo>
                <a:lnTo>
                  <a:pt x="5543550" y="0"/>
                </a:lnTo>
                <a:cubicBezTo>
                  <a:pt x="5585634" y="0"/>
                  <a:pt x="5619750" y="34116"/>
                  <a:pt x="5619750" y="76200"/>
                </a:cubicBezTo>
                <a:lnTo>
                  <a:pt x="5619750" y="2638425"/>
                </a:lnTo>
                <a:cubicBezTo>
                  <a:pt x="5619750" y="2680509"/>
                  <a:pt x="5585634" y="2714625"/>
                  <a:pt x="5543550" y="2714625"/>
                </a:cubicBezTo>
                <a:lnTo>
                  <a:pt x="38100" y="2714625"/>
                </a:lnTo>
                <a:cubicBezTo>
                  <a:pt x="17072" y="2714625"/>
                  <a:pt x="0" y="2697553"/>
                  <a:pt x="0" y="2676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1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6191250" y="1447800"/>
            <a:ext cx="38100" cy="2714625"/>
          </a:xfrm>
          <a:custGeom>
            <a:avLst/>
            <a:gdLst/>
            <a:ahLst/>
            <a:cxnLst/>
            <a:rect l="l" t="t" r="r" b="b"/>
            <a:pathLst>
              <a:path w="38100" h="2714625">
                <a:moveTo>
                  <a:pt x="38100" y="0"/>
                </a:moveTo>
                <a:lnTo>
                  <a:pt x="38100" y="0"/>
                </a:lnTo>
                <a:lnTo>
                  <a:pt x="38100" y="2714625"/>
                </a:lnTo>
                <a:lnTo>
                  <a:pt x="38100" y="2714625"/>
                </a:lnTo>
                <a:cubicBezTo>
                  <a:pt x="17072" y="2714625"/>
                  <a:pt x="0" y="2697553"/>
                  <a:pt x="0" y="2676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9850" y="163817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0" name="Text 18"/>
          <p:cNvSpPr/>
          <p:nvPr/>
        </p:nvSpPr>
        <p:spPr>
          <a:xfrm>
            <a:off x="6648450" y="1600200"/>
            <a:ext cx="512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Urgent Need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2700" y="2019179"/>
            <a:ext cx="5381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new paradigm is needed to transform traffic management.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1750" y="2412085"/>
            <a:ext cx="5276850" cy="762000"/>
          </a:xfrm>
          <a:custGeom>
            <a:avLst/>
            <a:gdLst/>
            <a:ahLst/>
            <a:cxnLst/>
            <a:rect l="l" t="t" r="r" b="b"/>
            <a:pathLst>
              <a:path w="5276850" h="762000">
                <a:moveTo>
                  <a:pt x="38100" y="0"/>
                </a:moveTo>
                <a:lnTo>
                  <a:pt x="5200650" y="0"/>
                </a:lnTo>
                <a:cubicBezTo>
                  <a:pt x="5242706" y="0"/>
                  <a:pt x="5276850" y="34144"/>
                  <a:pt x="5276850" y="76200"/>
                </a:cubicBezTo>
                <a:lnTo>
                  <a:pt x="5276850" y="685800"/>
                </a:lnTo>
                <a:cubicBezTo>
                  <a:pt x="5276850" y="727856"/>
                  <a:pt x="5242706" y="762000"/>
                  <a:pt x="52006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6381750" y="241208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4" name="Text 22"/>
          <p:cNvSpPr/>
          <p:nvPr/>
        </p:nvSpPr>
        <p:spPr>
          <a:xfrm>
            <a:off x="6515100" y="2526385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Congestion Prediction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5100" y="2831185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conditions before they happen.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1750" y="3250285"/>
            <a:ext cx="5276850" cy="762000"/>
          </a:xfrm>
          <a:custGeom>
            <a:avLst/>
            <a:gdLst/>
            <a:ahLst/>
            <a:cxnLst/>
            <a:rect l="l" t="t" r="r" b="b"/>
            <a:pathLst>
              <a:path w="5276850" h="762000">
                <a:moveTo>
                  <a:pt x="38100" y="0"/>
                </a:moveTo>
                <a:lnTo>
                  <a:pt x="5200650" y="0"/>
                </a:lnTo>
                <a:cubicBezTo>
                  <a:pt x="5242706" y="0"/>
                  <a:pt x="5276850" y="34144"/>
                  <a:pt x="5276850" y="76200"/>
                </a:cubicBezTo>
                <a:lnTo>
                  <a:pt x="5276850" y="685800"/>
                </a:lnTo>
                <a:cubicBezTo>
                  <a:pt x="5276850" y="727856"/>
                  <a:pt x="5242706" y="762000"/>
                  <a:pt x="52006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6381750" y="325028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8" name="Text 26"/>
          <p:cNvSpPr/>
          <p:nvPr/>
        </p:nvSpPr>
        <p:spPr>
          <a:xfrm>
            <a:off x="6515100" y="3364585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Low-Cost &amp; Scalable Solution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15100" y="3669385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Affordable and easy to deploy widely.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4278985"/>
            <a:ext cx="11430000" cy="1981200"/>
          </a:xfrm>
          <a:custGeom>
            <a:avLst/>
            <a:gdLst/>
            <a:ahLst/>
            <a:cxnLst/>
            <a:rect l="l" t="t" r="r" b="b"/>
            <a:pathLst>
              <a:path w="11430000" h="19812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905003"/>
                </a:lnTo>
                <a:cubicBezTo>
                  <a:pt x="11430000" y="1947085"/>
                  <a:pt x="11395885" y="1981200"/>
                  <a:pt x="11353803" y="1981200"/>
                </a:cubicBezTo>
                <a:lnTo>
                  <a:pt x="76197" y="1981200"/>
                </a:lnTo>
                <a:cubicBezTo>
                  <a:pt x="34115" y="1981200"/>
                  <a:pt x="0" y="1947085"/>
                  <a:pt x="0" y="19050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/>
              </a:gs>
              <a:gs pos="100000">
                <a:srgbClr val="4A6C8C"/>
              </a:gs>
            </a:gsLst>
            <a:lin ang="0" scaled="1"/>
          </a:gradFill>
          <a:ln/>
        </p:spPr>
      </p:sp>
      <p:sp>
        <p:nvSpPr>
          <p:cNvPr id="31" name="Text 29"/>
          <p:cNvSpPr/>
          <p:nvPr/>
        </p:nvSpPr>
        <p:spPr>
          <a:xfrm>
            <a:off x="476250" y="4431385"/>
            <a:ext cx="1123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Proposed Solution Shift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3400" y="4850369"/>
            <a:ext cx="3609975" cy="1257300"/>
          </a:xfrm>
          <a:custGeom>
            <a:avLst/>
            <a:gdLst/>
            <a:ahLst/>
            <a:cxnLst/>
            <a:rect l="l" t="t" r="r" b="b"/>
            <a:pathLst>
              <a:path w="3609975" h="1257300">
                <a:moveTo>
                  <a:pt x="76205" y="0"/>
                </a:moveTo>
                <a:lnTo>
                  <a:pt x="3533770" y="0"/>
                </a:lnTo>
                <a:cubicBezTo>
                  <a:pt x="3575857" y="0"/>
                  <a:pt x="3609975" y="34118"/>
                  <a:pt x="3609975" y="76205"/>
                </a:cubicBezTo>
                <a:lnTo>
                  <a:pt x="3609975" y="1181095"/>
                </a:lnTo>
                <a:cubicBezTo>
                  <a:pt x="3609975" y="1223182"/>
                  <a:pt x="3575857" y="1257300"/>
                  <a:pt x="35337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Shape 31"/>
          <p:cNvSpPr/>
          <p:nvPr/>
        </p:nvSpPr>
        <p:spPr>
          <a:xfrm>
            <a:off x="2143839" y="5002769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92881" y="42863"/>
                </a:moveTo>
                <a:cubicBezTo>
                  <a:pt x="263872" y="42863"/>
                  <a:pt x="321469" y="100459"/>
                  <a:pt x="321469" y="171450"/>
                </a:cubicBezTo>
                <a:cubicBezTo>
                  <a:pt x="321469" y="242441"/>
                  <a:pt x="263872" y="300038"/>
                  <a:pt x="192881" y="300038"/>
                </a:cubicBezTo>
                <a:cubicBezTo>
                  <a:pt x="149215" y="300038"/>
                  <a:pt x="110572" y="278271"/>
                  <a:pt x="87332" y="244919"/>
                </a:cubicBezTo>
                <a:cubicBezTo>
                  <a:pt x="80568" y="235208"/>
                  <a:pt x="67174" y="232864"/>
                  <a:pt x="57463" y="239628"/>
                </a:cubicBezTo>
                <a:cubicBezTo>
                  <a:pt x="47752" y="246392"/>
                  <a:pt x="45407" y="259787"/>
                  <a:pt x="52172" y="269498"/>
                </a:cubicBezTo>
                <a:cubicBezTo>
                  <a:pt x="83113" y="313834"/>
                  <a:pt x="134615" y="342900"/>
                  <a:pt x="192881" y="342900"/>
                </a:cubicBezTo>
                <a:cubicBezTo>
                  <a:pt x="287581" y="342900"/>
                  <a:pt x="364331" y="266149"/>
                  <a:pt x="364331" y="171450"/>
                </a:cubicBezTo>
                <a:cubicBezTo>
                  <a:pt x="364331" y="76751"/>
                  <a:pt x="287581" y="0"/>
                  <a:pt x="192881" y="0"/>
                </a:cubicBezTo>
                <a:cubicBezTo>
                  <a:pt x="135486" y="0"/>
                  <a:pt x="84720" y="28195"/>
                  <a:pt x="53578" y="71460"/>
                </a:cubicBezTo>
                <a:lnTo>
                  <a:pt x="53578" y="53578"/>
                </a:lnTo>
                <a:cubicBezTo>
                  <a:pt x="53578" y="41724"/>
                  <a:pt x="44001" y="32147"/>
                  <a:pt x="32147" y="32147"/>
                </a:cubicBezTo>
                <a:cubicBezTo>
                  <a:pt x="20293" y="32147"/>
                  <a:pt x="10716" y="41724"/>
                  <a:pt x="10716" y="53578"/>
                </a:cubicBezTo>
                <a:lnTo>
                  <a:pt x="10716" y="128588"/>
                </a:lnTo>
                <a:cubicBezTo>
                  <a:pt x="10716" y="140442"/>
                  <a:pt x="20293" y="150019"/>
                  <a:pt x="32147" y="150019"/>
                </a:cubicBezTo>
                <a:lnTo>
                  <a:pt x="48622" y="150019"/>
                </a:lnTo>
                <a:cubicBezTo>
                  <a:pt x="48957" y="150019"/>
                  <a:pt x="49292" y="150019"/>
                  <a:pt x="49627" y="150019"/>
                </a:cubicBezTo>
                <a:lnTo>
                  <a:pt x="107223" y="150019"/>
                </a:lnTo>
                <a:cubicBezTo>
                  <a:pt x="119077" y="150019"/>
                  <a:pt x="128654" y="140442"/>
                  <a:pt x="128654" y="128588"/>
                </a:cubicBezTo>
                <a:cubicBezTo>
                  <a:pt x="128654" y="116733"/>
                  <a:pt x="119077" y="107156"/>
                  <a:pt x="107223" y="107156"/>
                </a:cubicBezTo>
                <a:lnTo>
                  <a:pt x="81573" y="107156"/>
                </a:lnTo>
                <a:cubicBezTo>
                  <a:pt x="103741" y="68714"/>
                  <a:pt x="145331" y="42863"/>
                  <a:pt x="192881" y="42863"/>
                </a:cubicBezTo>
                <a:close/>
                <a:moveTo>
                  <a:pt x="208955" y="101798"/>
                </a:moveTo>
                <a:cubicBezTo>
                  <a:pt x="208955" y="92891"/>
                  <a:pt x="201789" y="85725"/>
                  <a:pt x="192881" y="85725"/>
                </a:cubicBezTo>
                <a:cubicBezTo>
                  <a:pt x="183974" y="85725"/>
                  <a:pt x="176808" y="92891"/>
                  <a:pt x="176808" y="101798"/>
                </a:cubicBezTo>
                <a:lnTo>
                  <a:pt x="176808" y="171450"/>
                </a:lnTo>
                <a:cubicBezTo>
                  <a:pt x="176808" y="175736"/>
                  <a:pt x="178482" y="179822"/>
                  <a:pt x="181496" y="182835"/>
                </a:cubicBezTo>
                <a:lnTo>
                  <a:pt x="229716" y="231056"/>
                </a:lnTo>
                <a:cubicBezTo>
                  <a:pt x="236012" y="237351"/>
                  <a:pt x="246191" y="237351"/>
                  <a:pt x="252420" y="231056"/>
                </a:cubicBezTo>
                <a:cubicBezTo>
                  <a:pt x="258648" y="224760"/>
                  <a:pt x="258715" y="214580"/>
                  <a:pt x="252420" y="208352"/>
                </a:cubicBezTo>
                <a:lnTo>
                  <a:pt x="208888" y="164820"/>
                </a:lnTo>
                <a:lnTo>
                  <a:pt x="208888" y="101798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4" name="Text 32"/>
          <p:cNvSpPr/>
          <p:nvPr/>
        </p:nvSpPr>
        <p:spPr>
          <a:xfrm>
            <a:off x="642938" y="5421869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Data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" y="5726669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existing archives.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92560" y="4850369"/>
            <a:ext cx="3609975" cy="1257300"/>
          </a:xfrm>
          <a:custGeom>
            <a:avLst/>
            <a:gdLst/>
            <a:ahLst/>
            <a:cxnLst/>
            <a:rect l="l" t="t" r="r" b="b"/>
            <a:pathLst>
              <a:path w="3609975" h="1257300">
                <a:moveTo>
                  <a:pt x="76205" y="0"/>
                </a:moveTo>
                <a:lnTo>
                  <a:pt x="3533770" y="0"/>
                </a:lnTo>
                <a:cubicBezTo>
                  <a:pt x="3575857" y="0"/>
                  <a:pt x="3609975" y="34118"/>
                  <a:pt x="3609975" y="76205"/>
                </a:cubicBezTo>
                <a:lnTo>
                  <a:pt x="3609975" y="1181095"/>
                </a:lnTo>
                <a:cubicBezTo>
                  <a:pt x="3609975" y="1223182"/>
                  <a:pt x="3575857" y="1257300"/>
                  <a:pt x="35337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Shape 35"/>
          <p:cNvSpPr/>
          <p:nvPr/>
        </p:nvSpPr>
        <p:spPr>
          <a:xfrm>
            <a:off x="5924431" y="500276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8" name="Text 36"/>
          <p:cNvSpPr/>
          <p:nvPr/>
        </p:nvSpPr>
        <p:spPr>
          <a:xfrm>
            <a:off x="4402098" y="5421869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Prediction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06860" y="5726669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congestion.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51721" y="4850369"/>
            <a:ext cx="3609975" cy="1257300"/>
          </a:xfrm>
          <a:custGeom>
            <a:avLst/>
            <a:gdLst/>
            <a:ahLst/>
            <a:cxnLst/>
            <a:rect l="l" t="t" r="r" b="b"/>
            <a:pathLst>
              <a:path w="3609975" h="1257300">
                <a:moveTo>
                  <a:pt x="76205" y="0"/>
                </a:moveTo>
                <a:lnTo>
                  <a:pt x="3533770" y="0"/>
                </a:lnTo>
                <a:cubicBezTo>
                  <a:pt x="3575857" y="0"/>
                  <a:pt x="3609975" y="34118"/>
                  <a:pt x="3609975" y="76205"/>
                </a:cubicBezTo>
                <a:lnTo>
                  <a:pt x="3609975" y="1181095"/>
                </a:lnTo>
                <a:cubicBezTo>
                  <a:pt x="3609975" y="1223182"/>
                  <a:pt x="3575857" y="1257300"/>
                  <a:pt x="35337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9748004" y="5002769"/>
            <a:ext cx="214313" cy="342900"/>
          </a:xfrm>
          <a:custGeom>
            <a:avLst/>
            <a:gdLst/>
            <a:ahLst/>
            <a:cxnLst/>
            <a:rect l="l" t="t" r="r" b="b"/>
            <a:pathLst>
              <a:path w="214313" h="342900">
                <a:moveTo>
                  <a:pt x="42863" y="-21431"/>
                </a:moveTo>
                <a:cubicBezTo>
                  <a:pt x="19221" y="-21431"/>
                  <a:pt x="0" y="-2210"/>
                  <a:pt x="0" y="21431"/>
                </a:cubicBezTo>
                <a:lnTo>
                  <a:pt x="0" y="257175"/>
                </a:lnTo>
                <a:cubicBezTo>
                  <a:pt x="0" y="316379"/>
                  <a:pt x="47952" y="364331"/>
                  <a:pt x="107156" y="364331"/>
                </a:cubicBezTo>
                <a:cubicBezTo>
                  <a:pt x="166360" y="364331"/>
                  <a:pt x="214313" y="316379"/>
                  <a:pt x="214313" y="257175"/>
                </a:cubicBezTo>
                <a:lnTo>
                  <a:pt x="214313" y="21431"/>
                </a:lnTo>
                <a:cubicBezTo>
                  <a:pt x="214313" y="-2210"/>
                  <a:pt x="195091" y="-21431"/>
                  <a:pt x="171450" y="-21431"/>
                </a:cubicBezTo>
                <a:lnTo>
                  <a:pt x="42863" y="-21431"/>
                </a:lnTo>
                <a:close/>
                <a:moveTo>
                  <a:pt x="107156" y="241102"/>
                </a:moveTo>
                <a:cubicBezTo>
                  <a:pt x="127851" y="241102"/>
                  <a:pt x="144661" y="257912"/>
                  <a:pt x="144661" y="278606"/>
                </a:cubicBezTo>
                <a:cubicBezTo>
                  <a:pt x="144661" y="299301"/>
                  <a:pt x="127851" y="316111"/>
                  <a:pt x="107156" y="316111"/>
                </a:cubicBezTo>
                <a:cubicBezTo>
                  <a:pt x="86462" y="316111"/>
                  <a:pt x="69652" y="299301"/>
                  <a:pt x="69652" y="278606"/>
                </a:cubicBezTo>
                <a:cubicBezTo>
                  <a:pt x="69652" y="257912"/>
                  <a:pt x="86462" y="241102"/>
                  <a:pt x="107156" y="241102"/>
                </a:cubicBezTo>
                <a:close/>
                <a:moveTo>
                  <a:pt x="144661" y="171450"/>
                </a:moveTo>
                <a:cubicBezTo>
                  <a:pt x="144661" y="192149"/>
                  <a:pt x="127856" y="208955"/>
                  <a:pt x="107156" y="208955"/>
                </a:cubicBezTo>
                <a:cubicBezTo>
                  <a:pt x="86457" y="208955"/>
                  <a:pt x="69652" y="192149"/>
                  <a:pt x="69652" y="171450"/>
                </a:cubicBezTo>
                <a:cubicBezTo>
                  <a:pt x="69652" y="150751"/>
                  <a:pt x="86457" y="133945"/>
                  <a:pt x="107156" y="133945"/>
                </a:cubicBezTo>
                <a:cubicBezTo>
                  <a:pt x="127856" y="133945"/>
                  <a:pt x="144661" y="150751"/>
                  <a:pt x="144661" y="171450"/>
                </a:cubicBezTo>
                <a:close/>
                <a:moveTo>
                  <a:pt x="107156" y="101798"/>
                </a:moveTo>
                <a:cubicBezTo>
                  <a:pt x="86457" y="101798"/>
                  <a:pt x="69652" y="84993"/>
                  <a:pt x="69652" y="64294"/>
                </a:cubicBezTo>
                <a:cubicBezTo>
                  <a:pt x="69652" y="43594"/>
                  <a:pt x="86457" y="26789"/>
                  <a:pt x="107156" y="26789"/>
                </a:cubicBezTo>
                <a:cubicBezTo>
                  <a:pt x="127856" y="26789"/>
                  <a:pt x="144661" y="43594"/>
                  <a:pt x="144661" y="64294"/>
                </a:cubicBezTo>
                <a:cubicBezTo>
                  <a:pt x="144661" y="84993"/>
                  <a:pt x="127856" y="101798"/>
                  <a:pt x="107156" y="101798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2" name="Text 40"/>
          <p:cNvSpPr/>
          <p:nvPr/>
        </p:nvSpPr>
        <p:spPr>
          <a:xfrm>
            <a:off x="8161258" y="5421869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Optimization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66021" y="5726669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 before problems.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PROPOSED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Traffic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47800"/>
            <a:ext cx="11430000" cy="990600"/>
          </a:xfrm>
          <a:custGeom>
            <a:avLst/>
            <a:gdLst/>
            <a:ahLst/>
            <a:cxnLst/>
            <a:rect l="l" t="t" r="r" b="b"/>
            <a:pathLst>
              <a:path w="11430000" h="9906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914403"/>
                </a:lnTo>
                <a:cubicBezTo>
                  <a:pt x="11430000" y="956485"/>
                  <a:pt x="11395885" y="990600"/>
                  <a:pt x="113538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533400" y="1600200"/>
            <a:ext cx="1126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Congestion Prediction &amp; Signal Optimization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3400" y="2019300"/>
            <a:ext cx="1121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paradigm shift from reactive to </a:t>
            </a: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traffic management</a:t>
            </a: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2609850"/>
            <a:ext cx="3705225" cy="1314450"/>
          </a:xfrm>
          <a:custGeom>
            <a:avLst/>
            <a:gdLst/>
            <a:ahLst/>
            <a:cxnLst/>
            <a:rect l="l" t="t" r="r" b="b"/>
            <a:pathLst>
              <a:path w="3705225" h="13144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38251"/>
                </a:lnTo>
                <a:cubicBezTo>
                  <a:pt x="3705225" y="1280335"/>
                  <a:pt x="3671110" y="1314450"/>
                  <a:pt x="3629026" y="1314450"/>
                </a:cubicBezTo>
                <a:lnTo>
                  <a:pt x="76199" y="1314450"/>
                </a:lnTo>
                <a:cubicBezTo>
                  <a:pt x="34115" y="1314450"/>
                  <a:pt x="0" y="1280335"/>
                  <a:pt x="0" y="12382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9" name="Shape 7"/>
          <p:cNvSpPr/>
          <p:nvPr/>
        </p:nvSpPr>
        <p:spPr>
          <a:xfrm>
            <a:off x="381000" y="26098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0" name="Shape 8"/>
          <p:cNvSpPr/>
          <p:nvPr/>
        </p:nvSpPr>
        <p:spPr>
          <a:xfrm>
            <a:off x="2085142" y="278130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300038" y="137830"/>
                </a:moveTo>
                <a:cubicBezTo>
                  <a:pt x="290126" y="144393"/>
                  <a:pt x="278740" y="149684"/>
                  <a:pt x="266886" y="153903"/>
                </a:cubicBezTo>
                <a:cubicBezTo>
                  <a:pt x="235409" y="165155"/>
                  <a:pt x="194087" y="171450"/>
                  <a:pt x="150019" y="171450"/>
                </a:cubicBezTo>
                <a:cubicBezTo>
                  <a:pt x="105951" y="171450"/>
                  <a:pt x="64562" y="165088"/>
                  <a:pt x="33151" y="153903"/>
                </a:cubicBezTo>
                <a:cubicBezTo>
                  <a:pt x="21364" y="149684"/>
                  <a:pt x="9912" y="144393"/>
                  <a:pt x="0" y="137830"/>
                </a:cubicBezTo>
                <a:lnTo>
                  <a:pt x="0" y="192881"/>
                </a:lnTo>
                <a:cubicBezTo>
                  <a:pt x="0" y="222483"/>
                  <a:pt x="67174" y="246459"/>
                  <a:pt x="150019" y="246459"/>
                </a:cubicBezTo>
                <a:cubicBezTo>
                  <a:pt x="232864" y="246459"/>
                  <a:pt x="300038" y="222483"/>
                  <a:pt x="300038" y="192881"/>
                </a:cubicBezTo>
                <a:lnTo>
                  <a:pt x="300038" y="137830"/>
                </a:lnTo>
                <a:close/>
                <a:moveTo>
                  <a:pt x="300038" y="85725"/>
                </a:moveTo>
                <a:lnTo>
                  <a:pt x="300038" y="53578"/>
                </a:lnTo>
                <a:cubicBezTo>
                  <a:pt x="300038" y="23976"/>
                  <a:pt x="232864" y="0"/>
                  <a:pt x="150019" y="0"/>
                </a:cubicBezTo>
                <a:cubicBezTo>
                  <a:pt x="67174" y="0"/>
                  <a:pt x="0" y="23976"/>
                  <a:pt x="0" y="53578"/>
                </a:cubicBezTo>
                <a:lnTo>
                  <a:pt x="0" y="85725"/>
                </a:lnTo>
                <a:cubicBezTo>
                  <a:pt x="0" y="115327"/>
                  <a:pt x="67174" y="139303"/>
                  <a:pt x="150019" y="139303"/>
                </a:cubicBezTo>
                <a:cubicBezTo>
                  <a:pt x="232864" y="139303"/>
                  <a:pt x="300038" y="115327"/>
                  <a:pt x="300038" y="85725"/>
                </a:cubicBezTo>
                <a:close/>
                <a:moveTo>
                  <a:pt x="266886" y="261059"/>
                </a:moveTo>
                <a:cubicBezTo>
                  <a:pt x="235476" y="272244"/>
                  <a:pt x="194154" y="278606"/>
                  <a:pt x="150019" y="278606"/>
                </a:cubicBezTo>
                <a:cubicBezTo>
                  <a:pt x="105884" y="278606"/>
                  <a:pt x="64562" y="272244"/>
                  <a:pt x="33151" y="261059"/>
                </a:cubicBezTo>
                <a:cubicBezTo>
                  <a:pt x="21364" y="256840"/>
                  <a:pt x="9912" y="251549"/>
                  <a:pt x="0" y="244986"/>
                </a:cubicBezTo>
                <a:lnTo>
                  <a:pt x="0" y="289322"/>
                </a:lnTo>
                <a:cubicBezTo>
                  <a:pt x="0" y="318924"/>
                  <a:pt x="67174" y="342900"/>
                  <a:pt x="150019" y="342900"/>
                </a:cubicBezTo>
                <a:cubicBezTo>
                  <a:pt x="232864" y="342900"/>
                  <a:pt x="300038" y="318924"/>
                  <a:pt x="300038" y="289322"/>
                </a:cubicBezTo>
                <a:lnTo>
                  <a:pt x="300038" y="244986"/>
                </a:lnTo>
                <a:cubicBezTo>
                  <a:pt x="290126" y="251549"/>
                  <a:pt x="278740" y="256840"/>
                  <a:pt x="266886" y="261059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1" name="Text 9"/>
          <p:cNvSpPr/>
          <p:nvPr/>
        </p:nvSpPr>
        <p:spPr>
          <a:xfrm>
            <a:off x="485775" y="32004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300" y="35433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 traffic records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1721" y="2609850"/>
            <a:ext cx="3705225" cy="1314450"/>
          </a:xfrm>
          <a:custGeom>
            <a:avLst/>
            <a:gdLst/>
            <a:ahLst/>
            <a:cxnLst/>
            <a:rect l="l" t="t" r="r" b="b"/>
            <a:pathLst>
              <a:path w="3705225" h="13144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38251"/>
                </a:lnTo>
                <a:cubicBezTo>
                  <a:pt x="3705225" y="1280335"/>
                  <a:pt x="3671110" y="1314450"/>
                  <a:pt x="3629026" y="1314450"/>
                </a:cubicBezTo>
                <a:lnTo>
                  <a:pt x="76199" y="1314450"/>
                </a:lnTo>
                <a:cubicBezTo>
                  <a:pt x="34115" y="1314450"/>
                  <a:pt x="0" y="1280335"/>
                  <a:pt x="0" y="12382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14" name="Shape 12"/>
          <p:cNvSpPr/>
          <p:nvPr/>
        </p:nvSpPr>
        <p:spPr>
          <a:xfrm>
            <a:off x="4241721" y="26098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4431" y="2781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ubicBezTo>
                  <a:pt x="0" y="76824"/>
                  <a:pt x="76824" y="0"/>
                  <a:pt x="171450" y="0"/>
                </a:cubicBezTo>
                <a:close/>
                <a:moveTo>
                  <a:pt x="155377" y="80367"/>
                </a:moveTo>
                <a:lnTo>
                  <a:pt x="155377" y="171450"/>
                </a:lnTo>
                <a:cubicBezTo>
                  <a:pt x="155377" y="176808"/>
                  <a:pt x="158055" y="181831"/>
                  <a:pt x="162543" y="184845"/>
                </a:cubicBezTo>
                <a:lnTo>
                  <a:pt x="226836" y="227707"/>
                </a:lnTo>
                <a:cubicBezTo>
                  <a:pt x="234203" y="232663"/>
                  <a:pt x="244182" y="230654"/>
                  <a:pt x="249138" y="223220"/>
                </a:cubicBezTo>
                <a:cubicBezTo>
                  <a:pt x="254094" y="215786"/>
                  <a:pt x="252085" y="205874"/>
                  <a:pt x="244651" y="200918"/>
                </a:cubicBezTo>
                <a:lnTo>
                  <a:pt x="187523" y="162878"/>
                </a:lnTo>
                <a:lnTo>
                  <a:pt x="187523" y="80367"/>
                </a:lnTo>
                <a:cubicBezTo>
                  <a:pt x="187523" y="71460"/>
                  <a:pt x="180357" y="64294"/>
                  <a:pt x="171450" y="64294"/>
                </a:cubicBezTo>
                <a:cubicBezTo>
                  <a:pt x="162543" y="64294"/>
                  <a:pt x="155377" y="71460"/>
                  <a:pt x="155377" y="80367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6" name="Text 14"/>
          <p:cNvSpPr/>
          <p:nvPr/>
        </p:nvSpPr>
        <p:spPr>
          <a:xfrm>
            <a:off x="4346496" y="32004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Patterns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56021" y="35433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Cyclical patterns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02561" y="2609850"/>
            <a:ext cx="3705225" cy="1314450"/>
          </a:xfrm>
          <a:custGeom>
            <a:avLst/>
            <a:gdLst/>
            <a:ahLst/>
            <a:cxnLst/>
            <a:rect l="l" t="t" r="r" b="b"/>
            <a:pathLst>
              <a:path w="3705225" h="13144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38251"/>
                </a:lnTo>
                <a:cubicBezTo>
                  <a:pt x="3705225" y="1280335"/>
                  <a:pt x="3671110" y="1314450"/>
                  <a:pt x="3629026" y="1314450"/>
                </a:cubicBezTo>
                <a:lnTo>
                  <a:pt x="76199" y="1314450"/>
                </a:lnTo>
                <a:cubicBezTo>
                  <a:pt x="34115" y="1314450"/>
                  <a:pt x="0" y="1280335"/>
                  <a:pt x="0" y="12382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2561" y="26098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0" name="Shape 18"/>
          <p:cNvSpPr/>
          <p:nvPr/>
        </p:nvSpPr>
        <p:spPr>
          <a:xfrm>
            <a:off x="9785271" y="2781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1" name="Text 19"/>
          <p:cNvSpPr/>
          <p:nvPr/>
        </p:nvSpPr>
        <p:spPr>
          <a:xfrm>
            <a:off x="8207336" y="32004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Prediction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16861" y="35433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Forecasting models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4076700"/>
            <a:ext cx="5619750" cy="1524000"/>
          </a:xfrm>
          <a:custGeom>
            <a:avLst/>
            <a:gdLst/>
            <a:ahLst/>
            <a:cxnLst/>
            <a:rect l="l" t="t" r="r" b="b"/>
            <a:pathLst>
              <a:path w="5619750" h="15240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447800"/>
                </a:lnTo>
                <a:cubicBezTo>
                  <a:pt x="5619750" y="1489856"/>
                  <a:pt x="5585606" y="1524000"/>
                  <a:pt x="55435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400050" y="40767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5" name="Shape 23"/>
          <p:cNvSpPr/>
          <p:nvPr/>
        </p:nvSpPr>
        <p:spPr>
          <a:xfrm>
            <a:off x="595313" y="4267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6" name="Text 24"/>
          <p:cNvSpPr/>
          <p:nvPr/>
        </p:nvSpPr>
        <p:spPr>
          <a:xfrm>
            <a:off x="809625" y="42291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Capabilities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46101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traffic volume: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 vehicle numbers.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49149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peak periods: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 rush hours.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52197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 congestion probability: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Assess risk.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1250" y="4076700"/>
            <a:ext cx="5619750" cy="1524000"/>
          </a:xfrm>
          <a:custGeom>
            <a:avLst/>
            <a:gdLst/>
            <a:ahLst/>
            <a:cxnLst/>
            <a:rect l="l" t="t" r="r" b="b"/>
            <a:pathLst>
              <a:path w="5619750" h="15240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447800"/>
                </a:lnTo>
                <a:cubicBezTo>
                  <a:pt x="5619750" y="1489856"/>
                  <a:pt x="5585606" y="1524000"/>
                  <a:pt x="55435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CB5A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6191250" y="40767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2231" y="426720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23812" y="-11906"/>
                </a:moveTo>
                <a:cubicBezTo>
                  <a:pt x="10678" y="-11906"/>
                  <a:pt x="0" y="-1228"/>
                  <a:pt x="0" y="11906"/>
                </a:cubicBezTo>
                <a:lnTo>
                  <a:pt x="0" y="142875"/>
                </a:lnTo>
                <a:cubicBezTo>
                  <a:pt x="0" y="175766"/>
                  <a:pt x="26640" y="202406"/>
                  <a:pt x="59531" y="202406"/>
                </a:cubicBezTo>
                <a:cubicBezTo>
                  <a:pt x="92422" y="202406"/>
                  <a:pt x="119063" y="175766"/>
                  <a:pt x="119063" y="142875"/>
                </a:cubicBezTo>
                <a:lnTo>
                  <a:pt x="119063" y="11906"/>
                </a:lnTo>
                <a:cubicBezTo>
                  <a:pt x="119063" y="-1228"/>
                  <a:pt x="108384" y="-11906"/>
                  <a:pt x="95250" y="-11906"/>
                </a:cubicBezTo>
                <a:lnTo>
                  <a:pt x="23812" y="-11906"/>
                </a:lnTo>
                <a:close/>
                <a:moveTo>
                  <a:pt x="59531" y="133945"/>
                </a:moveTo>
                <a:cubicBezTo>
                  <a:pt x="71028" y="133945"/>
                  <a:pt x="80367" y="143284"/>
                  <a:pt x="80367" y="154781"/>
                </a:cubicBezTo>
                <a:cubicBezTo>
                  <a:pt x="80367" y="166278"/>
                  <a:pt x="71028" y="175617"/>
                  <a:pt x="59531" y="175617"/>
                </a:cubicBezTo>
                <a:cubicBezTo>
                  <a:pt x="48034" y="175617"/>
                  <a:pt x="38695" y="166278"/>
                  <a:pt x="38695" y="154781"/>
                </a:cubicBezTo>
                <a:cubicBezTo>
                  <a:pt x="38695" y="143284"/>
                  <a:pt x="48034" y="133945"/>
                  <a:pt x="59531" y="133945"/>
                </a:cubicBezTo>
                <a:close/>
                <a:moveTo>
                  <a:pt x="80367" y="95250"/>
                </a:moveTo>
                <a:cubicBezTo>
                  <a:pt x="80367" y="106750"/>
                  <a:pt x="71031" y="116086"/>
                  <a:pt x="59531" y="116086"/>
                </a:cubicBezTo>
                <a:cubicBezTo>
                  <a:pt x="48032" y="116086"/>
                  <a:pt x="38695" y="106750"/>
                  <a:pt x="38695" y="95250"/>
                </a:cubicBezTo>
                <a:cubicBezTo>
                  <a:pt x="38695" y="83750"/>
                  <a:pt x="48032" y="74414"/>
                  <a:pt x="59531" y="74414"/>
                </a:cubicBezTo>
                <a:cubicBezTo>
                  <a:pt x="71031" y="74414"/>
                  <a:pt x="80367" y="83750"/>
                  <a:pt x="80367" y="95250"/>
                </a:cubicBezTo>
                <a:close/>
                <a:moveTo>
                  <a:pt x="59531" y="56555"/>
                </a:moveTo>
                <a:cubicBezTo>
                  <a:pt x="48032" y="56555"/>
                  <a:pt x="38695" y="47218"/>
                  <a:pt x="38695" y="35719"/>
                </a:cubicBezTo>
                <a:cubicBezTo>
                  <a:pt x="38695" y="24219"/>
                  <a:pt x="48032" y="14883"/>
                  <a:pt x="59531" y="14883"/>
                </a:cubicBezTo>
                <a:cubicBezTo>
                  <a:pt x="71031" y="14883"/>
                  <a:pt x="80367" y="24219"/>
                  <a:pt x="80367" y="35719"/>
                </a:cubicBezTo>
                <a:cubicBezTo>
                  <a:pt x="80367" y="47218"/>
                  <a:pt x="71031" y="56555"/>
                  <a:pt x="59531" y="56555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3" name="Text 31"/>
          <p:cNvSpPr/>
          <p:nvPr/>
        </p:nvSpPr>
        <p:spPr>
          <a:xfrm>
            <a:off x="6600825" y="42291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Features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62700" y="46101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timing adjustment: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Adapt signal cycles.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62700" y="49149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 wave coordination: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smooth flow.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62700" y="52197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prioritization: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Clear paths for responders.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000" y="5753100"/>
            <a:ext cx="11430000" cy="514350"/>
          </a:xfrm>
          <a:custGeom>
            <a:avLst/>
            <a:gdLst/>
            <a:ahLst/>
            <a:cxnLst/>
            <a:rect l="l" t="t" r="r" b="b"/>
            <a:pathLst>
              <a:path w="11430000" h="514350">
                <a:moveTo>
                  <a:pt x="76201" y="0"/>
                </a:moveTo>
                <a:lnTo>
                  <a:pt x="11353799" y="0"/>
                </a:lnTo>
                <a:cubicBezTo>
                  <a:pt x="11395884" y="0"/>
                  <a:pt x="11430000" y="34116"/>
                  <a:pt x="11430000" y="76201"/>
                </a:cubicBezTo>
                <a:lnTo>
                  <a:pt x="11430000" y="438149"/>
                </a:lnTo>
                <a:cubicBezTo>
                  <a:pt x="11430000" y="480234"/>
                  <a:pt x="11395884" y="514350"/>
                  <a:pt x="11353799" y="514350"/>
                </a:cubicBezTo>
                <a:lnTo>
                  <a:pt x="76201" y="514350"/>
                </a:lnTo>
                <a:cubicBezTo>
                  <a:pt x="34116" y="514350"/>
                  <a:pt x="0" y="480234"/>
                  <a:pt x="0" y="4381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/>
              </a:gs>
              <a:gs pos="100000">
                <a:srgbClr val="4A6C8C"/>
              </a:gs>
            </a:gsLst>
            <a:lin ang="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569119" y="58674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Text 37"/>
          <p:cNvSpPr/>
          <p:nvPr/>
        </p:nvSpPr>
        <p:spPr>
          <a:xfrm>
            <a:off x="1004887" y="5876925"/>
            <a:ext cx="607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Innovation: Predicts congestion before it occurs, enabling preventive action.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INTELLIGENT TRAFFIC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Intelligence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4486275" cy="2895600"/>
          </a:xfrm>
          <a:custGeom>
            <a:avLst/>
            <a:gdLst/>
            <a:ahLst/>
            <a:cxnLst/>
            <a:rect l="l" t="t" r="r" b="b"/>
            <a:pathLst>
              <a:path w="4486275" h="2895600">
                <a:moveTo>
                  <a:pt x="38100" y="0"/>
                </a:moveTo>
                <a:lnTo>
                  <a:pt x="4410063" y="0"/>
                </a:lnTo>
                <a:cubicBezTo>
                  <a:pt x="4452154" y="0"/>
                  <a:pt x="4486275" y="34121"/>
                  <a:pt x="4486275" y="76212"/>
                </a:cubicBezTo>
                <a:lnTo>
                  <a:pt x="4486275" y="2819388"/>
                </a:lnTo>
                <a:cubicBezTo>
                  <a:pt x="4486275" y="2861479"/>
                  <a:pt x="4452154" y="2895600"/>
                  <a:pt x="4410063" y="2895600"/>
                </a:cubicBezTo>
                <a:lnTo>
                  <a:pt x="38100" y="2895600"/>
                </a:lnTo>
                <a:cubicBezTo>
                  <a:pt x="17072" y="2895600"/>
                  <a:pt x="0" y="2878528"/>
                  <a:pt x="0" y="2857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2B2D42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2895600"/>
          </a:xfrm>
          <a:custGeom>
            <a:avLst/>
            <a:gdLst/>
            <a:ahLst/>
            <a:cxnLst/>
            <a:rect l="l" t="t" r="r" b="b"/>
            <a:pathLst>
              <a:path w="38100" h="2895600">
                <a:moveTo>
                  <a:pt x="38100" y="0"/>
                </a:moveTo>
                <a:lnTo>
                  <a:pt x="38100" y="0"/>
                </a:lnTo>
                <a:lnTo>
                  <a:pt x="38100" y="2895600"/>
                </a:lnTo>
                <a:lnTo>
                  <a:pt x="38100" y="2895600"/>
                </a:lnTo>
                <a:cubicBezTo>
                  <a:pt x="17072" y="2895600"/>
                  <a:pt x="0" y="2878528"/>
                  <a:pt x="0" y="2857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" name="Shape 5"/>
          <p:cNvSpPr/>
          <p:nvPr/>
        </p:nvSpPr>
        <p:spPr>
          <a:xfrm>
            <a:off x="595313" y="1562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524000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Flow Dynamics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943100"/>
            <a:ext cx="4238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flow is highly </a:t>
            </a: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and context-dependent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varying significantly across multiple dimensions.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590800"/>
            <a:ext cx="4162425" cy="457200"/>
          </a:xfrm>
          <a:custGeom>
            <a:avLst/>
            <a:gdLst/>
            <a:ahLst/>
            <a:cxnLst/>
            <a:rect l="l" t="t" r="r" b="b"/>
            <a:pathLst>
              <a:path w="4162425" h="457200">
                <a:moveTo>
                  <a:pt x="38098" y="0"/>
                </a:moveTo>
                <a:lnTo>
                  <a:pt x="4124327" y="0"/>
                </a:lnTo>
                <a:cubicBezTo>
                  <a:pt x="4145368" y="0"/>
                  <a:pt x="4162425" y="17057"/>
                  <a:pt x="4162425" y="38098"/>
                </a:cubicBezTo>
                <a:lnTo>
                  <a:pt x="4162425" y="419102"/>
                </a:lnTo>
                <a:cubicBezTo>
                  <a:pt x="4162425" y="440143"/>
                  <a:pt x="4145368" y="457200"/>
                  <a:pt x="412432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Shape 9"/>
          <p:cNvSpPr/>
          <p:nvPr/>
        </p:nvSpPr>
        <p:spPr>
          <a:xfrm>
            <a:off x="697706" y="2724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6303" y="-3758"/>
                </a:moveTo>
                <a:cubicBezTo>
                  <a:pt x="69056" y="-4911"/>
                  <a:pt x="72182" y="-4576"/>
                  <a:pt x="74675" y="-2939"/>
                </a:cubicBezTo>
                <a:lnTo>
                  <a:pt x="107342" y="18715"/>
                </a:lnTo>
                <a:lnTo>
                  <a:pt x="140010" y="-2939"/>
                </a:lnTo>
                <a:cubicBezTo>
                  <a:pt x="142503" y="-4576"/>
                  <a:pt x="145628" y="-4874"/>
                  <a:pt x="148382" y="-3758"/>
                </a:cubicBezTo>
                <a:cubicBezTo>
                  <a:pt x="151135" y="-2642"/>
                  <a:pt x="153070" y="-186"/>
                  <a:pt x="153665" y="2716"/>
                </a:cubicBezTo>
                <a:lnTo>
                  <a:pt x="161441" y="41114"/>
                </a:lnTo>
                <a:lnTo>
                  <a:pt x="199839" y="48890"/>
                </a:lnTo>
                <a:cubicBezTo>
                  <a:pt x="202741" y="49485"/>
                  <a:pt x="205197" y="51495"/>
                  <a:pt x="206313" y="54211"/>
                </a:cubicBezTo>
                <a:cubicBezTo>
                  <a:pt x="207429" y="56927"/>
                  <a:pt x="207132" y="60089"/>
                  <a:pt x="205494" y="62582"/>
                </a:cubicBezTo>
                <a:lnTo>
                  <a:pt x="183840" y="95250"/>
                </a:lnTo>
                <a:lnTo>
                  <a:pt x="205494" y="127918"/>
                </a:lnTo>
                <a:cubicBezTo>
                  <a:pt x="207132" y="130411"/>
                  <a:pt x="207429" y="133536"/>
                  <a:pt x="206313" y="136289"/>
                </a:cubicBezTo>
                <a:cubicBezTo>
                  <a:pt x="205197" y="139043"/>
                  <a:pt x="202741" y="141052"/>
                  <a:pt x="199839" y="141610"/>
                </a:cubicBezTo>
                <a:lnTo>
                  <a:pt x="161404" y="149349"/>
                </a:lnTo>
                <a:lnTo>
                  <a:pt x="153665" y="187784"/>
                </a:lnTo>
                <a:cubicBezTo>
                  <a:pt x="153070" y="190686"/>
                  <a:pt x="151061" y="193142"/>
                  <a:pt x="148344" y="194258"/>
                </a:cubicBezTo>
                <a:cubicBezTo>
                  <a:pt x="145628" y="195374"/>
                  <a:pt x="142466" y="195076"/>
                  <a:pt x="139973" y="193439"/>
                </a:cubicBezTo>
                <a:lnTo>
                  <a:pt x="107305" y="171785"/>
                </a:lnTo>
                <a:lnTo>
                  <a:pt x="74637" y="193439"/>
                </a:lnTo>
                <a:cubicBezTo>
                  <a:pt x="72144" y="195076"/>
                  <a:pt x="69019" y="195374"/>
                  <a:pt x="66266" y="194258"/>
                </a:cubicBezTo>
                <a:cubicBezTo>
                  <a:pt x="63512" y="193142"/>
                  <a:pt x="61503" y="190686"/>
                  <a:pt x="60945" y="187784"/>
                </a:cubicBezTo>
                <a:lnTo>
                  <a:pt x="53206" y="149349"/>
                </a:lnTo>
                <a:lnTo>
                  <a:pt x="14771" y="141573"/>
                </a:lnTo>
                <a:cubicBezTo>
                  <a:pt x="11869" y="140977"/>
                  <a:pt x="9413" y="138968"/>
                  <a:pt x="8297" y="136252"/>
                </a:cubicBezTo>
                <a:cubicBezTo>
                  <a:pt x="7181" y="133536"/>
                  <a:pt x="7479" y="130373"/>
                  <a:pt x="9116" y="127881"/>
                </a:cubicBezTo>
                <a:lnTo>
                  <a:pt x="30770" y="95250"/>
                </a:lnTo>
                <a:lnTo>
                  <a:pt x="9116" y="62582"/>
                </a:lnTo>
                <a:cubicBezTo>
                  <a:pt x="7479" y="60089"/>
                  <a:pt x="7181" y="56964"/>
                  <a:pt x="8297" y="54211"/>
                </a:cubicBezTo>
                <a:cubicBezTo>
                  <a:pt x="9413" y="51457"/>
                  <a:pt x="11869" y="49448"/>
                  <a:pt x="14771" y="48890"/>
                </a:cubicBezTo>
                <a:lnTo>
                  <a:pt x="53206" y="41151"/>
                </a:lnTo>
                <a:lnTo>
                  <a:pt x="60982" y="2716"/>
                </a:lnTo>
                <a:cubicBezTo>
                  <a:pt x="61578" y="-186"/>
                  <a:pt x="63587" y="-2642"/>
                  <a:pt x="66303" y="-3758"/>
                </a:cubicBezTo>
                <a:close/>
                <a:moveTo>
                  <a:pt x="77242" y="95250"/>
                </a:moveTo>
                <a:cubicBezTo>
                  <a:pt x="77242" y="84563"/>
                  <a:pt x="82943" y="74687"/>
                  <a:pt x="92199" y="69343"/>
                </a:cubicBezTo>
                <a:cubicBezTo>
                  <a:pt x="101455" y="64000"/>
                  <a:pt x="112858" y="64000"/>
                  <a:pt x="122113" y="69343"/>
                </a:cubicBezTo>
                <a:cubicBezTo>
                  <a:pt x="131369" y="74687"/>
                  <a:pt x="137071" y="84563"/>
                  <a:pt x="137071" y="95250"/>
                </a:cubicBezTo>
                <a:cubicBezTo>
                  <a:pt x="137071" y="111760"/>
                  <a:pt x="123666" y="125164"/>
                  <a:pt x="107156" y="125164"/>
                </a:cubicBezTo>
                <a:cubicBezTo>
                  <a:pt x="90646" y="125164"/>
                  <a:pt x="77242" y="111760"/>
                  <a:pt x="77242" y="95250"/>
                </a:cubicBezTo>
                <a:close/>
                <a:moveTo>
                  <a:pt x="154930" y="95250"/>
                </a:moveTo>
                <a:cubicBezTo>
                  <a:pt x="154930" y="68883"/>
                  <a:pt x="133523" y="47476"/>
                  <a:pt x="107156" y="47476"/>
                </a:cubicBezTo>
                <a:cubicBezTo>
                  <a:pt x="80789" y="47476"/>
                  <a:pt x="59382" y="68883"/>
                  <a:pt x="59382" y="95250"/>
                </a:cubicBezTo>
                <a:cubicBezTo>
                  <a:pt x="59382" y="112318"/>
                  <a:pt x="68488" y="128089"/>
                  <a:pt x="83269" y="136623"/>
                </a:cubicBezTo>
                <a:cubicBezTo>
                  <a:pt x="98051" y="145157"/>
                  <a:pt x="116262" y="145157"/>
                  <a:pt x="131043" y="136623"/>
                </a:cubicBezTo>
                <a:cubicBezTo>
                  <a:pt x="145824" y="128089"/>
                  <a:pt x="154930" y="112318"/>
                  <a:pt x="154930" y="9525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38225" y="2705100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of day: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Morning/Evening peaks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124200"/>
            <a:ext cx="4162425" cy="457200"/>
          </a:xfrm>
          <a:custGeom>
            <a:avLst/>
            <a:gdLst/>
            <a:ahLst/>
            <a:cxnLst/>
            <a:rect l="l" t="t" r="r" b="b"/>
            <a:pathLst>
              <a:path w="4162425" h="457200">
                <a:moveTo>
                  <a:pt x="38098" y="0"/>
                </a:moveTo>
                <a:lnTo>
                  <a:pt x="4124327" y="0"/>
                </a:lnTo>
                <a:cubicBezTo>
                  <a:pt x="4145368" y="0"/>
                  <a:pt x="4162425" y="17057"/>
                  <a:pt x="4162425" y="38098"/>
                </a:cubicBezTo>
                <a:lnTo>
                  <a:pt x="4162425" y="419102"/>
                </a:lnTo>
                <a:cubicBezTo>
                  <a:pt x="4162425" y="440143"/>
                  <a:pt x="4145368" y="457200"/>
                  <a:pt x="412432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2"/>
          <p:cNvSpPr/>
          <p:nvPr/>
        </p:nvSpPr>
        <p:spPr>
          <a:xfrm>
            <a:off x="721519" y="3257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47625" y="95250"/>
                </a:moveTo>
                <a:cubicBezTo>
                  <a:pt x="41039" y="95250"/>
                  <a:pt x="35719" y="100571"/>
                  <a:pt x="35719" y="107156"/>
                </a:cubicBezTo>
                <a:lnTo>
                  <a:pt x="35719" y="130969"/>
                </a:lnTo>
                <a:cubicBezTo>
                  <a:pt x="35719" y="137554"/>
                  <a:pt x="41039" y="142875"/>
                  <a:pt x="47625" y="142875"/>
                </a:cubicBezTo>
                <a:lnTo>
                  <a:pt x="119063" y="142875"/>
                </a:lnTo>
                <a:cubicBezTo>
                  <a:pt x="125648" y="142875"/>
                  <a:pt x="130969" y="137554"/>
                  <a:pt x="130969" y="130969"/>
                </a:cubicBezTo>
                <a:lnTo>
                  <a:pt x="130969" y="107156"/>
                </a:lnTo>
                <a:cubicBezTo>
                  <a:pt x="130969" y="100571"/>
                  <a:pt x="125648" y="95250"/>
                  <a:pt x="119063" y="95250"/>
                </a:cubicBezTo>
                <a:lnTo>
                  <a:pt x="47625" y="9525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5" name="Text 13"/>
          <p:cNvSpPr/>
          <p:nvPr/>
        </p:nvSpPr>
        <p:spPr>
          <a:xfrm>
            <a:off x="1038225" y="3238500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of week: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Weekdays vs Weekends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3657600"/>
            <a:ext cx="4162425" cy="457200"/>
          </a:xfrm>
          <a:custGeom>
            <a:avLst/>
            <a:gdLst/>
            <a:ahLst/>
            <a:cxnLst/>
            <a:rect l="l" t="t" r="r" b="b"/>
            <a:pathLst>
              <a:path w="4162425" h="457200">
                <a:moveTo>
                  <a:pt x="38098" y="0"/>
                </a:moveTo>
                <a:lnTo>
                  <a:pt x="4124327" y="0"/>
                </a:lnTo>
                <a:cubicBezTo>
                  <a:pt x="4145368" y="0"/>
                  <a:pt x="4162425" y="17057"/>
                  <a:pt x="4162425" y="38098"/>
                </a:cubicBezTo>
                <a:lnTo>
                  <a:pt x="4162425" y="419102"/>
                </a:lnTo>
                <a:cubicBezTo>
                  <a:pt x="4162425" y="440143"/>
                  <a:pt x="4145368" y="457200"/>
                  <a:pt x="412432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613" y="3790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1038225" y="3771900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variations: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Rush hour fluctuations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462344"/>
            <a:ext cx="4505325" cy="1009650"/>
          </a:xfrm>
          <a:custGeom>
            <a:avLst/>
            <a:gdLst/>
            <a:ahLst/>
            <a:cxnLst/>
            <a:rect l="l" t="t" r="r" b="b"/>
            <a:pathLst>
              <a:path w="4505325" h="1009650">
                <a:moveTo>
                  <a:pt x="76198" y="0"/>
                </a:moveTo>
                <a:lnTo>
                  <a:pt x="4429127" y="0"/>
                </a:lnTo>
                <a:cubicBezTo>
                  <a:pt x="4471210" y="0"/>
                  <a:pt x="4505325" y="34115"/>
                  <a:pt x="4505325" y="76198"/>
                </a:cubicBezTo>
                <a:lnTo>
                  <a:pt x="4505325" y="933452"/>
                </a:lnTo>
                <a:cubicBezTo>
                  <a:pt x="4505325" y="975535"/>
                  <a:pt x="4471210" y="1009650"/>
                  <a:pt x="4429127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495300" y="4576644"/>
            <a:ext cx="436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System Limitation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5300" y="4919544"/>
            <a:ext cx="434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8D99AE"/>
                </a:solidFill>
                <a:highlight>
                  <a:srgbClr val="8D99AE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systems react after congestion occurs </a:t>
            </a:r>
            <a:r>
              <a:rPr lang="en-US" sz="10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missing prevention opportunities.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98720" y="1371600"/>
            <a:ext cx="6810375" cy="4095750"/>
          </a:xfrm>
          <a:custGeom>
            <a:avLst/>
            <a:gdLst/>
            <a:ahLst/>
            <a:cxnLst/>
            <a:rect l="l" t="t" r="r" b="b"/>
            <a:pathLst>
              <a:path w="6810375" h="4095750">
                <a:moveTo>
                  <a:pt x="76181" y="0"/>
                </a:moveTo>
                <a:lnTo>
                  <a:pt x="6734194" y="0"/>
                </a:lnTo>
                <a:cubicBezTo>
                  <a:pt x="6776268" y="0"/>
                  <a:pt x="6810375" y="34107"/>
                  <a:pt x="6810375" y="76181"/>
                </a:cubicBezTo>
                <a:lnTo>
                  <a:pt x="6810375" y="4019569"/>
                </a:lnTo>
                <a:cubicBezTo>
                  <a:pt x="6810375" y="4061643"/>
                  <a:pt x="6776268" y="4095750"/>
                  <a:pt x="6734194" y="4095750"/>
                </a:cubicBezTo>
                <a:lnTo>
                  <a:pt x="76181" y="4095750"/>
                </a:lnTo>
                <a:cubicBezTo>
                  <a:pt x="34107" y="4095750"/>
                  <a:pt x="0" y="4061643"/>
                  <a:pt x="0" y="4019569"/>
                </a:cubicBezTo>
                <a:lnTo>
                  <a:pt x="0" y="76181"/>
                </a:lnTo>
                <a:cubicBezTo>
                  <a:pt x="0" y="34136"/>
                  <a:pt x="34136" y="0"/>
                  <a:pt x="7618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1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5179695" y="15619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4" name="Text 22"/>
          <p:cNvSpPr/>
          <p:nvPr/>
        </p:nvSpPr>
        <p:spPr>
          <a:xfrm>
            <a:off x="5436870" y="1524000"/>
            <a:ext cx="6334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Learning: The Proactive Solution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51120" y="1942981"/>
            <a:ext cx="6581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transforms traffic management from reactive to </a:t>
            </a: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and predictive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70170" y="2304931"/>
            <a:ext cx="6486525" cy="762000"/>
          </a:xfrm>
          <a:custGeom>
            <a:avLst/>
            <a:gdLst/>
            <a:ahLst/>
            <a:cxnLst/>
            <a:rect l="l" t="t" r="r" b="b"/>
            <a:pathLst>
              <a:path w="6486525" h="762000">
                <a:moveTo>
                  <a:pt x="38100" y="0"/>
                </a:moveTo>
                <a:lnTo>
                  <a:pt x="6410325" y="0"/>
                </a:lnTo>
                <a:cubicBezTo>
                  <a:pt x="6452381" y="0"/>
                  <a:pt x="6486525" y="34144"/>
                  <a:pt x="6486525" y="76200"/>
                </a:cubicBezTo>
                <a:lnTo>
                  <a:pt x="6486525" y="685800"/>
                </a:lnTo>
                <a:cubicBezTo>
                  <a:pt x="6486525" y="727856"/>
                  <a:pt x="6452381" y="762000"/>
                  <a:pt x="64103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5170170" y="230493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0" y="24573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9" name="Shape 27"/>
          <p:cNvSpPr/>
          <p:nvPr/>
        </p:nvSpPr>
        <p:spPr>
          <a:xfrm>
            <a:off x="5460682" y="259068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5913120" y="2419231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Traffic Patterns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13120" y="2724031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historical data to identify complex patterns.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70170" y="3143131"/>
            <a:ext cx="6486525" cy="762000"/>
          </a:xfrm>
          <a:custGeom>
            <a:avLst/>
            <a:gdLst/>
            <a:ahLst/>
            <a:cxnLst/>
            <a:rect l="l" t="t" r="r" b="b"/>
            <a:pathLst>
              <a:path w="6486525" h="762000">
                <a:moveTo>
                  <a:pt x="38100" y="0"/>
                </a:moveTo>
                <a:lnTo>
                  <a:pt x="6410325" y="0"/>
                </a:lnTo>
                <a:cubicBezTo>
                  <a:pt x="6452381" y="0"/>
                  <a:pt x="6486525" y="34144"/>
                  <a:pt x="6486525" y="76200"/>
                </a:cubicBezTo>
                <a:lnTo>
                  <a:pt x="6486525" y="685800"/>
                </a:lnTo>
                <a:cubicBezTo>
                  <a:pt x="6486525" y="727856"/>
                  <a:pt x="6452381" y="762000"/>
                  <a:pt x="64103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Shape 31"/>
          <p:cNvSpPr/>
          <p:nvPr/>
        </p:nvSpPr>
        <p:spPr>
          <a:xfrm>
            <a:off x="5170170" y="314313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4" name="Shape 32"/>
          <p:cNvSpPr/>
          <p:nvPr/>
        </p:nvSpPr>
        <p:spPr>
          <a:xfrm>
            <a:off x="5303520" y="32955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5" name="Shape 33"/>
          <p:cNvSpPr/>
          <p:nvPr/>
        </p:nvSpPr>
        <p:spPr>
          <a:xfrm>
            <a:off x="5436870" y="34288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89297" y="35719"/>
                </a:moveTo>
                <a:cubicBezTo>
                  <a:pt x="91790" y="35719"/>
                  <a:pt x="94171" y="36761"/>
                  <a:pt x="95883" y="38621"/>
                </a:cubicBezTo>
                <a:lnTo>
                  <a:pt x="122337" y="67456"/>
                </a:lnTo>
                <a:lnTo>
                  <a:pt x="139526" y="50229"/>
                </a:lnTo>
                <a:cubicBezTo>
                  <a:pt x="143024" y="46732"/>
                  <a:pt x="148679" y="46732"/>
                  <a:pt x="152140" y="50229"/>
                </a:cubicBezTo>
                <a:lnTo>
                  <a:pt x="175952" y="74042"/>
                </a:lnTo>
                <a:cubicBezTo>
                  <a:pt x="177626" y="75716"/>
                  <a:pt x="178557" y="77986"/>
                  <a:pt x="178557" y="80367"/>
                </a:cubicBezTo>
                <a:lnTo>
                  <a:pt x="178557" y="122039"/>
                </a:lnTo>
                <a:cubicBezTo>
                  <a:pt x="178557" y="126988"/>
                  <a:pt x="174575" y="130969"/>
                  <a:pt x="169627" y="130969"/>
                </a:cubicBezTo>
                <a:lnTo>
                  <a:pt x="56517" y="130969"/>
                </a:lnTo>
                <a:cubicBezTo>
                  <a:pt x="51569" y="130969"/>
                  <a:pt x="47588" y="126988"/>
                  <a:pt x="47588" y="122039"/>
                </a:cubicBezTo>
                <a:lnTo>
                  <a:pt x="47588" y="80367"/>
                </a:lnTo>
                <a:cubicBezTo>
                  <a:pt x="47588" y="78135"/>
                  <a:pt x="48444" y="75977"/>
                  <a:pt x="49932" y="74340"/>
                </a:cubicBezTo>
                <a:lnTo>
                  <a:pt x="82674" y="38621"/>
                </a:lnTo>
                <a:cubicBezTo>
                  <a:pt x="84348" y="36761"/>
                  <a:pt x="86767" y="35719"/>
                  <a:pt x="89260" y="3571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Text 34"/>
          <p:cNvSpPr/>
          <p:nvPr/>
        </p:nvSpPr>
        <p:spPr>
          <a:xfrm>
            <a:off x="5913120" y="3257431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 Future Congestion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13120" y="3562231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traffic volume before congestion forms.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70170" y="3981331"/>
            <a:ext cx="6486525" cy="762000"/>
          </a:xfrm>
          <a:custGeom>
            <a:avLst/>
            <a:gdLst/>
            <a:ahLst/>
            <a:cxnLst/>
            <a:rect l="l" t="t" r="r" b="b"/>
            <a:pathLst>
              <a:path w="6486525" h="762000">
                <a:moveTo>
                  <a:pt x="38100" y="0"/>
                </a:moveTo>
                <a:lnTo>
                  <a:pt x="6410325" y="0"/>
                </a:lnTo>
                <a:cubicBezTo>
                  <a:pt x="6452381" y="0"/>
                  <a:pt x="6486525" y="34144"/>
                  <a:pt x="6486525" y="76200"/>
                </a:cubicBezTo>
                <a:lnTo>
                  <a:pt x="6486525" y="685800"/>
                </a:lnTo>
                <a:cubicBezTo>
                  <a:pt x="6486525" y="727856"/>
                  <a:pt x="6452381" y="762000"/>
                  <a:pt x="64103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Shape 37"/>
          <p:cNvSpPr/>
          <p:nvPr/>
        </p:nvSpPr>
        <p:spPr>
          <a:xfrm>
            <a:off x="5170170" y="398133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0" name="Shape 38"/>
          <p:cNvSpPr/>
          <p:nvPr/>
        </p:nvSpPr>
        <p:spPr>
          <a:xfrm>
            <a:off x="5303520" y="41337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1" name="Shape 39"/>
          <p:cNvSpPr/>
          <p:nvPr/>
        </p:nvSpPr>
        <p:spPr>
          <a:xfrm>
            <a:off x="5472589" y="4267081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23812" y="-11906"/>
                </a:moveTo>
                <a:cubicBezTo>
                  <a:pt x="10678" y="-11906"/>
                  <a:pt x="0" y="-1228"/>
                  <a:pt x="0" y="11906"/>
                </a:cubicBezTo>
                <a:lnTo>
                  <a:pt x="0" y="142875"/>
                </a:lnTo>
                <a:cubicBezTo>
                  <a:pt x="0" y="175766"/>
                  <a:pt x="26640" y="202406"/>
                  <a:pt x="59531" y="202406"/>
                </a:cubicBezTo>
                <a:cubicBezTo>
                  <a:pt x="92422" y="202406"/>
                  <a:pt x="119063" y="175766"/>
                  <a:pt x="119063" y="142875"/>
                </a:cubicBezTo>
                <a:lnTo>
                  <a:pt x="119063" y="11906"/>
                </a:lnTo>
                <a:cubicBezTo>
                  <a:pt x="119063" y="-1228"/>
                  <a:pt x="108384" y="-11906"/>
                  <a:pt x="95250" y="-11906"/>
                </a:cubicBezTo>
                <a:lnTo>
                  <a:pt x="23812" y="-11906"/>
                </a:lnTo>
                <a:close/>
                <a:moveTo>
                  <a:pt x="59531" y="133945"/>
                </a:moveTo>
                <a:cubicBezTo>
                  <a:pt x="71028" y="133945"/>
                  <a:pt x="80367" y="143284"/>
                  <a:pt x="80367" y="154781"/>
                </a:cubicBezTo>
                <a:cubicBezTo>
                  <a:pt x="80367" y="166278"/>
                  <a:pt x="71028" y="175617"/>
                  <a:pt x="59531" y="175617"/>
                </a:cubicBezTo>
                <a:cubicBezTo>
                  <a:pt x="48034" y="175617"/>
                  <a:pt x="38695" y="166278"/>
                  <a:pt x="38695" y="154781"/>
                </a:cubicBezTo>
                <a:cubicBezTo>
                  <a:pt x="38695" y="143284"/>
                  <a:pt x="48034" y="133945"/>
                  <a:pt x="59531" y="133945"/>
                </a:cubicBezTo>
                <a:close/>
                <a:moveTo>
                  <a:pt x="80367" y="95250"/>
                </a:moveTo>
                <a:cubicBezTo>
                  <a:pt x="80367" y="106750"/>
                  <a:pt x="71031" y="116086"/>
                  <a:pt x="59531" y="116086"/>
                </a:cubicBezTo>
                <a:cubicBezTo>
                  <a:pt x="48032" y="116086"/>
                  <a:pt x="38695" y="106750"/>
                  <a:pt x="38695" y="95250"/>
                </a:cubicBezTo>
                <a:cubicBezTo>
                  <a:pt x="38695" y="83750"/>
                  <a:pt x="48032" y="74414"/>
                  <a:pt x="59531" y="74414"/>
                </a:cubicBezTo>
                <a:cubicBezTo>
                  <a:pt x="71031" y="74414"/>
                  <a:pt x="80367" y="83750"/>
                  <a:pt x="80367" y="95250"/>
                </a:cubicBezTo>
                <a:close/>
                <a:moveTo>
                  <a:pt x="59531" y="56555"/>
                </a:moveTo>
                <a:cubicBezTo>
                  <a:pt x="48032" y="56555"/>
                  <a:pt x="38695" y="47218"/>
                  <a:pt x="38695" y="35719"/>
                </a:cubicBezTo>
                <a:cubicBezTo>
                  <a:pt x="38695" y="24219"/>
                  <a:pt x="48032" y="14883"/>
                  <a:pt x="59531" y="14883"/>
                </a:cubicBezTo>
                <a:cubicBezTo>
                  <a:pt x="71031" y="14883"/>
                  <a:pt x="80367" y="24219"/>
                  <a:pt x="80367" y="35719"/>
                </a:cubicBezTo>
                <a:cubicBezTo>
                  <a:pt x="80367" y="47218"/>
                  <a:pt x="71031" y="56555"/>
                  <a:pt x="59531" y="5655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5913120" y="4095631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Signals in Advance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13120" y="4400431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 signal timings based on predictions.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51120" y="4857631"/>
            <a:ext cx="6505575" cy="457200"/>
          </a:xfrm>
          <a:custGeom>
            <a:avLst/>
            <a:gdLst/>
            <a:ahLst/>
            <a:cxnLst/>
            <a:rect l="l" t="t" r="r" b="b"/>
            <a:pathLst>
              <a:path w="6505575" h="457200">
                <a:moveTo>
                  <a:pt x="76202" y="0"/>
                </a:moveTo>
                <a:lnTo>
                  <a:pt x="6429373" y="0"/>
                </a:lnTo>
                <a:cubicBezTo>
                  <a:pt x="6471458" y="0"/>
                  <a:pt x="6505575" y="34117"/>
                  <a:pt x="6505575" y="76202"/>
                </a:cubicBezTo>
                <a:lnTo>
                  <a:pt x="6505575" y="380998"/>
                </a:lnTo>
                <a:cubicBezTo>
                  <a:pt x="6505575" y="423083"/>
                  <a:pt x="6471458" y="457200"/>
                  <a:pt x="64293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/>
              </a:gs>
              <a:gs pos="100000">
                <a:srgbClr val="4A6C8C"/>
              </a:gs>
            </a:gsLst>
            <a:lin ang="0" scaled="1"/>
          </a:gradFill>
          <a:ln/>
        </p:spPr>
      </p:sp>
      <p:sp>
        <p:nvSpPr>
          <p:cNvPr id="45" name="Text 43"/>
          <p:cNvSpPr/>
          <p:nvPr/>
        </p:nvSpPr>
        <p:spPr>
          <a:xfrm>
            <a:off x="5227320" y="4971931"/>
            <a:ext cx="635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from "Reacting to Problems" → "Preventing Problems"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PROPOSED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3686175" cy="1752600"/>
          </a:xfrm>
          <a:custGeom>
            <a:avLst/>
            <a:gdLst/>
            <a:ahLst/>
            <a:cxnLst/>
            <a:rect l="l" t="t" r="r" b="b"/>
            <a:pathLst>
              <a:path w="3686175" h="1752600">
                <a:moveTo>
                  <a:pt x="38100" y="0"/>
                </a:moveTo>
                <a:lnTo>
                  <a:pt x="3609972" y="0"/>
                </a:lnTo>
                <a:cubicBezTo>
                  <a:pt x="3652058" y="0"/>
                  <a:pt x="3686175" y="34117"/>
                  <a:pt x="3686175" y="76203"/>
                </a:cubicBezTo>
                <a:lnTo>
                  <a:pt x="3686175" y="1676397"/>
                </a:lnTo>
                <a:cubicBezTo>
                  <a:pt x="3686175" y="1718483"/>
                  <a:pt x="3652058" y="1752600"/>
                  <a:pt x="3609972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8" name="Shape 6"/>
          <p:cNvSpPr/>
          <p:nvPr/>
        </p:nvSpPr>
        <p:spPr>
          <a:xfrm>
            <a:off x="723900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160020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09800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Prediction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552700"/>
            <a:ext cx="3438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Forecasts congestion before it forms, enabling preventive action.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0771" y="1447800"/>
            <a:ext cx="3686175" cy="1752600"/>
          </a:xfrm>
          <a:custGeom>
            <a:avLst/>
            <a:gdLst/>
            <a:ahLst/>
            <a:cxnLst/>
            <a:rect l="l" t="t" r="r" b="b"/>
            <a:pathLst>
              <a:path w="3686175" h="1752600">
                <a:moveTo>
                  <a:pt x="38100" y="0"/>
                </a:moveTo>
                <a:lnTo>
                  <a:pt x="3609972" y="0"/>
                </a:lnTo>
                <a:cubicBezTo>
                  <a:pt x="3652058" y="0"/>
                  <a:pt x="3686175" y="34117"/>
                  <a:pt x="3686175" y="76203"/>
                </a:cubicBezTo>
                <a:lnTo>
                  <a:pt x="3686175" y="1676397"/>
                </a:lnTo>
                <a:cubicBezTo>
                  <a:pt x="3686175" y="1718483"/>
                  <a:pt x="3652058" y="1752600"/>
                  <a:pt x="3609972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4260771" y="14478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2221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4621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5118021" y="16002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2221" y="2209800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Decision-Making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2221" y="2552700"/>
            <a:ext cx="3438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data-driven algorithms for intelligent signal control.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1611" y="1447800"/>
            <a:ext cx="3686175" cy="1752600"/>
          </a:xfrm>
          <a:custGeom>
            <a:avLst/>
            <a:gdLst/>
            <a:ahLst/>
            <a:cxnLst/>
            <a:rect l="l" t="t" r="r" b="b"/>
            <a:pathLst>
              <a:path w="3686175" h="1752600">
                <a:moveTo>
                  <a:pt x="38100" y="0"/>
                </a:moveTo>
                <a:lnTo>
                  <a:pt x="3609972" y="0"/>
                </a:lnTo>
                <a:cubicBezTo>
                  <a:pt x="3652058" y="0"/>
                  <a:pt x="3686175" y="34117"/>
                  <a:pt x="3686175" y="76203"/>
                </a:cubicBezTo>
                <a:lnTo>
                  <a:pt x="3686175" y="1676397"/>
                </a:lnTo>
                <a:cubicBezTo>
                  <a:pt x="3686175" y="1718483"/>
                  <a:pt x="3652058" y="1752600"/>
                  <a:pt x="3609972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8121611" y="14478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1" name="Shape 19"/>
          <p:cNvSpPr/>
          <p:nvPr/>
        </p:nvSpPr>
        <p:spPr>
          <a:xfrm>
            <a:off x="8293061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2" name="Shape 20"/>
          <p:cNvSpPr/>
          <p:nvPr/>
        </p:nvSpPr>
        <p:spPr>
          <a:xfrm>
            <a:off x="8445461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8978861" y="16002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93061" y="2209800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Camera Dependency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3061" y="2552700"/>
            <a:ext cx="3438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Minimizes infrastructure needs by using existing data.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3352800"/>
            <a:ext cx="3686175" cy="1752600"/>
          </a:xfrm>
          <a:custGeom>
            <a:avLst/>
            <a:gdLst/>
            <a:ahLst/>
            <a:cxnLst/>
            <a:rect l="l" t="t" r="r" b="b"/>
            <a:pathLst>
              <a:path w="3686175" h="1752600">
                <a:moveTo>
                  <a:pt x="38100" y="0"/>
                </a:moveTo>
                <a:lnTo>
                  <a:pt x="3609972" y="0"/>
                </a:lnTo>
                <a:cubicBezTo>
                  <a:pt x="3652058" y="0"/>
                  <a:pt x="3686175" y="34117"/>
                  <a:pt x="3686175" y="76203"/>
                </a:cubicBezTo>
                <a:lnTo>
                  <a:pt x="3686175" y="1676397"/>
                </a:lnTo>
                <a:cubicBezTo>
                  <a:pt x="3686175" y="1718483"/>
                  <a:pt x="3652058" y="1752600"/>
                  <a:pt x="3609972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400050" y="33528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8" name="Shape 26"/>
          <p:cNvSpPr/>
          <p:nvPr/>
        </p:nvSpPr>
        <p:spPr>
          <a:xfrm>
            <a:off x="5715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9" name="Shape 27"/>
          <p:cNvSpPr/>
          <p:nvPr/>
        </p:nvSpPr>
        <p:spPr>
          <a:xfrm>
            <a:off x="766763" y="36576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1257300" y="35052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4114800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Cost-Effective &amp; Scalable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1500" y="4457700"/>
            <a:ext cx="3438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hardware costs make it affordable for widespread deployment.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60771" y="3352800"/>
            <a:ext cx="7553325" cy="1752600"/>
          </a:xfrm>
          <a:custGeom>
            <a:avLst/>
            <a:gdLst/>
            <a:ahLst/>
            <a:cxnLst/>
            <a:rect l="l" t="t" r="r" b="b"/>
            <a:pathLst>
              <a:path w="7553325" h="1752600">
                <a:moveTo>
                  <a:pt x="38100" y="0"/>
                </a:moveTo>
                <a:lnTo>
                  <a:pt x="7477122" y="0"/>
                </a:lnTo>
                <a:cubicBezTo>
                  <a:pt x="7519208" y="0"/>
                  <a:pt x="7553325" y="34117"/>
                  <a:pt x="7553325" y="76203"/>
                </a:cubicBezTo>
                <a:lnTo>
                  <a:pt x="7553325" y="1676397"/>
                </a:lnTo>
                <a:cubicBezTo>
                  <a:pt x="7553325" y="1718483"/>
                  <a:pt x="7519208" y="1752600"/>
                  <a:pt x="7477122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4260771" y="33528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5" name="Shape 33"/>
          <p:cNvSpPr/>
          <p:nvPr/>
        </p:nvSpPr>
        <p:spPr>
          <a:xfrm>
            <a:off x="4432221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6" name="Shape 34"/>
          <p:cNvSpPr/>
          <p:nvPr/>
        </p:nvSpPr>
        <p:spPr>
          <a:xfrm>
            <a:off x="4584621" y="3657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5118021" y="35052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32221" y="4114800"/>
            <a:ext cx="7324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Real-World Deployment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32221" y="4457700"/>
            <a:ext cx="7305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simple integration with existing traffic systems, minimizing disruption and enabling quick adoption.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5257800"/>
            <a:ext cx="11430000" cy="514350"/>
          </a:xfrm>
          <a:custGeom>
            <a:avLst/>
            <a:gdLst/>
            <a:ahLst/>
            <a:cxnLst/>
            <a:rect l="l" t="t" r="r" b="b"/>
            <a:pathLst>
              <a:path w="11430000" h="514350">
                <a:moveTo>
                  <a:pt x="76201" y="0"/>
                </a:moveTo>
                <a:lnTo>
                  <a:pt x="11353799" y="0"/>
                </a:lnTo>
                <a:cubicBezTo>
                  <a:pt x="11395884" y="0"/>
                  <a:pt x="11430000" y="34116"/>
                  <a:pt x="11430000" y="76201"/>
                </a:cubicBezTo>
                <a:lnTo>
                  <a:pt x="11430000" y="438149"/>
                </a:lnTo>
                <a:cubicBezTo>
                  <a:pt x="11430000" y="480234"/>
                  <a:pt x="11395884" y="514350"/>
                  <a:pt x="11353799" y="514350"/>
                </a:cubicBezTo>
                <a:lnTo>
                  <a:pt x="76201" y="514350"/>
                </a:lnTo>
                <a:cubicBezTo>
                  <a:pt x="34116" y="514350"/>
                  <a:pt x="0" y="480234"/>
                  <a:pt x="0" y="4381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/>
              </a:gs>
              <a:gs pos="100000">
                <a:srgbClr val="4A6C8C"/>
              </a:gs>
            </a:gsLst>
            <a:lin ang="0" scaled="1"/>
          </a:gradFill>
          <a:ln/>
        </p:spPr>
      </p:sp>
      <p:sp>
        <p:nvSpPr>
          <p:cNvPr id="41" name="Shape 39"/>
          <p:cNvSpPr/>
          <p:nvPr/>
        </p:nvSpPr>
        <p:spPr>
          <a:xfrm>
            <a:off x="533400" y="53721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966788" y="5381625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Advantage: Combines prediction, cost-effectiveness, and scalability.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of the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5619750" cy="1276350"/>
          </a:xfrm>
          <a:custGeom>
            <a:avLst/>
            <a:gdLst/>
            <a:ahLst/>
            <a:cxnLst/>
            <a:rect l="l" t="t" r="r" b="b"/>
            <a:pathLst>
              <a:path w="5619750" h="1276350">
                <a:moveTo>
                  <a:pt x="38100" y="0"/>
                </a:moveTo>
                <a:lnTo>
                  <a:pt x="5543552" y="0"/>
                </a:lnTo>
                <a:cubicBezTo>
                  <a:pt x="5585635" y="0"/>
                  <a:pt x="5619750" y="34115"/>
                  <a:pt x="5619750" y="76198"/>
                </a:cubicBezTo>
                <a:lnTo>
                  <a:pt x="5619750" y="1200152"/>
                </a:lnTo>
                <a:cubicBezTo>
                  <a:pt x="5619750" y="1242235"/>
                  <a:pt x="5585635" y="1276350"/>
                  <a:pt x="5543552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8" name="Text 6"/>
          <p:cNvSpPr/>
          <p:nvPr/>
        </p:nvSpPr>
        <p:spPr>
          <a:xfrm>
            <a:off x="727710" y="1714500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6002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Data Collection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1905000"/>
            <a:ext cx="468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Gather historical traffic data from various sources.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22885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Shape 10"/>
          <p:cNvSpPr/>
          <p:nvPr/>
        </p:nvSpPr>
        <p:spPr>
          <a:xfrm>
            <a:off x="675084" y="232790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" y="2305050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 counts, timestamps, location, weather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0" y="1447800"/>
            <a:ext cx="5619750" cy="1276350"/>
          </a:xfrm>
          <a:custGeom>
            <a:avLst/>
            <a:gdLst/>
            <a:ahLst/>
            <a:cxnLst/>
            <a:rect l="l" t="t" r="r" b="b"/>
            <a:pathLst>
              <a:path w="5619750" h="1276350">
                <a:moveTo>
                  <a:pt x="38100" y="0"/>
                </a:moveTo>
                <a:lnTo>
                  <a:pt x="5543552" y="0"/>
                </a:lnTo>
                <a:cubicBezTo>
                  <a:pt x="5585635" y="0"/>
                  <a:pt x="5619750" y="34115"/>
                  <a:pt x="5619750" y="76198"/>
                </a:cubicBezTo>
                <a:lnTo>
                  <a:pt x="5619750" y="1200152"/>
                </a:lnTo>
                <a:cubicBezTo>
                  <a:pt x="5619750" y="1242235"/>
                  <a:pt x="5585635" y="1276350"/>
                  <a:pt x="5543552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6191250" y="14478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6" name="Shape 14"/>
          <p:cNvSpPr/>
          <p:nvPr/>
        </p:nvSpPr>
        <p:spPr>
          <a:xfrm>
            <a:off x="63627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7003" y="17145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8500" y="16002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8500" y="1905000"/>
            <a:ext cx="468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and transform raw data into structured format.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62700" y="222885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6284" y="232790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2" name="Text 20"/>
          <p:cNvSpPr/>
          <p:nvPr/>
        </p:nvSpPr>
        <p:spPr>
          <a:xfrm>
            <a:off x="6667500" y="2305050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missing values, outliers, normalization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2876550"/>
            <a:ext cx="5619750" cy="1276350"/>
          </a:xfrm>
          <a:custGeom>
            <a:avLst/>
            <a:gdLst/>
            <a:ahLst/>
            <a:cxnLst/>
            <a:rect l="l" t="t" r="r" b="b"/>
            <a:pathLst>
              <a:path w="5619750" h="1276350">
                <a:moveTo>
                  <a:pt x="38100" y="0"/>
                </a:moveTo>
                <a:lnTo>
                  <a:pt x="5543552" y="0"/>
                </a:lnTo>
                <a:cubicBezTo>
                  <a:pt x="5585635" y="0"/>
                  <a:pt x="5619750" y="34115"/>
                  <a:pt x="5619750" y="76198"/>
                </a:cubicBezTo>
                <a:lnTo>
                  <a:pt x="5619750" y="1200152"/>
                </a:lnTo>
                <a:cubicBezTo>
                  <a:pt x="5619750" y="1242235"/>
                  <a:pt x="5585635" y="1276350"/>
                  <a:pt x="5543552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400050" y="287655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" y="3028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6" name="Text 24"/>
          <p:cNvSpPr/>
          <p:nvPr/>
        </p:nvSpPr>
        <p:spPr>
          <a:xfrm>
            <a:off x="702826" y="31432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57300" y="302895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57300" y="3333750"/>
            <a:ext cx="468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and create meaningful features for ML models.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1500" y="365760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8"/>
          <p:cNvSpPr/>
          <p:nvPr/>
        </p:nvSpPr>
        <p:spPr>
          <a:xfrm>
            <a:off x="675084" y="37566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1" name="Text 29"/>
          <p:cNvSpPr/>
          <p:nvPr/>
        </p:nvSpPr>
        <p:spPr>
          <a:xfrm>
            <a:off x="876300" y="3733800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features, day type, moving averages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2876550"/>
            <a:ext cx="5619750" cy="1276350"/>
          </a:xfrm>
          <a:custGeom>
            <a:avLst/>
            <a:gdLst/>
            <a:ahLst/>
            <a:cxnLst/>
            <a:rect l="l" t="t" r="r" b="b"/>
            <a:pathLst>
              <a:path w="5619750" h="1276350">
                <a:moveTo>
                  <a:pt x="38100" y="0"/>
                </a:moveTo>
                <a:lnTo>
                  <a:pt x="5543552" y="0"/>
                </a:lnTo>
                <a:cubicBezTo>
                  <a:pt x="5585635" y="0"/>
                  <a:pt x="5619750" y="34115"/>
                  <a:pt x="5619750" y="76198"/>
                </a:cubicBezTo>
                <a:lnTo>
                  <a:pt x="5619750" y="1200152"/>
                </a:lnTo>
                <a:cubicBezTo>
                  <a:pt x="5619750" y="1242235"/>
                  <a:pt x="5585635" y="1276350"/>
                  <a:pt x="5543552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6191250" y="287655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62700" y="3028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5" name="Text 33"/>
          <p:cNvSpPr/>
          <p:nvPr/>
        </p:nvSpPr>
        <p:spPr>
          <a:xfrm>
            <a:off x="6497121" y="31432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48500" y="302895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Congestion Prediction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8500" y="3333750"/>
            <a:ext cx="468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ML models to predict future traffic congestion.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2700" y="365760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Shape 37"/>
          <p:cNvSpPr/>
          <p:nvPr/>
        </p:nvSpPr>
        <p:spPr>
          <a:xfrm>
            <a:off x="6466284" y="37566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0" name="Text 38"/>
          <p:cNvSpPr/>
          <p:nvPr/>
        </p:nvSpPr>
        <p:spPr>
          <a:xfrm>
            <a:off x="6667500" y="3733800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Forest, SVM, Neural Networks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4305300"/>
            <a:ext cx="5619750" cy="1276350"/>
          </a:xfrm>
          <a:custGeom>
            <a:avLst/>
            <a:gdLst/>
            <a:ahLst/>
            <a:cxnLst/>
            <a:rect l="l" t="t" r="r" b="b"/>
            <a:pathLst>
              <a:path w="5619750" h="1276350">
                <a:moveTo>
                  <a:pt x="38100" y="0"/>
                </a:moveTo>
                <a:lnTo>
                  <a:pt x="5543552" y="0"/>
                </a:lnTo>
                <a:cubicBezTo>
                  <a:pt x="5585635" y="0"/>
                  <a:pt x="5619750" y="34115"/>
                  <a:pt x="5619750" y="76198"/>
                </a:cubicBezTo>
                <a:lnTo>
                  <a:pt x="5619750" y="1200152"/>
                </a:lnTo>
                <a:cubicBezTo>
                  <a:pt x="5619750" y="1242235"/>
                  <a:pt x="5585635" y="1276350"/>
                  <a:pt x="5543552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400050" y="43053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" y="4457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4" name="Text 42"/>
          <p:cNvSpPr/>
          <p:nvPr/>
        </p:nvSpPr>
        <p:spPr>
          <a:xfrm>
            <a:off x="702469" y="45720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57300" y="44577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 Timing Optimization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57300" y="4762500"/>
            <a:ext cx="468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signal timings based on predictions.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1500" y="508635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Shape 46"/>
          <p:cNvSpPr/>
          <p:nvPr/>
        </p:nvSpPr>
        <p:spPr>
          <a:xfrm>
            <a:off x="675084" y="518541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9" name="Text 47"/>
          <p:cNvSpPr/>
          <p:nvPr/>
        </p:nvSpPr>
        <p:spPr>
          <a:xfrm>
            <a:off x="876300" y="5162550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 time allocation, cycle optimization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1250" y="4305300"/>
            <a:ext cx="5619750" cy="1276350"/>
          </a:xfrm>
          <a:custGeom>
            <a:avLst/>
            <a:gdLst/>
            <a:ahLst/>
            <a:cxnLst/>
            <a:rect l="l" t="t" r="r" b="b"/>
            <a:pathLst>
              <a:path w="5619750" h="1276350">
                <a:moveTo>
                  <a:pt x="38100" y="0"/>
                </a:moveTo>
                <a:lnTo>
                  <a:pt x="5543552" y="0"/>
                </a:lnTo>
                <a:cubicBezTo>
                  <a:pt x="5585635" y="0"/>
                  <a:pt x="5619750" y="34115"/>
                  <a:pt x="5619750" y="76198"/>
                </a:cubicBezTo>
                <a:lnTo>
                  <a:pt x="5619750" y="1200152"/>
                </a:lnTo>
                <a:cubicBezTo>
                  <a:pt x="5619750" y="1242235"/>
                  <a:pt x="5585635" y="1276350"/>
                  <a:pt x="5543552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6191250" y="43053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2" name="Shape 50"/>
          <p:cNvSpPr/>
          <p:nvPr/>
        </p:nvSpPr>
        <p:spPr>
          <a:xfrm>
            <a:off x="6362700" y="4457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45720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48500" y="44577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 &amp; Improvement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048500" y="4762500"/>
            <a:ext cx="468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learning loop for model refinement.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62700" y="508635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7" name="Shape 55"/>
          <p:cNvSpPr/>
          <p:nvPr/>
        </p:nvSpPr>
        <p:spPr>
          <a:xfrm>
            <a:off x="6466284" y="518541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8" name="Text 56"/>
          <p:cNvSpPr/>
          <p:nvPr/>
        </p:nvSpPr>
        <p:spPr>
          <a:xfrm>
            <a:off x="6667500" y="5162550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monitoring, retraining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1000" y="5695950"/>
            <a:ext cx="11430000" cy="495300"/>
          </a:xfrm>
          <a:custGeom>
            <a:avLst/>
            <a:gdLst/>
            <a:ahLst/>
            <a:cxnLst/>
            <a:rect l="l" t="t" r="r" b="b"/>
            <a:pathLst>
              <a:path w="11430000" h="4953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419098"/>
                </a:lnTo>
                <a:cubicBezTo>
                  <a:pt x="11430000" y="461183"/>
                  <a:pt x="11395883" y="495300"/>
                  <a:pt x="113537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/>
              </a:gs>
              <a:gs pos="100000">
                <a:srgbClr val="4A6C8C"/>
              </a:gs>
            </a:gsLst>
            <a:lin ang="0" scaled="1"/>
          </a:gradFill>
          <a:ln/>
        </p:spPr>
      </p:sp>
      <p:sp>
        <p:nvSpPr>
          <p:cNvPr id="60" name="Text 58"/>
          <p:cNvSpPr/>
          <p:nvPr/>
        </p:nvSpPr>
        <p:spPr>
          <a:xfrm>
            <a:off x="452438" y="5810250"/>
            <a:ext cx="1128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Automated Pipeline: From Data Collection → Continuous Model Enhancement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B0FBB6-872B-385C-8BF6-585BF302F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99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57770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kern="0" spc="107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274" y="614293"/>
            <a:ext cx="1171421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274" y="1126203"/>
            <a:ext cx="819057" cy="34127"/>
          </a:xfrm>
          <a:custGeom>
            <a:avLst/>
            <a:gdLst/>
            <a:ahLst/>
            <a:cxnLst/>
            <a:rect l="l" t="t" r="r" b="b"/>
            <a:pathLst>
              <a:path w="819057" h="34127">
                <a:moveTo>
                  <a:pt x="0" y="0"/>
                </a:moveTo>
                <a:lnTo>
                  <a:pt x="819057" y="0"/>
                </a:lnTo>
                <a:lnTo>
                  <a:pt x="819057" y="34127"/>
                </a:lnTo>
                <a:lnTo>
                  <a:pt x="0" y="34127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358337" y="1296840"/>
            <a:ext cx="5673674" cy="2832571"/>
          </a:xfrm>
          <a:custGeom>
            <a:avLst/>
            <a:gdLst/>
            <a:ahLst/>
            <a:cxnLst/>
            <a:rect l="l" t="t" r="r" b="b"/>
            <a:pathLst>
              <a:path w="5673674" h="2832571">
                <a:moveTo>
                  <a:pt x="34127" y="0"/>
                </a:moveTo>
                <a:lnTo>
                  <a:pt x="5605409" y="0"/>
                </a:lnTo>
                <a:cubicBezTo>
                  <a:pt x="5643111" y="0"/>
                  <a:pt x="5673674" y="30563"/>
                  <a:pt x="5673674" y="68265"/>
                </a:cubicBezTo>
                <a:lnTo>
                  <a:pt x="5673674" y="2764306"/>
                </a:lnTo>
                <a:cubicBezTo>
                  <a:pt x="5673674" y="2802008"/>
                  <a:pt x="5643111" y="2832571"/>
                  <a:pt x="5605409" y="2832571"/>
                </a:cubicBezTo>
                <a:lnTo>
                  <a:pt x="34127" y="2832571"/>
                </a:lnTo>
                <a:cubicBezTo>
                  <a:pt x="15279" y="2832571"/>
                  <a:pt x="0" y="2817292"/>
                  <a:pt x="0" y="2798444"/>
                </a:cubicBezTo>
                <a:lnTo>
                  <a:pt x="0" y="34127"/>
                </a:lnTo>
                <a:cubicBezTo>
                  <a:pt x="0" y="15292"/>
                  <a:pt x="15292" y="0"/>
                  <a:pt x="34127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58337" y="1296840"/>
            <a:ext cx="34127" cy="2832571"/>
          </a:xfrm>
          <a:custGeom>
            <a:avLst/>
            <a:gdLst/>
            <a:ahLst/>
            <a:cxnLst/>
            <a:rect l="l" t="t" r="r" b="b"/>
            <a:pathLst>
              <a:path w="34127" h="2832571">
                <a:moveTo>
                  <a:pt x="34127" y="0"/>
                </a:moveTo>
                <a:lnTo>
                  <a:pt x="34127" y="0"/>
                </a:lnTo>
                <a:lnTo>
                  <a:pt x="34127" y="2832571"/>
                </a:lnTo>
                <a:lnTo>
                  <a:pt x="34127" y="2832571"/>
                </a:lnTo>
                <a:cubicBezTo>
                  <a:pt x="15279" y="2832571"/>
                  <a:pt x="0" y="2817292"/>
                  <a:pt x="0" y="2798444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7" name="Shape 5"/>
          <p:cNvSpPr/>
          <p:nvPr/>
        </p:nvSpPr>
        <p:spPr>
          <a:xfrm>
            <a:off x="524708" y="1467368"/>
            <a:ext cx="230360" cy="204764"/>
          </a:xfrm>
          <a:custGeom>
            <a:avLst/>
            <a:gdLst/>
            <a:ahLst/>
            <a:cxnLst/>
            <a:rect l="l" t="t" r="r" b="b"/>
            <a:pathLst>
              <a:path w="230360" h="204764">
                <a:moveTo>
                  <a:pt x="144295" y="480"/>
                </a:moveTo>
                <a:cubicBezTo>
                  <a:pt x="137496" y="-1480"/>
                  <a:pt x="130417" y="2480"/>
                  <a:pt x="128458" y="9278"/>
                </a:cubicBezTo>
                <a:lnTo>
                  <a:pt x="77266" y="188447"/>
                </a:lnTo>
                <a:cubicBezTo>
                  <a:pt x="75307" y="195246"/>
                  <a:pt x="79266" y="202325"/>
                  <a:pt x="86065" y="204284"/>
                </a:cubicBezTo>
                <a:cubicBezTo>
                  <a:pt x="92864" y="206244"/>
                  <a:pt x="99943" y="202285"/>
                  <a:pt x="101902" y="195486"/>
                </a:cubicBezTo>
                <a:lnTo>
                  <a:pt x="153093" y="16317"/>
                </a:lnTo>
                <a:cubicBezTo>
                  <a:pt x="155053" y="9518"/>
                  <a:pt x="151094" y="2440"/>
                  <a:pt x="144295" y="480"/>
                </a:cubicBezTo>
                <a:close/>
                <a:moveTo>
                  <a:pt x="170130" y="54910"/>
                </a:moveTo>
                <a:cubicBezTo>
                  <a:pt x="165131" y="59910"/>
                  <a:pt x="165131" y="68028"/>
                  <a:pt x="170130" y="73027"/>
                </a:cubicBezTo>
                <a:lnTo>
                  <a:pt x="199485" y="102382"/>
                </a:lnTo>
                <a:lnTo>
                  <a:pt x="170130" y="131737"/>
                </a:lnTo>
                <a:cubicBezTo>
                  <a:pt x="165131" y="136736"/>
                  <a:pt x="165131" y="144855"/>
                  <a:pt x="170130" y="149854"/>
                </a:cubicBezTo>
                <a:cubicBezTo>
                  <a:pt x="175129" y="154853"/>
                  <a:pt x="183248" y="154853"/>
                  <a:pt x="188247" y="149854"/>
                </a:cubicBezTo>
                <a:lnTo>
                  <a:pt x="226640" y="111460"/>
                </a:lnTo>
                <a:cubicBezTo>
                  <a:pt x="231639" y="106461"/>
                  <a:pt x="231639" y="98343"/>
                  <a:pt x="226640" y="93344"/>
                </a:cubicBezTo>
                <a:lnTo>
                  <a:pt x="188247" y="54950"/>
                </a:lnTo>
                <a:cubicBezTo>
                  <a:pt x="183248" y="49951"/>
                  <a:pt x="175129" y="49951"/>
                  <a:pt x="170130" y="54950"/>
                </a:cubicBezTo>
                <a:close/>
                <a:moveTo>
                  <a:pt x="60269" y="54910"/>
                </a:moveTo>
                <a:cubicBezTo>
                  <a:pt x="55270" y="49911"/>
                  <a:pt x="47152" y="49911"/>
                  <a:pt x="42153" y="54910"/>
                </a:cubicBezTo>
                <a:lnTo>
                  <a:pt x="3759" y="93304"/>
                </a:lnTo>
                <a:cubicBezTo>
                  <a:pt x="-1240" y="98303"/>
                  <a:pt x="-1240" y="106421"/>
                  <a:pt x="3759" y="111421"/>
                </a:cubicBezTo>
                <a:lnTo>
                  <a:pt x="42153" y="149814"/>
                </a:lnTo>
                <a:cubicBezTo>
                  <a:pt x="47152" y="154813"/>
                  <a:pt x="55270" y="154813"/>
                  <a:pt x="60269" y="149814"/>
                </a:cubicBezTo>
                <a:cubicBezTo>
                  <a:pt x="65269" y="144815"/>
                  <a:pt x="65269" y="136696"/>
                  <a:pt x="60269" y="131697"/>
                </a:cubicBezTo>
                <a:lnTo>
                  <a:pt x="30915" y="102382"/>
                </a:lnTo>
                <a:lnTo>
                  <a:pt x="60229" y="73027"/>
                </a:lnTo>
                <a:cubicBezTo>
                  <a:pt x="65229" y="68028"/>
                  <a:pt x="65229" y="59910"/>
                  <a:pt x="60229" y="5491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8" name="Text 6"/>
          <p:cNvSpPr/>
          <p:nvPr/>
        </p:nvSpPr>
        <p:spPr>
          <a:xfrm>
            <a:off x="767866" y="1433349"/>
            <a:ext cx="5230018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Language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1910" y="1842769"/>
            <a:ext cx="5383591" cy="2150024"/>
          </a:xfrm>
          <a:custGeom>
            <a:avLst/>
            <a:gdLst/>
            <a:ahLst/>
            <a:cxnLst/>
            <a:rect l="l" t="t" r="r" b="b"/>
            <a:pathLst>
              <a:path w="5383591" h="2150024">
                <a:moveTo>
                  <a:pt x="68263" y="0"/>
                </a:moveTo>
                <a:lnTo>
                  <a:pt x="5315328" y="0"/>
                </a:lnTo>
                <a:cubicBezTo>
                  <a:pt x="5353029" y="0"/>
                  <a:pt x="5383591" y="30563"/>
                  <a:pt x="5383591" y="68263"/>
                </a:cubicBezTo>
                <a:lnTo>
                  <a:pt x="5383591" y="2081761"/>
                </a:lnTo>
                <a:cubicBezTo>
                  <a:pt x="5383591" y="2119461"/>
                  <a:pt x="5353029" y="2150024"/>
                  <a:pt x="5315328" y="2150024"/>
                </a:cubicBezTo>
                <a:lnTo>
                  <a:pt x="68263" y="2150024"/>
                </a:lnTo>
                <a:cubicBezTo>
                  <a:pt x="30563" y="2150024"/>
                  <a:pt x="0" y="2119461"/>
                  <a:pt x="0" y="2081761"/>
                </a:cubicBezTo>
                <a:lnTo>
                  <a:pt x="0" y="68263"/>
                </a:lnTo>
                <a:cubicBezTo>
                  <a:pt x="0" y="30563"/>
                  <a:pt x="30563" y="0"/>
                  <a:pt x="6826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20" y="2576508"/>
            <a:ext cx="682547" cy="682547"/>
          </a:xfrm>
          <a:custGeom>
            <a:avLst/>
            <a:gdLst/>
            <a:ahLst/>
            <a:cxnLst/>
            <a:rect l="l" t="t" r="r" b="b"/>
            <a:pathLst>
              <a:path w="682547" h="682547">
                <a:moveTo>
                  <a:pt x="341274" y="0"/>
                </a:moveTo>
                <a:lnTo>
                  <a:pt x="341274" y="0"/>
                </a:lnTo>
                <a:cubicBezTo>
                  <a:pt x="529754" y="0"/>
                  <a:pt x="682547" y="152793"/>
                  <a:pt x="682547" y="341274"/>
                </a:cubicBezTo>
                <a:lnTo>
                  <a:pt x="682547" y="341274"/>
                </a:lnTo>
                <a:cubicBezTo>
                  <a:pt x="682547" y="529754"/>
                  <a:pt x="529754" y="682547"/>
                  <a:pt x="341274" y="682547"/>
                </a:cubicBezTo>
                <a:lnTo>
                  <a:pt x="341274" y="682547"/>
                </a:lnTo>
                <a:cubicBezTo>
                  <a:pt x="152793" y="682547"/>
                  <a:pt x="0" y="529754"/>
                  <a:pt x="0" y="341274"/>
                </a:cubicBezTo>
                <a:lnTo>
                  <a:pt x="0" y="341274"/>
                </a:lnTo>
                <a:cubicBezTo>
                  <a:pt x="0" y="152793"/>
                  <a:pt x="152793" y="0"/>
                  <a:pt x="341274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1" name="Shape 9"/>
          <p:cNvSpPr/>
          <p:nvPr/>
        </p:nvSpPr>
        <p:spPr>
          <a:xfrm>
            <a:off x="855317" y="2764208"/>
            <a:ext cx="268753" cy="307146"/>
          </a:xfrm>
          <a:custGeom>
            <a:avLst/>
            <a:gdLst/>
            <a:ahLst/>
            <a:cxnLst/>
            <a:rect l="l" t="t" r="r" b="b"/>
            <a:pathLst>
              <a:path w="268753" h="307146">
                <a:moveTo>
                  <a:pt x="263834" y="120279"/>
                </a:moveTo>
                <a:cubicBezTo>
                  <a:pt x="259215" y="101742"/>
                  <a:pt x="250456" y="87765"/>
                  <a:pt x="231799" y="87765"/>
                </a:cubicBezTo>
                <a:lnTo>
                  <a:pt x="207744" y="87765"/>
                </a:lnTo>
                <a:lnTo>
                  <a:pt x="207744" y="116200"/>
                </a:lnTo>
                <a:cubicBezTo>
                  <a:pt x="207744" y="138276"/>
                  <a:pt x="189027" y="156873"/>
                  <a:pt x="167671" y="156873"/>
                </a:cubicBezTo>
                <a:lnTo>
                  <a:pt x="103602" y="156873"/>
                </a:lnTo>
                <a:cubicBezTo>
                  <a:pt x="86085" y="156873"/>
                  <a:pt x="71567" y="171870"/>
                  <a:pt x="71567" y="189447"/>
                </a:cubicBezTo>
                <a:lnTo>
                  <a:pt x="71567" y="250516"/>
                </a:lnTo>
                <a:cubicBezTo>
                  <a:pt x="71567" y="267913"/>
                  <a:pt x="86685" y="278111"/>
                  <a:pt x="103602" y="283090"/>
                </a:cubicBezTo>
                <a:cubicBezTo>
                  <a:pt x="123878" y="289029"/>
                  <a:pt x="143375" y="290109"/>
                  <a:pt x="167671" y="283090"/>
                </a:cubicBezTo>
                <a:cubicBezTo>
                  <a:pt x="183808" y="278411"/>
                  <a:pt x="199705" y="268993"/>
                  <a:pt x="199705" y="250516"/>
                </a:cubicBezTo>
                <a:lnTo>
                  <a:pt x="199705" y="226100"/>
                </a:lnTo>
                <a:lnTo>
                  <a:pt x="135696" y="226100"/>
                </a:lnTo>
                <a:lnTo>
                  <a:pt x="135696" y="217942"/>
                </a:lnTo>
                <a:lnTo>
                  <a:pt x="231799" y="217942"/>
                </a:lnTo>
                <a:cubicBezTo>
                  <a:pt x="250456" y="217942"/>
                  <a:pt x="257355" y="204924"/>
                  <a:pt x="263834" y="185428"/>
                </a:cubicBezTo>
                <a:cubicBezTo>
                  <a:pt x="270553" y="165331"/>
                  <a:pt x="270253" y="146014"/>
                  <a:pt x="263834" y="120279"/>
                </a:cubicBezTo>
                <a:close/>
                <a:moveTo>
                  <a:pt x="171690" y="266773"/>
                </a:moveTo>
                <a:cubicBezTo>
                  <a:pt x="167124" y="267094"/>
                  <a:pt x="162761" y="264839"/>
                  <a:pt x="160381" y="260930"/>
                </a:cubicBezTo>
                <a:cubicBezTo>
                  <a:pt x="158001" y="257021"/>
                  <a:pt x="158001" y="252110"/>
                  <a:pt x="160381" y="248201"/>
                </a:cubicBezTo>
                <a:cubicBezTo>
                  <a:pt x="162761" y="244292"/>
                  <a:pt x="167124" y="242037"/>
                  <a:pt x="171690" y="242358"/>
                </a:cubicBezTo>
                <a:cubicBezTo>
                  <a:pt x="176256" y="242037"/>
                  <a:pt x="180618" y="244292"/>
                  <a:pt x="182999" y="248201"/>
                </a:cubicBezTo>
                <a:cubicBezTo>
                  <a:pt x="185379" y="252110"/>
                  <a:pt x="185379" y="257021"/>
                  <a:pt x="182999" y="260930"/>
                </a:cubicBezTo>
                <a:cubicBezTo>
                  <a:pt x="180618" y="264839"/>
                  <a:pt x="176256" y="267094"/>
                  <a:pt x="171690" y="266773"/>
                </a:cubicBezTo>
                <a:close/>
                <a:moveTo>
                  <a:pt x="100662" y="148834"/>
                </a:moveTo>
                <a:lnTo>
                  <a:pt x="164731" y="148834"/>
                </a:lnTo>
                <a:cubicBezTo>
                  <a:pt x="182548" y="148834"/>
                  <a:pt x="196766" y="134137"/>
                  <a:pt x="196766" y="116260"/>
                </a:cubicBezTo>
                <a:lnTo>
                  <a:pt x="196766" y="55130"/>
                </a:lnTo>
                <a:cubicBezTo>
                  <a:pt x="196766" y="37733"/>
                  <a:pt x="182128" y="24716"/>
                  <a:pt x="164731" y="21776"/>
                </a:cubicBezTo>
                <a:cubicBezTo>
                  <a:pt x="143255" y="18237"/>
                  <a:pt x="119919" y="18417"/>
                  <a:pt x="100662" y="21836"/>
                </a:cubicBezTo>
                <a:cubicBezTo>
                  <a:pt x="73547" y="26635"/>
                  <a:pt x="68628" y="36654"/>
                  <a:pt x="68628" y="55190"/>
                </a:cubicBezTo>
                <a:lnTo>
                  <a:pt x="68628" y="79606"/>
                </a:lnTo>
                <a:lnTo>
                  <a:pt x="132757" y="79606"/>
                </a:lnTo>
                <a:lnTo>
                  <a:pt x="132757" y="87765"/>
                </a:lnTo>
                <a:lnTo>
                  <a:pt x="44572" y="87765"/>
                </a:lnTo>
                <a:cubicBezTo>
                  <a:pt x="25915" y="87765"/>
                  <a:pt x="9598" y="98983"/>
                  <a:pt x="4499" y="120279"/>
                </a:cubicBezTo>
                <a:cubicBezTo>
                  <a:pt x="-1380" y="144695"/>
                  <a:pt x="-1620" y="159932"/>
                  <a:pt x="4499" y="185428"/>
                </a:cubicBezTo>
                <a:cubicBezTo>
                  <a:pt x="9058" y="204384"/>
                  <a:pt x="19917" y="217942"/>
                  <a:pt x="38573" y="217942"/>
                </a:cubicBezTo>
                <a:lnTo>
                  <a:pt x="60589" y="217942"/>
                </a:lnTo>
                <a:lnTo>
                  <a:pt x="60589" y="188667"/>
                </a:lnTo>
                <a:cubicBezTo>
                  <a:pt x="60589" y="167491"/>
                  <a:pt x="78886" y="148834"/>
                  <a:pt x="100662" y="148834"/>
                </a:cubicBezTo>
                <a:close/>
                <a:moveTo>
                  <a:pt x="96703" y="38813"/>
                </a:moveTo>
                <a:cubicBezTo>
                  <a:pt x="103457" y="38813"/>
                  <a:pt x="108941" y="44297"/>
                  <a:pt x="108941" y="51051"/>
                </a:cubicBezTo>
                <a:cubicBezTo>
                  <a:pt x="108941" y="57805"/>
                  <a:pt x="103457" y="63289"/>
                  <a:pt x="96703" y="63289"/>
                </a:cubicBezTo>
                <a:cubicBezTo>
                  <a:pt x="89949" y="63289"/>
                  <a:pt x="84465" y="57805"/>
                  <a:pt x="84465" y="51051"/>
                </a:cubicBezTo>
                <a:cubicBezTo>
                  <a:pt x="84465" y="44297"/>
                  <a:pt x="89949" y="38813"/>
                  <a:pt x="96703" y="3881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1501604" y="2605302"/>
            <a:ext cx="3890519" cy="307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15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1604" y="2980703"/>
            <a:ext cx="3839328" cy="24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ecosystem of ML libraries, simplicity, and versatility.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2705" y="1296840"/>
            <a:ext cx="5673674" cy="2832571"/>
          </a:xfrm>
          <a:custGeom>
            <a:avLst/>
            <a:gdLst/>
            <a:ahLst/>
            <a:cxnLst/>
            <a:rect l="l" t="t" r="r" b="b"/>
            <a:pathLst>
              <a:path w="5673674" h="2832571">
                <a:moveTo>
                  <a:pt x="34127" y="0"/>
                </a:moveTo>
                <a:lnTo>
                  <a:pt x="5605409" y="0"/>
                </a:lnTo>
                <a:cubicBezTo>
                  <a:pt x="5643111" y="0"/>
                  <a:pt x="5673674" y="30563"/>
                  <a:pt x="5673674" y="68265"/>
                </a:cubicBezTo>
                <a:lnTo>
                  <a:pt x="5673674" y="2764306"/>
                </a:lnTo>
                <a:cubicBezTo>
                  <a:pt x="5673674" y="2802008"/>
                  <a:pt x="5643111" y="2832571"/>
                  <a:pt x="5605409" y="2832571"/>
                </a:cubicBezTo>
                <a:lnTo>
                  <a:pt x="34127" y="2832571"/>
                </a:lnTo>
                <a:cubicBezTo>
                  <a:pt x="15279" y="2832571"/>
                  <a:pt x="0" y="2817292"/>
                  <a:pt x="0" y="2798444"/>
                </a:cubicBezTo>
                <a:lnTo>
                  <a:pt x="0" y="34127"/>
                </a:lnTo>
                <a:cubicBezTo>
                  <a:pt x="0" y="15292"/>
                  <a:pt x="15292" y="0"/>
                  <a:pt x="3412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CB5A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6182705" y="1296840"/>
            <a:ext cx="34127" cy="2832571"/>
          </a:xfrm>
          <a:custGeom>
            <a:avLst/>
            <a:gdLst/>
            <a:ahLst/>
            <a:cxnLst/>
            <a:rect l="l" t="t" r="r" b="b"/>
            <a:pathLst>
              <a:path w="34127" h="2832571">
                <a:moveTo>
                  <a:pt x="34127" y="0"/>
                </a:moveTo>
                <a:lnTo>
                  <a:pt x="34127" y="0"/>
                </a:lnTo>
                <a:lnTo>
                  <a:pt x="34127" y="2832571"/>
                </a:lnTo>
                <a:lnTo>
                  <a:pt x="34127" y="2832571"/>
                </a:lnTo>
                <a:cubicBezTo>
                  <a:pt x="15279" y="2832571"/>
                  <a:pt x="0" y="2817292"/>
                  <a:pt x="0" y="2798444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6" name="Shape 14"/>
          <p:cNvSpPr/>
          <p:nvPr/>
        </p:nvSpPr>
        <p:spPr>
          <a:xfrm>
            <a:off x="6361874" y="1467368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47992" y="22396"/>
                </a:moveTo>
                <a:cubicBezTo>
                  <a:pt x="47992" y="10038"/>
                  <a:pt x="58030" y="0"/>
                  <a:pt x="70388" y="0"/>
                </a:cubicBezTo>
                <a:lnTo>
                  <a:pt x="79986" y="0"/>
                </a:lnTo>
                <a:cubicBezTo>
                  <a:pt x="87065" y="0"/>
                  <a:pt x="92784" y="5719"/>
                  <a:pt x="92784" y="12798"/>
                </a:cubicBezTo>
                <a:lnTo>
                  <a:pt x="92784" y="191966"/>
                </a:lnTo>
                <a:cubicBezTo>
                  <a:pt x="92784" y="199045"/>
                  <a:pt x="87065" y="204764"/>
                  <a:pt x="79986" y="204764"/>
                </a:cubicBezTo>
                <a:lnTo>
                  <a:pt x="67188" y="204764"/>
                </a:lnTo>
                <a:cubicBezTo>
                  <a:pt x="55270" y="204764"/>
                  <a:pt x="45232" y="196606"/>
                  <a:pt x="42393" y="185568"/>
                </a:cubicBezTo>
                <a:cubicBezTo>
                  <a:pt x="42113" y="185568"/>
                  <a:pt x="41873" y="185568"/>
                  <a:pt x="41593" y="185568"/>
                </a:cubicBezTo>
                <a:cubicBezTo>
                  <a:pt x="23916" y="185568"/>
                  <a:pt x="9598" y="171250"/>
                  <a:pt x="9598" y="153573"/>
                </a:cubicBezTo>
                <a:cubicBezTo>
                  <a:pt x="9598" y="146374"/>
                  <a:pt x="11998" y="139736"/>
                  <a:pt x="15997" y="134376"/>
                </a:cubicBezTo>
                <a:cubicBezTo>
                  <a:pt x="8239" y="128538"/>
                  <a:pt x="3199" y="119259"/>
                  <a:pt x="3199" y="108781"/>
                </a:cubicBezTo>
                <a:cubicBezTo>
                  <a:pt x="3199" y="96423"/>
                  <a:pt x="10238" y="85665"/>
                  <a:pt x="20476" y="80346"/>
                </a:cubicBezTo>
                <a:cubicBezTo>
                  <a:pt x="17637" y="75547"/>
                  <a:pt x="15997" y="69948"/>
                  <a:pt x="15997" y="63989"/>
                </a:cubicBezTo>
                <a:cubicBezTo>
                  <a:pt x="15997" y="46312"/>
                  <a:pt x="30315" y="31994"/>
                  <a:pt x="47992" y="31994"/>
                </a:cubicBezTo>
                <a:lnTo>
                  <a:pt x="47992" y="22396"/>
                </a:lnTo>
                <a:close/>
                <a:moveTo>
                  <a:pt x="156773" y="22396"/>
                </a:moveTo>
                <a:lnTo>
                  <a:pt x="156773" y="31994"/>
                </a:lnTo>
                <a:cubicBezTo>
                  <a:pt x="174449" y="31994"/>
                  <a:pt x="188767" y="46312"/>
                  <a:pt x="188767" y="63989"/>
                </a:cubicBezTo>
                <a:cubicBezTo>
                  <a:pt x="188767" y="69988"/>
                  <a:pt x="187127" y="75587"/>
                  <a:pt x="184288" y="80346"/>
                </a:cubicBezTo>
                <a:cubicBezTo>
                  <a:pt x="194566" y="85665"/>
                  <a:pt x="201565" y="96383"/>
                  <a:pt x="201565" y="108781"/>
                </a:cubicBezTo>
                <a:cubicBezTo>
                  <a:pt x="201565" y="119259"/>
                  <a:pt x="196526" y="128538"/>
                  <a:pt x="188767" y="134376"/>
                </a:cubicBezTo>
                <a:cubicBezTo>
                  <a:pt x="192766" y="139736"/>
                  <a:pt x="195166" y="146374"/>
                  <a:pt x="195166" y="153573"/>
                </a:cubicBezTo>
                <a:cubicBezTo>
                  <a:pt x="195166" y="171250"/>
                  <a:pt x="180848" y="185568"/>
                  <a:pt x="163171" y="185568"/>
                </a:cubicBezTo>
                <a:cubicBezTo>
                  <a:pt x="162891" y="185568"/>
                  <a:pt x="162652" y="185568"/>
                  <a:pt x="162372" y="185568"/>
                </a:cubicBezTo>
                <a:cubicBezTo>
                  <a:pt x="159532" y="196606"/>
                  <a:pt x="149494" y="204764"/>
                  <a:pt x="137576" y="204764"/>
                </a:cubicBezTo>
                <a:lnTo>
                  <a:pt x="124778" y="204764"/>
                </a:lnTo>
                <a:cubicBezTo>
                  <a:pt x="117699" y="204764"/>
                  <a:pt x="111980" y="199045"/>
                  <a:pt x="111980" y="191966"/>
                </a:cubicBezTo>
                <a:lnTo>
                  <a:pt x="111980" y="12798"/>
                </a:lnTo>
                <a:cubicBezTo>
                  <a:pt x="111980" y="5719"/>
                  <a:pt x="117699" y="0"/>
                  <a:pt x="124778" y="0"/>
                </a:cubicBezTo>
                <a:lnTo>
                  <a:pt x="134376" y="0"/>
                </a:lnTo>
                <a:cubicBezTo>
                  <a:pt x="146734" y="0"/>
                  <a:pt x="156773" y="10038"/>
                  <a:pt x="156773" y="2239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7" name="Text 15"/>
          <p:cNvSpPr/>
          <p:nvPr/>
        </p:nvSpPr>
        <p:spPr>
          <a:xfrm>
            <a:off x="6592233" y="1433349"/>
            <a:ext cx="5230018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Libraries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36278" y="1842769"/>
            <a:ext cx="5383591" cy="648420"/>
          </a:xfrm>
          <a:custGeom>
            <a:avLst/>
            <a:gdLst/>
            <a:ahLst/>
            <a:cxnLst/>
            <a:rect l="l" t="t" r="r" b="b"/>
            <a:pathLst>
              <a:path w="5383591" h="648420">
                <a:moveTo>
                  <a:pt x="68253" y="0"/>
                </a:moveTo>
                <a:lnTo>
                  <a:pt x="5315339" y="0"/>
                </a:lnTo>
                <a:cubicBezTo>
                  <a:pt x="5353034" y="0"/>
                  <a:pt x="5383591" y="30558"/>
                  <a:pt x="5383591" y="68253"/>
                </a:cubicBezTo>
                <a:lnTo>
                  <a:pt x="5383591" y="580167"/>
                </a:lnTo>
                <a:cubicBezTo>
                  <a:pt x="5383591" y="617862"/>
                  <a:pt x="5353034" y="648420"/>
                  <a:pt x="5315339" y="648420"/>
                </a:cubicBezTo>
                <a:lnTo>
                  <a:pt x="68253" y="648420"/>
                </a:lnTo>
                <a:cubicBezTo>
                  <a:pt x="30558" y="648420"/>
                  <a:pt x="0" y="617862"/>
                  <a:pt x="0" y="580167"/>
                </a:cubicBezTo>
                <a:lnTo>
                  <a:pt x="0" y="68253"/>
                </a:lnTo>
                <a:cubicBezTo>
                  <a:pt x="0" y="30583"/>
                  <a:pt x="30583" y="0"/>
                  <a:pt x="6825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4256" y="2064597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78026" y="3799"/>
                </a:moveTo>
                <a:cubicBezTo>
                  <a:pt x="79226" y="-2120"/>
                  <a:pt x="84465" y="-6399"/>
                  <a:pt x="90544" y="-6399"/>
                </a:cubicBezTo>
                <a:lnTo>
                  <a:pt x="114460" y="-6399"/>
                </a:lnTo>
                <a:cubicBezTo>
                  <a:pt x="120539" y="-6399"/>
                  <a:pt x="125778" y="-2120"/>
                  <a:pt x="126978" y="3799"/>
                </a:cubicBezTo>
                <a:lnTo>
                  <a:pt x="132777" y="31794"/>
                </a:lnTo>
                <a:cubicBezTo>
                  <a:pt x="138416" y="34194"/>
                  <a:pt x="143695" y="37273"/>
                  <a:pt x="148494" y="40913"/>
                </a:cubicBezTo>
                <a:lnTo>
                  <a:pt x="175609" y="31914"/>
                </a:lnTo>
                <a:cubicBezTo>
                  <a:pt x="181368" y="29995"/>
                  <a:pt x="187687" y="32394"/>
                  <a:pt x="190727" y="37673"/>
                </a:cubicBezTo>
                <a:lnTo>
                  <a:pt x="202685" y="58390"/>
                </a:lnTo>
                <a:cubicBezTo>
                  <a:pt x="205724" y="63669"/>
                  <a:pt x="204644" y="70308"/>
                  <a:pt x="200085" y="74347"/>
                </a:cubicBezTo>
                <a:lnTo>
                  <a:pt x="178769" y="93304"/>
                </a:lnTo>
                <a:cubicBezTo>
                  <a:pt x="179129" y="96263"/>
                  <a:pt x="179289" y="99303"/>
                  <a:pt x="179289" y="102382"/>
                </a:cubicBezTo>
                <a:cubicBezTo>
                  <a:pt x="179289" y="105462"/>
                  <a:pt x="179089" y="108501"/>
                  <a:pt x="178769" y="111460"/>
                </a:cubicBezTo>
                <a:lnTo>
                  <a:pt x="200125" y="130457"/>
                </a:lnTo>
                <a:cubicBezTo>
                  <a:pt x="204684" y="134496"/>
                  <a:pt x="205724" y="141175"/>
                  <a:pt x="202725" y="146414"/>
                </a:cubicBezTo>
                <a:lnTo>
                  <a:pt x="190767" y="167131"/>
                </a:lnTo>
                <a:cubicBezTo>
                  <a:pt x="187727" y="172370"/>
                  <a:pt x="181408" y="174809"/>
                  <a:pt x="175649" y="172890"/>
                </a:cubicBezTo>
                <a:lnTo>
                  <a:pt x="148534" y="163891"/>
                </a:lnTo>
                <a:cubicBezTo>
                  <a:pt x="143695" y="167531"/>
                  <a:pt x="138416" y="170570"/>
                  <a:pt x="132817" y="173010"/>
                </a:cubicBezTo>
                <a:lnTo>
                  <a:pt x="127058" y="200965"/>
                </a:lnTo>
                <a:cubicBezTo>
                  <a:pt x="125818" y="206924"/>
                  <a:pt x="120579" y="211163"/>
                  <a:pt x="114540" y="211163"/>
                </a:cubicBezTo>
                <a:lnTo>
                  <a:pt x="90624" y="211163"/>
                </a:lnTo>
                <a:cubicBezTo>
                  <a:pt x="84545" y="211163"/>
                  <a:pt x="79306" y="206884"/>
                  <a:pt x="78106" y="200965"/>
                </a:cubicBezTo>
                <a:lnTo>
                  <a:pt x="72347" y="173010"/>
                </a:lnTo>
                <a:cubicBezTo>
                  <a:pt x="66708" y="170610"/>
                  <a:pt x="61469" y="167531"/>
                  <a:pt x="56630" y="163891"/>
                </a:cubicBezTo>
                <a:lnTo>
                  <a:pt x="29395" y="172890"/>
                </a:lnTo>
                <a:cubicBezTo>
                  <a:pt x="23636" y="174809"/>
                  <a:pt x="17317" y="172410"/>
                  <a:pt x="14278" y="167131"/>
                </a:cubicBezTo>
                <a:lnTo>
                  <a:pt x="2320" y="146414"/>
                </a:lnTo>
                <a:cubicBezTo>
                  <a:pt x="-720" y="141135"/>
                  <a:pt x="360" y="134496"/>
                  <a:pt x="4919" y="130457"/>
                </a:cubicBezTo>
                <a:lnTo>
                  <a:pt x="26275" y="111460"/>
                </a:lnTo>
                <a:cubicBezTo>
                  <a:pt x="25915" y="108501"/>
                  <a:pt x="25755" y="105462"/>
                  <a:pt x="25755" y="102382"/>
                </a:cubicBezTo>
                <a:cubicBezTo>
                  <a:pt x="25755" y="99303"/>
                  <a:pt x="25955" y="96263"/>
                  <a:pt x="26275" y="93304"/>
                </a:cubicBezTo>
                <a:lnTo>
                  <a:pt x="4919" y="74307"/>
                </a:lnTo>
                <a:cubicBezTo>
                  <a:pt x="360" y="70268"/>
                  <a:pt x="-680" y="63589"/>
                  <a:pt x="2320" y="58350"/>
                </a:cubicBezTo>
                <a:lnTo>
                  <a:pt x="14278" y="37633"/>
                </a:lnTo>
                <a:cubicBezTo>
                  <a:pt x="17317" y="32354"/>
                  <a:pt x="23636" y="29955"/>
                  <a:pt x="29395" y="31874"/>
                </a:cubicBezTo>
                <a:lnTo>
                  <a:pt x="56510" y="40873"/>
                </a:lnTo>
                <a:cubicBezTo>
                  <a:pt x="61349" y="37233"/>
                  <a:pt x="66628" y="34194"/>
                  <a:pt x="72227" y="31754"/>
                </a:cubicBezTo>
                <a:lnTo>
                  <a:pt x="78026" y="3799"/>
                </a:lnTo>
                <a:close/>
                <a:moveTo>
                  <a:pt x="102502" y="134376"/>
                </a:moveTo>
                <a:cubicBezTo>
                  <a:pt x="113933" y="134334"/>
                  <a:pt x="124472" y="128196"/>
                  <a:pt x="130150" y="118275"/>
                </a:cubicBezTo>
                <a:cubicBezTo>
                  <a:pt x="135828" y="108355"/>
                  <a:pt x="135782" y="96159"/>
                  <a:pt x="130030" y="86281"/>
                </a:cubicBezTo>
                <a:cubicBezTo>
                  <a:pt x="124278" y="76403"/>
                  <a:pt x="113693" y="70345"/>
                  <a:pt x="102262" y="70388"/>
                </a:cubicBezTo>
                <a:cubicBezTo>
                  <a:pt x="90832" y="70431"/>
                  <a:pt x="80292" y="76568"/>
                  <a:pt x="74614" y="86489"/>
                </a:cubicBezTo>
                <a:cubicBezTo>
                  <a:pt x="68936" y="96409"/>
                  <a:pt x="68982" y="108606"/>
                  <a:pt x="74734" y="118483"/>
                </a:cubicBezTo>
                <a:cubicBezTo>
                  <a:pt x="80486" y="128361"/>
                  <a:pt x="91072" y="134419"/>
                  <a:pt x="102502" y="13437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0" name="Text 18"/>
          <p:cNvSpPr/>
          <p:nvPr/>
        </p:nvSpPr>
        <p:spPr>
          <a:xfrm>
            <a:off x="6796998" y="1945151"/>
            <a:ext cx="91290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96998" y="2184043"/>
            <a:ext cx="90437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algorithms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36278" y="2593571"/>
            <a:ext cx="5383591" cy="648420"/>
          </a:xfrm>
          <a:custGeom>
            <a:avLst/>
            <a:gdLst/>
            <a:ahLst/>
            <a:cxnLst/>
            <a:rect l="l" t="t" r="r" b="b"/>
            <a:pathLst>
              <a:path w="5383591" h="648420">
                <a:moveTo>
                  <a:pt x="68253" y="0"/>
                </a:moveTo>
                <a:lnTo>
                  <a:pt x="5315339" y="0"/>
                </a:lnTo>
                <a:cubicBezTo>
                  <a:pt x="5353034" y="0"/>
                  <a:pt x="5383591" y="30558"/>
                  <a:pt x="5383591" y="68253"/>
                </a:cubicBezTo>
                <a:lnTo>
                  <a:pt x="5383591" y="580167"/>
                </a:lnTo>
                <a:cubicBezTo>
                  <a:pt x="5383591" y="617862"/>
                  <a:pt x="5353034" y="648420"/>
                  <a:pt x="5315339" y="648420"/>
                </a:cubicBezTo>
                <a:lnTo>
                  <a:pt x="68253" y="648420"/>
                </a:lnTo>
                <a:cubicBezTo>
                  <a:pt x="30558" y="648420"/>
                  <a:pt x="0" y="617862"/>
                  <a:pt x="0" y="580167"/>
                </a:cubicBezTo>
                <a:lnTo>
                  <a:pt x="0" y="68253"/>
                </a:lnTo>
                <a:cubicBezTo>
                  <a:pt x="0" y="30583"/>
                  <a:pt x="30583" y="0"/>
                  <a:pt x="6825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7054" y="2815399"/>
            <a:ext cx="179169" cy="204764"/>
          </a:xfrm>
          <a:custGeom>
            <a:avLst/>
            <a:gdLst/>
            <a:ahLst/>
            <a:cxnLst/>
            <a:rect l="l" t="t" r="r" b="b"/>
            <a:pathLst>
              <a:path w="179169" h="204764">
                <a:moveTo>
                  <a:pt x="102382" y="63989"/>
                </a:moveTo>
                <a:lnTo>
                  <a:pt x="102382" y="102382"/>
                </a:lnTo>
                <a:lnTo>
                  <a:pt x="153573" y="102382"/>
                </a:lnTo>
                <a:lnTo>
                  <a:pt x="153573" y="63989"/>
                </a:lnTo>
                <a:lnTo>
                  <a:pt x="102382" y="63989"/>
                </a:lnTo>
                <a:close/>
                <a:moveTo>
                  <a:pt x="76787" y="63989"/>
                </a:moveTo>
                <a:lnTo>
                  <a:pt x="25596" y="63989"/>
                </a:lnTo>
                <a:lnTo>
                  <a:pt x="25596" y="102382"/>
                </a:lnTo>
                <a:lnTo>
                  <a:pt x="76787" y="102382"/>
                </a:lnTo>
                <a:lnTo>
                  <a:pt x="76787" y="63989"/>
                </a:lnTo>
                <a:close/>
                <a:moveTo>
                  <a:pt x="0" y="127978"/>
                </a:moveTo>
                <a:lnTo>
                  <a:pt x="0" y="38393"/>
                </a:lnTo>
                <a:cubicBezTo>
                  <a:pt x="0" y="24276"/>
                  <a:pt x="11478" y="12798"/>
                  <a:pt x="25596" y="12798"/>
                </a:cubicBezTo>
                <a:lnTo>
                  <a:pt x="153573" y="12798"/>
                </a:lnTo>
                <a:cubicBezTo>
                  <a:pt x="167691" y="12798"/>
                  <a:pt x="179169" y="24276"/>
                  <a:pt x="179169" y="38393"/>
                </a:cubicBezTo>
                <a:lnTo>
                  <a:pt x="179169" y="166371"/>
                </a:lnTo>
                <a:cubicBezTo>
                  <a:pt x="179169" y="180488"/>
                  <a:pt x="167691" y="191966"/>
                  <a:pt x="153573" y="191966"/>
                </a:cubicBezTo>
                <a:lnTo>
                  <a:pt x="25596" y="191966"/>
                </a:lnTo>
                <a:cubicBezTo>
                  <a:pt x="11478" y="191966"/>
                  <a:pt x="0" y="180488"/>
                  <a:pt x="0" y="166371"/>
                </a:cubicBezTo>
                <a:lnTo>
                  <a:pt x="0" y="127978"/>
                </a:lnTo>
                <a:close/>
                <a:moveTo>
                  <a:pt x="153573" y="127978"/>
                </a:moveTo>
                <a:lnTo>
                  <a:pt x="102382" y="127978"/>
                </a:lnTo>
                <a:lnTo>
                  <a:pt x="102382" y="166371"/>
                </a:lnTo>
                <a:lnTo>
                  <a:pt x="153573" y="166371"/>
                </a:lnTo>
                <a:lnTo>
                  <a:pt x="153573" y="127978"/>
                </a:lnTo>
                <a:close/>
                <a:moveTo>
                  <a:pt x="76787" y="166371"/>
                </a:moveTo>
                <a:lnTo>
                  <a:pt x="76787" y="127978"/>
                </a:lnTo>
                <a:lnTo>
                  <a:pt x="25596" y="127978"/>
                </a:lnTo>
                <a:lnTo>
                  <a:pt x="25596" y="166371"/>
                </a:lnTo>
                <a:lnTo>
                  <a:pt x="76787" y="166371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4" name="Text 22"/>
          <p:cNvSpPr/>
          <p:nvPr/>
        </p:nvSpPr>
        <p:spPr>
          <a:xfrm>
            <a:off x="6796998" y="2695953"/>
            <a:ext cx="1151798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96998" y="2934845"/>
            <a:ext cx="114326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manipulation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36278" y="3344373"/>
            <a:ext cx="5383591" cy="648420"/>
          </a:xfrm>
          <a:custGeom>
            <a:avLst/>
            <a:gdLst/>
            <a:ahLst/>
            <a:cxnLst/>
            <a:rect l="l" t="t" r="r" b="b"/>
            <a:pathLst>
              <a:path w="5383591" h="648420">
                <a:moveTo>
                  <a:pt x="68253" y="0"/>
                </a:moveTo>
                <a:lnTo>
                  <a:pt x="5315339" y="0"/>
                </a:lnTo>
                <a:cubicBezTo>
                  <a:pt x="5353034" y="0"/>
                  <a:pt x="5383591" y="30558"/>
                  <a:pt x="5383591" y="68253"/>
                </a:cubicBezTo>
                <a:lnTo>
                  <a:pt x="5383591" y="580167"/>
                </a:lnTo>
                <a:cubicBezTo>
                  <a:pt x="5383591" y="617862"/>
                  <a:pt x="5353034" y="648420"/>
                  <a:pt x="5315339" y="648420"/>
                </a:cubicBezTo>
                <a:lnTo>
                  <a:pt x="68253" y="648420"/>
                </a:lnTo>
                <a:cubicBezTo>
                  <a:pt x="30558" y="648420"/>
                  <a:pt x="0" y="617862"/>
                  <a:pt x="0" y="580167"/>
                </a:cubicBezTo>
                <a:lnTo>
                  <a:pt x="0" y="68253"/>
                </a:lnTo>
                <a:cubicBezTo>
                  <a:pt x="0" y="30583"/>
                  <a:pt x="30583" y="0"/>
                  <a:pt x="6825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6489851" y="3566201"/>
            <a:ext cx="153573" cy="204764"/>
          </a:xfrm>
          <a:custGeom>
            <a:avLst/>
            <a:gdLst/>
            <a:ahLst/>
            <a:cxnLst/>
            <a:rect l="l" t="t" r="r" b="b"/>
            <a:pathLst>
              <a:path w="153573" h="204764">
                <a:moveTo>
                  <a:pt x="25596" y="0"/>
                </a:moveTo>
                <a:cubicBezTo>
                  <a:pt x="11478" y="0"/>
                  <a:pt x="0" y="11478"/>
                  <a:pt x="0" y="25596"/>
                </a:cubicBezTo>
                <a:lnTo>
                  <a:pt x="0" y="179169"/>
                </a:lnTo>
                <a:cubicBezTo>
                  <a:pt x="0" y="193286"/>
                  <a:pt x="11478" y="204764"/>
                  <a:pt x="25596" y="204764"/>
                </a:cubicBezTo>
                <a:lnTo>
                  <a:pt x="127978" y="204764"/>
                </a:lnTo>
                <a:cubicBezTo>
                  <a:pt x="142095" y="204764"/>
                  <a:pt x="153573" y="193286"/>
                  <a:pt x="153573" y="179169"/>
                </a:cubicBezTo>
                <a:lnTo>
                  <a:pt x="153573" y="25596"/>
                </a:lnTo>
                <a:cubicBezTo>
                  <a:pt x="153573" y="11478"/>
                  <a:pt x="142095" y="0"/>
                  <a:pt x="127978" y="0"/>
                </a:cubicBezTo>
                <a:lnTo>
                  <a:pt x="25596" y="0"/>
                </a:lnTo>
                <a:close/>
                <a:moveTo>
                  <a:pt x="38393" y="25596"/>
                </a:moveTo>
                <a:lnTo>
                  <a:pt x="115180" y="25596"/>
                </a:lnTo>
                <a:cubicBezTo>
                  <a:pt x="122259" y="25596"/>
                  <a:pt x="127978" y="31315"/>
                  <a:pt x="127978" y="38393"/>
                </a:cubicBezTo>
                <a:lnTo>
                  <a:pt x="127978" y="51191"/>
                </a:lnTo>
                <a:cubicBezTo>
                  <a:pt x="127978" y="58270"/>
                  <a:pt x="122259" y="63989"/>
                  <a:pt x="115180" y="63989"/>
                </a:cubicBezTo>
                <a:lnTo>
                  <a:pt x="38393" y="63989"/>
                </a:lnTo>
                <a:cubicBezTo>
                  <a:pt x="31315" y="63989"/>
                  <a:pt x="25596" y="58270"/>
                  <a:pt x="25596" y="51191"/>
                </a:cubicBezTo>
                <a:lnTo>
                  <a:pt x="25596" y="38393"/>
                </a:lnTo>
                <a:cubicBezTo>
                  <a:pt x="25596" y="31315"/>
                  <a:pt x="31315" y="25596"/>
                  <a:pt x="38393" y="25596"/>
                </a:cubicBezTo>
                <a:close/>
                <a:moveTo>
                  <a:pt x="44792" y="92784"/>
                </a:moveTo>
                <a:cubicBezTo>
                  <a:pt x="44792" y="98081"/>
                  <a:pt x="40491" y="102382"/>
                  <a:pt x="35194" y="102382"/>
                </a:cubicBezTo>
                <a:cubicBezTo>
                  <a:pt x="29896" y="102382"/>
                  <a:pt x="25596" y="98081"/>
                  <a:pt x="25596" y="92784"/>
                </a:cubicBezTo>
                <a:cubicBezTo>
                  <a:pt x="25596" y="87486"/>
                  <a:pt x="29896" y="83185"/>
                  <a:pt x="35194" y="83185"/>
                </a:cubicBezTo>
                <a:cubicBezTo>
                  <a:pt x="40491" y="83185"/>
                  <a:pt x="44792" y="87486"/>
                  <a:pt x="44792" y="92784"/>
                </a:cubicBezTo>
                <a:close/>
                <a:moveTo>
                  <a:pt x="76787" y="102382"/>
                </a:moveTo>
                <a:cubicBezTo>
                  <a:pt x="71489" y="102382"/>
                  <a:pt x="67188" y="98081"/>
                  <a:pt x="67188" y="92784"/>
                </a:cubicBezTo>
                <a:cubicBezTo>
                  <a:pt x="67188" y="87486"/>
                  <a:pt x="71489" y="83185"/>
                  <a:pt x="76787" y="83185"/>
                </a:cubicBezTo>
                <a:cubicBezTo>
                  <a:pt x="82084" y="83185"/>
                  <a:pt x="86385" y="87486"/>
                  <a:pt x="86385" y="92784"/>
                </a:cubicBezTo>
                <a:cubicBezTo>
                  <a:pt x="86385" y="98081"/>
                  <a:pt x="82084" y="102382"/>
                  <a:pt x="76787" y="102382"/>
                </a:cubicBezTo>
                <a:close/>
                <a:moveTo>
                  <a:pt x="127978" y="92784"/>
                </a:moveTo>
                <a:cubicBezTo>
                  <a:pt x="127978" y="98081"/>
                  <a:pt x="123677" y="102382"/>
                  <a:pt x="118379" y="102382"/>
                </a:cubicBezTo>
                <a:cubicBezTo>
                  <a:pt x="113082" y="102382"/>
                  <a:pt x="108781" y="98081"/>
                  <a:pt x="108781" y="92784"/>
                </a:cubicBezTo>
                <a:cubicBezTo>
                  <a:pt x="108781" y="87486"/>
                  <a:pt x="113082" y="83185"/>
                  <a:pt x="118379" y="83185"/>
                </a:cubicBezTo>
                <a:cubicBezTo>
                  <a:pt x="123677" y="83185"/>
                  <a:pt x="127978" y="87486"/>
                  <a:pt x="127978" y="92784"/>
                </a:cubicBezTo>
                <a:close/>
                <a:moveTo>
                  <a:pt x="35194" y="140775"/>
                </a:moveTo>
                <a:cubicBezTo>
                  <a:pt x="29896" y="140775"/>
                  <a:pt x="25596" y="136475"/>
                  <a:pt x="25596" y="131177"/>
                </a:cubicBezTo>
                <a:cubicBezTo>
                  <a:pt x="25596" y="125880"/>
                  <a:pt x="29896" y="121579"/>
                  <a:pt x="35194" y="121579"/>
                </a:cubicBezTo>
                <a:cubicBezTo>
                  <a:pt x="40491" y="121579"/>
                  <a:pt x="44792" y="125880"/>
                  <a:pt x="44792" y="131177"/>
                </a:cubicBezTo>
                <a:cubicBezTo>
                  <a:pt x="44792" y="136475"/>
                  <a:pt x="40491" y="140775"/>
                  <a:pt x="35194" y="140775"/>
                </a:cubicBezTo>
                <a:close/>
                <a:moveTo>
                  <a:pt x="86385" y="131177"/>
                </a:moveTo>
                <a:cubicBezTo>
                  <a:pt x="86385" y="136475"/>
                  <a:pt x="82084" y="140775"/>
                  <a:pt x="76787" y="140775"/>
                </a:cubicBezTo>
                <a:cubicBezTo>
                  <a:pt x="71489" y="140775"/>
                  <a:pt x="67188" y="136475"/>
                  <a:pt x="67188" y="131177"/>
                </a:cubicBezTo>
                <a:cubicBezTo>
                  <a:pt x="67188" y="125880"/>
                  <a:pt x="71489" y="121579"/>
                  <a:pt x="76787" y="121579"/>
                </a:cubicBezTo>
                <a:cubicBezTo>
                  <a:pt x="82084" y="121579"/>
                  <a:pt x="86385" y="125880"/>
                  <a:pt x="86385" y="131177"/>
                </a:cubicBezTo>
                <a:close/>
                <a:moveTo>
                  <a:pt x="118379" y="140775"/>
                </a:moveTo>
                <a:cubicBezTo>
                  <a:pt x="113082" y="140775"/>
                  <a:pt x="108781" y="136475"/>
                  <a:pt x="108781" y="131177"/>
                </a:cubicBezTo>
                <a:cubicBezTo>
                  <a:pt x="108781" y="125880"/>
                  <a:pt x="113082" y="121579"/>
                  <a:pt x="118379" y="121579"/>
                </a:cubicBezTo>
                <a:cubicBezTo>
                  <a:pt x="123677" y="121579"/>
                  <a:pt x="127978" y="125880"/>
                  <a:pt x="127978" y="131177"/>
                </a:cubicBezTo>
                <a:cubicBezTo>
                  <a:pt x="127978" y="136475"/>
                  <a:pt x="123677" y="140775"/>
                  <a:pt x="118379" y="140775"/>
                </a:cubicBezTo>
                <a:close/>
                <a:moveTo>
                  <a:pt x="25596" y="169570"/>
                </a:moveTo>
                <a:cubicBezTo>
                  <a:pt x="25596" y="164251"/>
                  <a:pt x="29875" y="159972"/>
                  <a:pt x="35194" y="159972"/>
                </a:cubicBezTo>
                <a:lnTo>
                  <a:pt x="79986" y="159972"/>
                </a:lnTo>
                <a:cubicBezTo>
                  <a:pt x="85305" y="159972"/>
                  <a:pt x="89584" y="164251"/>
                  <a:pt x="89584" y="169570"/>
                </a:cubicBezTo>
                <a:cubicBezTo>
                  <a:pt x="89584" y="174889"/>
                  <a:pt x="85305" y="179169"/>
                  <a:pt x="79986" y="179169"/>
                </a:cubicBezTo>
                <a:lnTo>
                  <a:pt x="35194" y="179169"/>
                </a:lnTo>
                <a:cubicBezTo>
                  <a:pt x="29875" y="179169"/>
                  <a:pt x="25596" y="174889"/>
                  <a:pt x="25596" y="169570"/>
                </a:cubicBezTo>
                <a:close/>
                <a:moveTo>
                  <a:pt x="118379" y="159972"/>
                </a:moveTo>
                <a:cubicBezTo>
                  <a:pt x="123698" y="159972"/>
                  <a:pt x="127978" y="164251"/>
                  <a:pt x="127978" y="169570"/>
                </a:cubicBezTo>
                <a:cubicBezTo>
                  <a:pt x="127978" y="174889"/>
                  <a:pt x="123698" y="179169"/>
                  <a:pt x="118379" y="179169"/>
                </a:cubicBezTo>
                <a:cubicBezTo>
                  <a:pt x="113060" y="179169"/>
                  <a:pt x="108781" y="174889"/>
                  <a:pt x="108781" y="169570"/>
                </a:cubicBezTo>
                <a:cubicBezTo>
                  <a:pt x="108781" y="164251"/>
                  <a:pt x="113060" y="159972"/>
                  <a:pt x="118379" y="159972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8" name="Text 26"/>
          <p:cNvSpPr/>
          <p:nvPr/>
        </p:nvSpPr>
        <p:spPr>
          <a:xfrm>
            <a:off x="6796998" y="3446755"/>
            <a:ext cx="1348031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96998" y="3685647"/>
            <a:ext cx="133949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Numerical computing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8337" y="4265812"/>
            <a:ext cx="5673674" cy="1672241"/>
          </a:xfrm>
          <a:custGeom>
            <a:avLst/>
            <a:gdLst/>
            <a:ahLst/>
            <a:cxnLst/>
            <a:rect l="l" t="t" r="r" b="b"/>
            <a:pathLst>
              <a:path w="5673674" h="1672241">
                <a:moveTo>
                  <a:pt x="34127" y="0"/>
                </a:moveTo>
                <a:lnTo>
                  <a:pt x="5605413" y="0"/>
                </a:lnTo>
                <a:cubicBezTo>
                  <a:pt x="5643112" y="0"/>
                  <a:pt x="5673674" y="30561"/>
                  <a:pt x="5673674" y="68261"/>
                </a:cubicBezTo>
                <a:lnTo>
                  <a:pt x="5673674" y="1603980"/>
                </a:lnTo>
                <a:cubicBezTo>
                  <a:pt x="5673674" y="1641679"/>
                  <a:pt x="5643112" y="1672241"/>
                  <a:pt x="5605413" y="1672241"/>
                </a:cubicBezTo>
                <a:lnTo>
                  <a:pt x="34127" y="1672241"/>
                </a:lnTo>
                <a:cubicBezTo>
                  <a:pt x="15279" y="1672241"/>
                  <a:pt x="0" y="1656961"/>
                  <a:pt x="0" y="1638113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358337" y="4265812"/>
            <a:ext cx="34127" cy="1672241"/>
          </a:xfrm>
          <a:custGeom>
            <a:avLst/>
            <a:gdLst/>
            <a:ahLst/>
            <a:cxnLst/>
            <a:rect l="l" t="t" r="r" b="b"/>
            <a:pathLst>
              <a:path w="34127" h="1672241">
                <a:moveTo>
                  <a:pt x="34127" y="0"/>
                </a:moveTo>
                <a:lnTo>
                  <a:pt x="34127" y="0"/>
                </a:lnTo>
                <a:lnTo>
                  <a:pt x="34127" y="1672241"/>
                </a:lnTo>
                <a:lnTo>
                  <a:pt x="34127" y="1672241"/>
                </a:lnTo>
                <a:cubicBezTo>
                  <a:pt x="15279" y="1672241"/>
                  <a:pt x="0" y="1656961"/>
                  <a:pt x="0" y="1638113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2" name="Shape 30"/>
          <p:cNvSpPr/>
          <p:nvPr/>
        </p:nvSpPr>
        <p:spPr>
          <a:xfrm>
            <a:off x="537506" y="4436340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12798" y="12798"/>
                </a:moveTo>
                <a:cubicBezTo>
                  <a:pt x="19877" y="12798"/>
                  <a:pt x="25596" y="18517"/>
                  <a:pt x="25596" y="25596"/>
                </a:cubicBezTo>
                <a:lnTo>
                  <a:pt x="25596" y="159972"/>
                </a:lnTo>
                <a:cubicBezTo>
                  <a:pt x="25596" y="163491"/>
                  <a:pt x="28475" y="166371"/>
                  <a:pt x="31994" y="166371"/>
                </a:cubicBezTo>
                <a:lnTo>
                  <a:pt x="191966" y="166371"/>
                </a:lnTo>
                <a:cubicBezTo>
                  <a:pt x="199045" y="166371"/>
                  <a:pt x="204764" y="172090"/>
                  <a:pt x="204764" y="179169"/>
                </a:cubicBezTo>
                <a:cubicBezTo>
                  <a:pt x="204764" y="186247"/>
                  <a:pt x="199045" y="191966"/>
                  <a:pt x="191966" y="191966"/>
                </a:cubicBezTo>
                <a:lnTo>
                  <a:pt x="31994" y="191966"/>
                </a:lnTo>
                <a:cubicBezTo>
                  <a:pt x="14317" y="191966"/>
                  <a:pt x="0" y="177649"/>
                  <a:pt x="0" y="159972"/>
                </a:cubicBezTo>
                <a:lnTo>
                  <a:pt x="0" y="25596"/>
                </a:lnTo>
                <a:cubicBezTo>
                  <a:pt x="0" y="18517"/>
                  <a:pt x="5719" y="12798"/>
                  <a:pt x="12798" y="12798"/>
                </a:cubicBezTo>
                <a:close/>
                <a:moveTo>
                  <a:pt x="51191" y="38393"/>
                </a:moveTo>
                <a:cubicBezTo>
                  <a:pt x="51191" y="31315"/>
                  <a:pt x="56910" y="25596"/>
                  <a:pt x="63989" y="25596"/>
                </a:cubicBezTo>
                <a:lnTo>
                  <a:pt x="140775" y="25596"/>
                </a:lnTo>
                <a:cubicBezTo>
                  <a:pt x="147854" y="25596"/>
                  <a:pt x="153573" y="31315"/>
                  <a:pt x="153573" y="38393"/>
                </a:cubicBezTo>
                <a:cubicBezTo>
                  <a:pt x="153573" y="45472"/>
                  <a:pt x="147854" y="51191"/>
                  <a:pt x="140775" y="51191"/>
                </a:cubicBezTo>
                <a:lnTo>
                  <a:pt x="63989" y="51191"/>
                </a:lnTo>
                <a:cubicBezTo>
                  <a:pt x="56910" y="51191"/>
                  <a:pt x="51191" y="45472"/>
                  <a:pt x="51191" y="38393"/>
                </a:cubicBezTo>
                <a:close/>
                <a:moveTo>
                  <a:pt x="63989" y="70388"/>
                </a:moveTo>
                <a:lnTo>
                  <a:pt x="115180" y="70388"/>
                </a:lnTo>
                <a:cubicBezTo>
                  <a:pt x="122259" y="70388"/>
                  <a:pt x="127978" y="76107"/>
                  <a:pt x="127978" y="83185"/>
                </a:cubicBezTo>
                <a:cubicBezTo>
                  <a:pt x="127978" y="90264"/>
                  <a:pt x="122259" y="95983"/>
                  <a:pt x="115180" y="95983"/>
                </a:cubicBezTo>
                <a:lnTo>
                  <a:pt x="63989" y="95983"/>
                </a:lnTo>
                <a:cubicBezTo>
                  <a:pt x="56910" y="95983"/>
                  <a:pt x="51191" y="90264"/>
                  <a:pt x="51191" y="83185"/>
                </a:cubicBezTo>
                <a:cubicBezTo>
                  <a:pt x="51191" y="76107"/>
                  <a:pt x="56910" y="70388"/>
                  <a:pt x="63989" y="70388"/>
                </a:cubicBezTo>
                <a:close/>
                <a:moveTo>
                  <a:pt x="63989" y="115180"/>
                </a:moveTo>
                <a:lnTo>
                  <a:pt x="166371" y="115180"/>
                </a:lnTo>
                <a:cubicBezTo>
                  <a:pt x="173450" y="115180"/>
                  <a:pt x="179169" y="120899"/>
                  <a:pt x="179169" y="127978"/>
                </a:cubicBezTo>
                <a:cubicBezTo>
                  <a:pt x="179169" y="135056"/>
                  <a:pt x="173450" y="140775"/>
                  <a:pt x="166371" y="140775"/>
                </a:cubicBezTo>
                <a:lnTo>
                  <a:pt x="63989" y="140775"/>
                </a:lnTo>
                <a:cubicBezTo>
                  <a:pt x="56910" y="140775"/>
                  <a:pt x="51191" y="135056"/>
                  <a:pt x="51191" y="127978"/>
                </a:cubicBezTo>
                <a:cubicBezTo>
                  <a:pt x="51191" y="120899"/>
                  <a:pt x="56910" y="115180"/>
                  <a:pt x="63989" y="11518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3" name="Text 31"/>
          <p:cNvSpPr/>
          <p:nvPr/>
        </p:nvSpPr>
        <p:spPr>
          <a:xfrm>
            <a:off x="767866" y="4402321"/>
            <a:ext cx="5230018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 Tools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1910" y="4811741"/>
            <a:ext cx="2636339" cy="972630"/>
          </a:xfrm>
          <a:custGeom>
            <a:avLst/>
            <a:gdLst/>
            <a:ahLst/>
            <a:cxnLst/>
            <a:rect l="l" t="t" r="r" b="b"/>
            <a:pathLst>
              <a:path w="2636339" h="972630">
                <a:moveTo>
                  <a:pt x="68259" y="0"/>
                </a:moveTo>
                <a:lnTo>
                  <a:pt x="2568080" y="0"/>
                </a:lnTo>
                <a:cubicBezTo>
                  <a:pt x="2605778" y="0"/>
                  <a:pt x="2636339" y="30561"/>
                  <a:pt x="2636339" y="68259"/>
                </a:cubicBezTo>
                <a:lnTo>
                  <a:pt x="2636339" y="904371"/>
                </a:lnTo>
                <a:cubicBezTo>
                  <a:pt x="2636339" y="942069"/>
                  <a:pt x="2605778" y="972630"/>
                  <a:pt x="2568080" y="972630"/>
                </a:cubicBezTo>
                <a:lnTo>
                  <a:pt x="68259" y="972630"/>
                </a:lnTo>
                <a:cubicBezTo>
                  <a:pt x="30561" y="972630"/>
                  <a:pt x="0" y="942069"/>
                  <a:pt x="0" y="904371"/>
                </a:cubicBezTo>
                <a:lnTo>
                  <a:pt x="0" y="68259"/>
                </a:lnTo>
                <a:cubicBezTo>
                  <a:pt x="0" y="30561"/>
                  <a:pt x="30561" y="0"/>
                  <a:pt x="6825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Shape 33"/>
          <p:cNvSpPr/>
          <p:nvPr/>
        </p:nvSpPr>
        <p:spPr>
          <a:xfrm>
            <a:off x="1705622" y="4914123"/>
            <a:ext cx="255955" cy="255955"/>
          </a:xfrm>
          <a:custGeom>
            <a:avLst/>
            <a:gdLst/>
            <a:ahLst/>
            <a:cxnLst/>
            <a:rect l="l" t="t" r="r" b="b"/>
            <a:pathLst>
              <a:path w="255955" h="255955">
                <a:moveTo>
                  <a:pt x="31994" y="31994"/>
                </a:moveTo>
                <a:cubicBezTo>
                  <a:pt x="31994" y="23146"/>
                  <a:pt x="24846" y="15997"/>
                  <a:pt x="15997" y="15997"/>
                </a:cubicBezTo>
                <a:cubicBezTo>
                  <a:pt x="7149" y="15997"/>
                  <a:pt x="0" y="23146"/>
                  <a:pt x="0" y="31994"/>
                </a:cubicBezTo>
                <a:lnTo>
                  <a:pt x="0" y="199965"/>
                </a:lnTo>
                <a:cubicBezTo>
                  <a:pt x="0" y="222061"/>
                  <a:pt x="17897" y="239958"/>
                  <a:pt x="39993" y="239958"/>
                </a:cubicBezTo>
                <a:lnTo>
                  <a:pt x="239958" y="239958"/>
                </a:lnTo>
                <a:cubicBezTo>
                  <a:pt x="248806" y="239958"/>
                  <a:pt x="255955" y="232809"/>
                  <a:pt x="255955" y="223961"/>
                </a:cubicBezTo>
                <a:cubicBezTo>
                  <a:pt x="255955" y="215112"/>
                  <a:pt x="248806" y="207964"/>
                  <a:pt x="239958" y="207964"/>
                </a:cubicBezTo>
                <a:lnTo>
                  <a:pt x="39993" y="207964"/>
                </a:lnTo>
                <a:cubicBezTo>
                  <a:pt x="35594" y="207964"/>
                  <a:pt x="31994" y="204364"/>
                  <a:pt x="31994" y="199965"/>
                </a:cubicBezTo>
                <a:lnTo>
                  <a:pt x="31994" y="31994"/>
                </a:lnTo>
                <a:close/>
                <a:moveTo>
                  <a:pt x="235259" y="75287"/>
                </a:moveTo>
                <a:cubicBezTo>
                  <a:pt x="241508" y="69038"/>
                  <a:pt x="241508" y="58890"/>
                  <a:pt x="235259" y="52641"/>
                </a:cubicBezTo>
                <a:cubicBezTo>
                  <a:pt x="229010" y="46392"/>
                  <a:pt x="218862" y="46392"/>
                  <a:pt x="212613" y="52641"/>
                </a:cubicBezTo>
                <a:lnTo>
                  <a:pt x="159972" y="105332"/>
                </a:lnTo>
                <a:lnTo>
                  <a:pt x="131277" y="76687"/>
                </a:lnTo>
                <a:cubicBezTo>
                  <a:pt x="125028" y="70438"/>
                  <a:pt x="114880" y="70438"/>
                  <a:pt x="108631" y="76687"/>
                </a:cubicBezTo>
                <a:lnTo>
                  <a:pt x="60639" y="124678"/>
                </a:lnTo>
                <a:cubicBezTo>
                  <a:pt x="54390" y="130927"/>
                  <a:pt x="54390" y="141075"/>
                  <a:pt x="60639" y="147324"/>
                </a:cubicBezTo>
                <a:cubicBezTo>
                  <a:pt x="66888" y="153573"/>
                  <a:pt x="77037" y="153573"/>
                  <a:pt x="83285" y="147324"/>
                </a:cubicBezTo>
                <a:lnTo>
                  <a:pt x="119979" y="110631"/>
                </a:lnTo>
                <a:lnTo>
                  <a:pt x="148674" y="139326"/>
                </a:lnTo>
                <a:cubicBezTo>
                  <a:pt x="154923" y="145575"/>
                  <a:pt x="165071" y="145575"/>
                  <a:pt x="171320" y="139326"/>
                </a:cubicBezTo>
                <a:lnTo>
                  <a:pt x="235309" y="75337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6" name="Text 34"/>
          <p:cNvSpPr/>
          <p:nvPr/>
        </p:nvSpPr>
        <p:spPr>
          <a:xfrm>
            <a:off x="575899" y="5238333"/>
            <a:ext cx="2508361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0165" y="5477225"/>
            <a:ext cx="249982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plotting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53404" y="4811741"/>
            <a:ext cx="2636339" cy="972630"/>
          </a:xfrm>
          <a:custGeom>
            <a:avLst/>
            <a:gdLst/>
            <a:ahLst/>
            <a:cxnLst/>
            <a:rect l="l" t="t" r="r" b="b"/>
            <a:pathLst>
              <a:path w="2636339" h="972630">
                <a:moveTo>
                  <a:pt x="68259" y="0"/>
                </a:moveTo>
                <a:lnTo>
                  <a:pt x="2568080" y="0"/>
                </a:lnTo>
                <a:cubicBezTo>
                  <a:pt x="2605778" y="0"/>
                  <a:pt x="2636339" y="30561"/>
                  <a:pt x="2636339" y="68259"/>
                </a:cubicBezTo>
                <a:lnTo>
                  <a:pt x="2636339" y="904371"/>
                </a:lnTo>
                <a:cubicBezTo>
                  <a:pt x="2636339" y="942069"/>
                  <a:pt x="2605778" y="972630"/>
                  <a:pt x="2568080" y="972630"/>
                </a:cubicBezTo>
                <a:lnTo>
                  <a:pt x="68259" y="972630"/>
                </a:lnTo>
                <a:cubicBezTo>
                  <a:pt x="30561" y="972630"/>
                  <a:pt x="0" y="942069"/>
                  <a:pt x="0" y="904371"/>
                </a:cubicBezTo>
                <a:lnTo>
                  <a:pt x="0" y="68259"/>
                </a:lnTo>
                <a:cubicBezTo>
                  <a:pt x="0" y="30561"/>
                  <a:pt x="30561" y="0"/>
                  <a:pt x="6825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Shape 37"/>
          <p:cNvSpPr/>
          <p:nvPr/>
        </p:nvSpPr>
        <p:spPr>
          <a:xfrm>
            <a:off x="4447115" y="4914123"/>
            <a:ext cx="255955" cy="255955"/>
          </a:xfrm>
          <a:custGeom>
            <a:avLst/>
            <a:gdLst/>
            <a:ahLst/>
            <a:cxnLst/>
            <a:rect l="l" t="t" r="r" b="b"/>
            <a:pathLst>
              <a:path w="255955" h="255955">
                <a:moveTo>
                  <a:pt x="15997" y="15997"/>
                </a:moveTo>
                <a:cubicBezTo>
                  <a:pt x="24846" y="15997"/>
                  <a:pt x="31994" y="23146"/>
                  <a:pt x="31994" y="31994"/>
                </a:cubicBezTo>
                <a:lnTo>
                  <a:pt x="31994" y="199965"/>
                </a:lnTo>
                <a:cubicBezTo>
                  <a:pt x="31994" y="204364"/>
                  <a:pt x="35594" y="207964"/>
                  <a:pt x="39993" y="207964"/>
                </a:cubicBezTo>
                <a:lnTo>
                  <a:pt x="239958" y="207964"/>
                </a:lnTo>
                <a:cubicBezTo>
                  <a:pt x="248806" y="207964"/>
                  <a:pt x="255955" y="215112"/>
                  <a:pt x="255955" y="223961"/>
                </a:cubicBezTo>
                <a:cubicBezTo>
                  <a:pt x="255955" y="232809"/>
                  <a:pt x="248806" y="239958"/>
                  <a:pt x="239958" y="239958"/>
                </a:cubicBezTo>
                <a:lnTo>
                  <a:pt x="39993" y="239958"/>
                </a:lnTo>
                <a:cubicBezTo>
                  <a:pt x="17897" y="239958"/>
                  <a:pt x="0" y="222061"/>
                  <a:pt x="0" y="199965"/>
                </a:cubicBezTo>
                <a:lnTo>
                  <a:pt x="0" y="31994"/>
                </a:lnTo>
                <a:cubicBezTo>
                  <a:pt x="0" y="23146"/>
                  <a:pt x="7149" y="15997"/>
                  <a:pt x="15997" y="15997"/>
                </a:cubicBezTo>
                <a:close/>
                <a:moveTo>
                  <a:pt x="119979" y="47992"/>
                </a:moveTo>
                <a:cubicBezTo>
                  <a:pt x="123328" y="47992"/>
                  <a:pt x="126528" y="49391"/>
                  <a:pt x="128827" y="51891"/>
                </a:cubicBezTo>
                <a:lnTo>
                  <a:pt x="164371" y="90634"/>
                </a:lnTo>
                <a:lnTo>
                  <a:pt x="187467" y="67488"/>
                </a:lnTo>
                <a:cubicBezTo>
                  <a:pt x="192166" y="62789"/>
                  <a:pt x="199765" y="62789"/>
                  <a:pt x="204414" y="67488"/>
                </a:cubicBezTo>
                <a:lnTo>
                  <a:pt x="236409" y="99483"/>
                </a:lnTo>
                <a:cubicBezTo>
                  <a:pt x="238658" y="101732"/>
                  <a:pt x="239908" y="104782"/>
                  <a:pt x="239908" y="107981"/>
                </a:cubicBezTo>
                <a:lnTo>
                  <a:pt x="239908" y="163971"/>
                </a:lnTo>
                <a:cubicBezTo>
                  <a:pt x="239908" y="170620"/>
                  <a:pt x="234559" y="175969"/>
                  <a:pt x="227910" y="175969"/>
                </a:cubicBezTo>
                <a:lnTo>
                  <a:pt x="75937" y="175969"/>
                </a:lnTo>
                <a:cubicBezTo>
                  <a:pt x="69288" y="175969"/>
                  <a:pt x="63939" y="170620"/>
                  <a:pt x="63939" y="163971"/>
                </a:cubicBezTo>
                <a:lnTo>
                  <a:pt x="63939" y="107981"/>
                </a:lnTo>
                <a:cubicBezTo>
                  <a:pt x="63939" y="104982"/>
                  <a:pt x="65089" y="102082"/>
                  <a:pt x="67088" y="99883"/>
                </a:cubicBezTo>
                <a:lnTo>
                  <a:pt x="111081" y="51891"/>
                </a:lnTo>
                <a:cubicBezTo>
                  <a:pt x="113330" y="49391"/>
                  <a:pt x="116580" y="47992"/>
                  <a:pt x="119929" y="47992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0" name="Text 38"/>
          <p:cNvSpPr/>
          <p:nvPr/>
        </p:nvSpPr>
        <p:spPr>
          <a:xfrm>
            <a:off x="3317393" y="5238333"/>
            <a:ext cx="2508361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Seaborn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21659" y="5477225"/>
            <a:ext cx="249982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plots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82705" y="4265812"/>
            <a:ext cx="5673674" cy="1672241"/>
          </a:xfrm>
          <a:custGeom>
            <a:avLst/>
            <a:gdLst/>
            <a:ahLst/>
            <a:cxnLst/>
            <a:rect l="l" t="t" r="r" b="b"/>
            <a:pathLst>
              <a:path w="5673674" h="1672241">
                <a:moveTo>
                  <a:pt x="34127" y="0"/>
                </a:moveTo>
                <a:lnTo>
                  <a:pt x="5605413" y="0"/>
                </a:lnTo>
                <a:cubicBezTo>
                  <a:pt x="5643112" y="0"/>
                  <a:pt x="5673674" y="30561"/>
                  <a:pt x="5673674" y="68261"/>
                </a:cubicBezTo>
                <a:lnTo>
                  <a:pt x="5673674" y="1603980"/>
                </a:lnTo>
                <a:cubicBezTo>
                  <a:pt x="5673674" y="1641679"/>
                  <a:pt x="5643112" y="1672241"/>
                  <a:pt x="5605413" y="1672241"/>
                </a:cubicBezTo>
                <a:lnTo>
                  <a:pt x="34127" y="1672241"/>
                </a:lnTo>
                <a:cubicBezTo>
                  <a:pt x="15279" y="1672241"/>
                  <a:pt x="0" y="1656961"/>
                  <a:pt x="0" y="1638113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CB5A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6182705" y="4265812"/>
            <a:ext cx="34127" cy="1672241"/>
          </a:xfrm>
          <a:custGeom>
            <a:avLst/>
            <a:gdLst/>
            <a:ahLst/>
            <a:cxnLst/>
            <a:rect l="l" t="t" r="r" b="b"/>
            <a:pathLst>
              <a:path w="34127" h="1672241">
                <a:moveTo>
                  <a:pt x="34127" y="0"/>
                </a:moveTo>
                <a:lnTo>
                  <a:pt x="34127" y="0"/>
                </a:lnTo>
                <a:lnTo>
                  <a:pt x="34127" y="1672241"/>
                </a:lnTo>
                <a:lnTo>
                  <a:pt x="34127" y="1672241"/>
                </a:lnTo>
                <a:cubicBezTo>
                  <a:pt x="15279" y="1672241"/>
                  <a:pt x="0" y="1656961"/>
                  <a:pt x="0" y="1638113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4" name="Shape 42"/>
          <p:cNvSpPr/>
          <p:nvPr/>
        </p:nvSpPr>
        <p:spPr>
          <a:xfrm>
            <a:off x="6349076" y="4436340"/>
            <a:ext cx="230360" cy="204764"/>
          </a:xfrm>
          <a:custGeom>
            <a:avLst/>
            <a:gdLst/>
            <a:ahLst/>
            <a:cxnLst/>
            <a:rect l="l" t="t" r="r" b="b"/>
            <a:pathLst>
              <a:path w="230360" h="204764">
                <a:moveTo>
                  <a:pt x="89624" y="38833"/>
                </a:moveTo>
                <a:lnTo>
                  <a:pt x="89624" y="58670"/>
                </a:lnTo>
                <a:lnTo>
                  <a:pt x="89824" y="58870"/>
                </a:lnTo>
                <a:cubicBezTo>
                  <a:pt x="92424" y="25915"/>
                  <a:pt x="119979" y="0"/>
                  <a:pt x="153613" y="0"/>
                </a:cubicBezTo>
                <a:cubicBezTo>
                  <a:pt x="161652" y="0"/>
                  <a:pt x="169370" y="1480"/>
                  <a:pt x="176449" y="4199"/>
                </a:cubicBezTo>
                <a:cubicBezTo>
                  <a:pt x="180448" y="5719"/>
                  <a:pt x="181168" y="10798"/>
                  <a:pt x="178169" y="13838"/>
                </a:cubicBezTo>
                <a:lnTo>
                  <a:pt x="142695" y="49311"/>
                </a:lnTo>
                <a:cubicBezTo>
                  <a:pt x="141495" y="50511"/>
                  <a:pt x="140815" y="52151"/>
                  <a:pt x="140815" y="53831"/>
                </a:cubicBezTo>
                <a:lnTo>
                  <a:pt x="140815" y="70388"/>
                </a:lnTo>
                <a:cubicBezTo>
                  <a:pt x="140815" y="73907"/>
                  <a:pt x="143695" y="76787"/>
                  <a:pt x="147214" y="76787"/>
                </a:cubicBezTo>
                <a:lnTo>
                  <a:pt x="163771" y="76787"/>
                </a:lnTo>
                <a:cubicBezTo>
                  <a:pt x="165451" y="76787"/>
                  <a:pt x="167091" y="76107"/>
                  <a:pt x="168291" y="74907"/>
                </a:cubicBezTo>
                <a:lnTo>
                  <a:pt x="203764" y="39433"/>
                </a:lnTo>
                <a:cubicBezTo>
                  <a:pt x="206804" y="36394"/>
                  <a:pt x="211883" y="37153"/>
                  <a:pt x="213403" y="41153"/>
                </a:cubicBezTo>
                <a:cubicBezTo>
                  <a:pt x="216122" y="48232"/>
                  <a:pt x="217602" y="55950"/>
                  <a:pt x="217602" y="63989"/>
                </a:cubicBezTo>
                <a:cubicBezTo>
                  <a:pt x="217602" y="88225"/>
                  <a:pt x="204124" y="109341"/>
                  <a:pt x="184208" y="120179"/>
                </a:cubicBezTo>
                <a:lnTo>
                  <a:pt x="216802" y="152773"/>
                </a:lnTo>
                <a:cubicBezTo>
                  <a:pt x="224281" y="160252"/>
                  <a:pt x="224281" y="172410"/>
                  <a:pt x="216802" y="179929"/>
                </a:cubicBezTo>
                <a:lnTo>
                  <a:pt x="192766" y="203964"/>
                </a:lnTo>
                <a:cubicBezTo>
                  <a:pt x="185288" y="211443"/>
                  <a:pt x="173130" y="211443"/>
                  <a:pt x="165611" y="203964"/>
                </a:cubicBezTo>
                <a:lnTo>
                  <a:pt x="115220" y="153573"/>
                </a:lnTo>
                <a:cubicBezTo>
                  <a:pt x="104262" y="142615"/>
                  <a:pt x="101782" y="126418"/>
                  <a:pt x="107821" y="113060"/>
                </a:cubicBezTo>
                <a:lnTo>
                  <a:pt x="71547" y="76787"/>
                </a:lnTo>
                <a:lnTo>
                  <a:pt x="51711" y="76787"/>
                </a:lnTo>
                <a:cubicBezTo>
                  <a:pt x="47432" y="76787"/>
                  <a:pt x="43432" y="74667"/>
                  <a:pt x="41073" y="71108"/>
                </a:cubicBezTo>
                <a:lnTo>
                  <a:pt x="9358" y="23556"/>
                </a:lnTo>
                <a:cubicBezTo>
                  <a:pt x="7679" y="21036"/>
                  <a:pt x="7999" y="17637"/>
                  <a:pt x="10158" y="15477"/>
                </a:cubicBezTo>
                <a:lnTo>
                  <a:pt x="28315" y="-2680"/>
                </a:lnTo>
                <a:cubicBezTo>
                  <a:pt x="30475" y="-4839"/>
                  <a:pt x="33834" y="-5159"/>
                  <a:pt x="36394" y="-3479"/>
                </a:cubicBezTo>
                <a:lnTo>
                  <a:pt x="83945" y="28195"/>
                </a:lnTo>
                <a:cubicBezTo>
                  <a:pt x="87505" y="30555"/>
                  <a:pt x="89624" y="34554"/>
                  <a:pt x="89624" y="38833"/>
                </a:cubicBezTo>
                <a:close/>
                <a:moveTo>
                  <a:pt x="86225" y="118619"/>
                </a:moveTo>
                <a:cubicBezTo>
                  <a:pt x="83705" y="133417"/>
                  <a:pt x="87185" y="149054"/>
                  <a:pt x="96783" y="161572"/>
                </a:cubicBezTo>
                <a:lnTo>
                  <a:pt x="58790" y="199525"/>
                </a:lnTo>
                <a:cubicBezTo>
                  <a:pt x="47552" y="210763"/>
                  <a:pt x="29315" y="210763"/>
                  <a:pt x="18077" y="199525"/>
                </a:cubicBezTo>
                <a:cubicBezTo>
                  <a:pt x="6839" y="188287"/>
                  <a:pt x="6839" y="170050"/>
                  <a:pt x="18077" y="158812"/>
                </a:cubicBezTo>
                <a:lnTo>
                  <a:pt x="72227" y="104662"/>
                </a:lnTo>
                <a:lnTo>
                  <a:pt x="86225" y="118659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5" name="Text 43"/>
          <p:cNvSpPr/>
          <p:nvPr/>
        </p:nvSpPr>
        <p:spPr>
          <a:xfrm>
            <a:off x="6592233" y="4402321"/>
            <a:ext cx="5230018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Tools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6278" y="4811741"/>
            <a:ext cx="5383591" cy="989693"/>
          </a:xfrm>
          <a:custGeom>
            <a:avLst/>
            <a:gdLst/>
            <a:ahLst/>
            <a:cxnLst/>
            <a:rect l="l" t="t" r="r" b="b"/>
            <a:pathLst>
              <a:path w="5383591" h="989693">
                <a:moveTo>
                  <a:pt x="68259" y="0"/>
                </a:moveTo>
                <a:lnTo>
                  <a:pt x="5315332" y="0"/>
                </a:lnTo>
                <a:cubicBezTo>
                  <a:pt x="5353031" y="0"/>
                  <a:pt x="5383591" y="30561"/>
                  <a:pt x="5383591" y="68259"/>
                </a:cubicBezTo>
                <a:lnTo>
                  <a:pt x="5383591" y="921434"/>
                </a:lnTo>
                <a:cubicBezTo>
                  <a:pt x="5383591" y="959133"/>
                  <a:pt x="5353031" y="989693"/>
                  <a:pt x="5315332" y="989693"/>
                </a:cubicBezTo>
                <a:lnTo>
                  <a:pt x="68259" y="989693"/>
                </a:lnTo>
                <a:cubicBezTo>
                  <a:pt x="30561" y="989693"/>
                  <a:pt x="0" y="959133"/>
                  <a:pt x="0" y="921434"/>
                </a:cubicBezTo>
                <a:lnTo>
                  <a:pt x="0" y="68259"/>
                </a:lnTo>
                <a:cubicBezTo>
                  <a:pt x="0" y="30561"/>
                  <a:pt x="30561" y="0"/>
                  <a:pt x="6825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Shape 45"/>
          <p:cNvSpPr/>
          <p:nvPr/>
        </p:nvSpPr>
        <p:spPr>
          <a:xfrm>
            <a:off x="6472788" y="5033569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34127" y="0"/>
                </a:moveTo>
                <a:lnTo>
                  <a:pt x="511910" y="0"/>
                </a:lnTo>
                <a:cubicBezTo>
                  <a:pt x="530758" y="0"/>
                  <a:pt x="546038" y="15279"/>
                  <a:pt x="546038" y="34127"/>
                </a:cubicBezTo>
                <a:lnTo>
                  <a:pt x="546038" y="511910"/>
                </a:lnTo>
                <a:cubicBezTo>
                  <a:pt x="546038" y="530758"/>
                  <a:pt x="530758" y="546038"/>
                  <a:pt x="511910" y="546038"/>
                </a:cubicBezTo>
                <a:lnTo>
                  <a:pt x="34127" y="546038"/>
                </a:lnTo>
                <a:cubicBezTo>
                  <a:pt x="15279" y="546038"/>
                  <a:pt x="0" y="530758"/>
                  <a:pt x="0" y="511910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8" name="Shape 46"/>
          <p:cNvSpPr/>
          <p:nvPr/>
        </p:nvSpPr>
        <p:spPr>
          <a:xfrm>
            <a:off x="6587968" y="5178611"/>
            <a:ext cx="319944" cy="255955"/>
          </a:xfrm>
          <a:custGeom>
            <a:avLst/>
            <a:gdLst/>
            <a:ahLst/>
            <a:cxnLst/>
            <a:rect l="l" t="t" r="r" b="b"/>
            <a:pathLst>
              <a:path w="319944" h="255955">
                <a:moveTo>
                  <a:pt x="31994" y="47992"/>
                </a:moveTo>
                <a:cubicBezTo>
                  <a:pt x="31994" y="30345"/>
                  <a:pt x="46342" y="15997"/>
                  <a:pt x="63989" y="15997"/>
                </a:cubicBezTo>
                <a:lnTo>
                  <a:pt x="255955" y="15997"/>
                </a:lnTo>
                <a:cubicBezTo>
                  <a:pt x="273602" y="15997"/>
                  <a:pt x="287950" y="30345"/>
                  <a:pt x="287950" y="47992"/>
                </a:cubicBezTo>
                <a:lnTo>
                  <a:pt x="287950" y="167971"/>
                </a:lnTo>
                <a:lnTo>
                  <a:pt x="255955" y="167971"/>
                </a:lnTo>
                <a:lnTo>
                  <a:pt x="255955" y="47992"/>
                </a:lnTo>
                <a:lnTo>
                  <a:pt x="63989" y="47992"/>
                </a:lnTo>
                <a:lnTo>
                  <a:pt x="63989" y="167971"/>
                </a:lnTo>
                <a:lnTo>
                  <a:pt x="31994" y="167971"/>
                </a:lnTo>
                <a:lnTo>
                  <a:pt x="31994" y="47992"/>
                </a:lnTo>
                <a:close/>
                <a:moveTo>
                  <a:pt x="0" y="201565"/>
                </a:moveTo>
                <a:cubicBezTo>
                  <a:pt x="0" y="196266"/>
                  <a:pt x="4299" y="191966"/>
                  <a:pt x="9598" y="191966"/>
                </a:cubicBezTo>
                <a:lnTo>
                  <a:pt x="310346" y="191966"/>
                </a:lnTo>
                <a:cubicBezTo>
                  <a:pt x="315645" y="191966"/>
                  <a:pt x="319944" y="196266"/>
                  <a:pt x="319944" y="201565"/>
                </a:cubicBezTo>
                <a:cubicBezTo>
                  <a:pt x="319944" y="222761"/>
                  <a:pt x="302747" y="239958"/>
                  <a:pt x="281551" y="239958"/>
                </a:cubicBezTo>
                <a:lnTo>
                  <a:pt x="38393" y="239958"/>
                </a:lnTo>
                <a:cubicBezTo>
                  <a:pt x="17197" y="239958"/>
                  <a:pt x="0" y="222761"/>
                  <a:pt x="0" y="201565"/>
                </a:cubicBezTo>
                <a:close/>
                <a:moveTo>
                  <a:pt x="140475" y="104482"/>
                </a:moveTo>
                <a:lnTo>
                  <a:pt x="124978" y="119979"/>
                </a:lnTo>
                <a:lnTo>
                  <a:pt x="140475" y="135476"/>
                </a:lnTo>
                <a:cubicBezTo>
                  <a:pt x="145175" y="140175"/>
                  <a:pt x="145175" y="147774"/>
                  <a:pt x="140475" y="152423"/>
                </a:cubicBezTo>
                <a:cubicBezTo>
                  <a:pt x="135776" y="157073"/>
                  <a:pt x="128178" y="157123"/>
                  <a:pt x="123528" y="152423"/>
                </a:cubicBezTo>
                <a:lnTo>
                  <a:pt x="99533" y="128428"/>
                </a:lnTo>
                <a:cubicBezTo>
                  <a:pt x="94833" y="123728"/>
                  <a:pt x="94833" y="116130"/>
                  <a:pt x="99533" y="111480"/>
                </a:cubicBezTo>
                <a:lnTo>
                  <a:pt x="123528" y="87485"/>
                </a:lnTo>
                <a:cubicBezTo>
                  <a:pt x="128228" y="82786"/>
                  <a:pt x="135826" y="82786"/>
                  <a:pt x="140475" y="87485"/>
                </a:cubicBezTo>
                <a:cubicBezTo>
                  <a:pt x="145125" y="92184"/>
                  <a:pt x="145175" y="99783"/>
                  <a:pt x="140475" y="104432"/>
                </a:cubicBezTo>
                <a:close/>
                <a:moveTo>
                  <a:pt x="196466" y="87485"/>
                </a:moveTo>
                <a:lnTo>
                  <a:pt x="220461" y="111480"/>
                </a:lnTo>
                <a:cubicBezTo>
                  <a:pt x="225161" y="116180"/>
                  <a:pt x="225161" y="123778"/>
                  <a:pt x="220461" y="128428"/>
                </a:cubicBezTo>
                <a:lnTo>
                  <a:pt x="196466" y="152423"/>
                </a:lnTo>
                <a:cubicBezTo>
                  <a:pt x="191766" y="157123"/>
                  <a:pt x="184168" y="157123"/>
                  <a:pt x="179519" y="152423"/>
                </a:cubicBezTo>
                <a:cubicBezTo>
                  <a:pt x="174869" y="147724"/>
                  <a:pt x="174819" y="140125"/>
                  <a:pt x="179519" y="135476"/>
                </a:cubicBezTo>
                <a:lnTo>
                  <a:pt x="195016" y="119979"/>
                </a:lnTo>
                <a:lnTo>
                  <a:pt x="179519" y="104482"/>
                </a:lnTo>
                <a:cubicBezTo>
                  <a:pt x="174819" y="99783"/>
                  <a:pt x="174819" y="92184"/>
                  <a:pt x="179519" y="87535"/>
                </a:cubicBezTo>
                <a:cubicBezTo>
                  <a:pt x="184218" y="82885"/>
                  <a:pt x="191816" y="82836"/>
                  <a:pt x="196466" y="8753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Text 47"/>
          <p:cNvSpPr/>
          <p:nvPr/>
        </p:nvSpPr>
        <p:spPr>
          <a:xfrm>
            <a:off x="7155335" y="4948251"/>
            <a:ext cx="4513344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Jupyter Notebook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55335" y="5221270"/>
            <a:ext cx="4496280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environment for data analysis, visualization, and experimentation.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41274" y="6074454"/>
            <a:ext cx="11509453" cy="443656"/>
          </a:xfrm>
          <a:custGeom>
            <a:avLst/>
            <a:gdLst/>
            <a:ahLst/>
            <a:cxnLst/>
            <a:rect l="l" t="t" r="r" b="b"/>
            <a:pathLst>
              <a:path w="11509453" h="443656">
                <a:moveTo>
                  <a:pt x="68256" y="0"/>
                </a:moveTo>
                <a:lnTo>
                  <a:pt x="11441196" y="0"/>
                </a:lnTo>
                <a:cubicBezTo>
                  <a:pt x="11478893" y="0"/>
                  <a:pt x="11509453" y="30559"/>
                  <a:pt x="11509453" y="68256"/>
                </a:cubicBezTo>
                <a:lnTo>
                  <a:pt x="11509453" y="375399"/>
                </a:lnTo>
                <a:cubicBezTo>
                  <a:pt x="11509453" y="413096"/>
                  <a:pt x="11478893" y="443656"/>
                  <a:pt x="11441196" y="443656"/>
                </a:cubicBezTo>
                <a:lnTo>
                  <a:pt x="68256" y="443656"/>
                </a:lnTo>
                <a:cubicBezTo>
                  <a:pt x="30559" y="443656"/>
                  <a:pt x="0" y="413096"/>
                  <a:pt x="0" y="375399"/>
                </a:cubicBezTo>
                <a:lnTo>
                  <a:pt x="0" y="68256"/>
                </a:lnTo>
                <a:cubicBezTo>
                  <a:pt x="0" y="30585"/>
                  <a:pt x="30585" y="0"/>
                  <a:pt x="68256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/>
              </a:gs>
              <a:gs pos="100000">
                <a:srgbClr val="4A6C8C"/>
              </a:gs>
            </a:gsLst>
            <a:lin ang="0" scaled="1"/>
          </a:gradFill>
          <a:ln/>
        </p:spPr>
      </p:sp>
      <p:sp>
        <p:nvSpPr>
          <p:cNvPr id="52" name="Text 50"/>
          <p:cNvSpPr/>
          <p:nvPr/>
        </p:nvSpPr>
        <p:spPr>
          <a:xfrm>
            <a:off x="405262" y="6176836"/>
            <a:ext cx="11381475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Stack: Python + Scikit-learn + Pandas + NumPy + Matplotlib + Jupyter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SYSTEM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&amp; Non-Functional Requirements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5619750" cy="3695700"/>
          </a:xfrm>
          <a:custGeom>
            <a:avLst/>
            <a:gdLst/>
            <a:ahLst/>
            <a:cxnLst/>
            <a:rect l="l" t="t" r="r" b="b"/>
            <a:pathLst>
              <a:path w="5619750" h="369570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3619495"/>
                </a:lnTo>
                <a:cubicBezTo>
                  <a:pt x="5619750" y="3661582"/>
                  <a:pt x="5585632" y="3695700"/>
                  <a:pt x="5543545" y="3695700"/>
                </a:cubicBezTo>
                <a:lnTo>
                  <a:pt x="38100" y="3695700"/>
                </a:lnTo>
                <a:cubicBezTo>
                  <a:pt x="17072" y="3695700"/>
                  <a:pt x="0" y="3678628"/>
                  <a:pt x="0" y="3657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3695700"/>
          </a:xfrm>
          <a:custGeom>
            <a:avLst/>
            <a:gdLst/>
            <a:ahLst/>
            <a:cxnLst/>
            <a:rect l="l" t="t" r="r" b="b"/>
            <a:pathLst>
              <a:path w="38100" h="3695700">
                <a:moveTo>
                  <a:pt x="38100" y="0"/>
                </a:moveTo>
                <a:lnTo>
                  <a:pt x="38100" y="0"/>
                </a:lnTo>
                <a:lnTo>
                  <a:pt x="38100" y="3695700"/>
                </a:lnTo>
                <a:lnTo>
                  <a:pt x="38100" y="3695700"/>
                </a:lnTo>
                <a:cubicBezTo>
                  <a:pt x="17072" y="3695700"/>
                  <a:pt x="0" y="3678628"/>
                  <a:pt x="0" y="3657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7" name="Shape 5"/>
          <p:cNvSpPr/>
          <p:nvPr/>
        </p:nvSpPr>
        <p:spPr>
          <a:xfrm>
            <a:off x="600075" y="16381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8" name="Text 6"/>
          <p:cNvSpPr/>
          <p:nvPr/>
        </p:nvSpPr>
        <p:spPr>
          <a:xfrm>
            <a:off x="857250" y="1600200"/>
            <a:ext cx="512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108002"/>
            <a:ext cx="5295900" cy="762000"/>
          </a:xfrm>
          <a:custGeom>
            <a:avLst/>
            <a:gdLst/>
            <a:ahLst/>
            <a:cxnLst/>
            <a:rect l="l" t="t" r="r" b="b"/>
            <a:pathLst>
              <a:path w="5295900" h="762000">
                <a:moveTo>
                  <a:pt x="762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685800"/>
                </a:lnTo>
                <a:cubicBezTo>
                  <a:pt x="5295900" y="727856"/>
                  <a:pt x="5261756" y="762000"/>
                  <a:pt x="52197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709613" y="226802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1" name="Text 9"/>
          <p:cNvSpPr/>
          <p:nvPr/>
        </p:nvSpPr>
        <p:spPr>
          <a:xfrm>
            <a:off x="962025" y="2222302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 congestion levels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527102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Accurately forecast traffic for different time horizons.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123967"/>
            <a:ext cx="5295900" cy="762000"/>
          </a:xfrm>
          <a:custGeom>
            <a:avLst/>
            <a:gdLst/>
            <a:ahLst/>
            <a:cxnLst/>
            <a:rect l="l" t="t" r="r" b="b"/>
            <a:pathLst>
              <a:path w="5295900" h="762000">
                <a:moveTo>
                  <a:pt x="762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685800"/>
                </a:lnTo>
                <a:cubicBezTo>
                  <a:pt x="5295900" y="727856"/>
                  <a:pt x="5261756" y="762000"/>
                  <a:pt x="52197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2"/>
          <p:cNvSpPr/>
          <p:nvPr/>
        </p:nvSpPr>
        <p:spPr>
          <a:xfrm>
            <a:off x="741759" y="3283986"/>
            <a:ext cx="107156" cy="171450"/>
          </a:xfrm>
          <a:custGeom>
            <a:avLst/>
            <a:gdLst/>
            <a:ahLst/>
            <a:cxnLst/>
            <a:rect l="l" t="t" r="r" b="b"/>
            <a:pathLst>
              <a:path w="107156" h="171450">
                <a:moveTo>
                  <a:pt x="21431" y="-10716"/>
                </a:moveTo>
                <a:cubicBezTo>
                  <a:pt x="9611" y="-10716"/>
                  <a:pt x="0" y="-1105"/>
                  <a:pt x="0" y="10716"/>
                </a:cubicBezTo>
                <a:lnTo>
                  <a:pt x="0" y="128588"/>
                </a:lnTo>
                <a:cubicBezTo>
                  <a:pt x="0" y="158189"/>
                  <a:pt x="23976" y="182166"/>
                  <a:pt x="53578" y="182166"/>
                </a:cubicBezTo>
                <a:cubicBezTo>
                  <a:pt x="83180" y="182166"/>
                  <a:pt x="107156" y="158189"/>
                  <a:pt x="107156" y="128588"/>
                </a:cubicBezTo>
                <a:lnTo>
                  <a:pt x="107156" y="10716"/>
                </a:lnTo>
                <a:cubicBezTo>
                  <a:pt x="107156" y="-1105"/>
                  <a:pt x="97546" y="-10716"/>
                  <a:pt x="85725" y="-10716"/>
                </a:cubicBezTo>
                <a:lnTo>
                  <a:pt x="21431" y="-10716"/>
                </a:lnTo>
                <a:close/>
                <a:moveTo>
                  <a:pt x="53578" y="120551"/>
                </a:moveTo>
                <a:cubicBezTo>
                  <a:pt x="63925" y="120551"/>
                  <a:pt x="72330" y="128956"/>
                  <a:pt x="72330" y="139303"/>
                </a:cubicBezTo>
                <a:cubicBezTo>
                  <a:pt x="72330" y="149650"/>
                  <a:pt x="63925" y="158055"/>
                  <a:pt x="53578" y="158055"/>
                </a:cubicBezTo>
                <a:cubicBezTo>
                  <a:pt x="43231" y="158055"/>
                  <a:pt x="34826" y="149650"/>
                  <a:pt x="34826" y="139303"/>
                </a:cubicBezTo>
                <a:cubicBezTo>
                  <a:pt x="34826" y="128956"/>
                  <a:pt x="43231" y="120551"/>
                  <a:pt x="53578" y="120551"/>
                </a:cubicBezTo>
                <a:close/>
                <a:moveTo>
                  <a:pt x="72330" y="85725"/>
                </a:moveTo>
                <a:cubicBezTo>
                  <a:pt x="72330" y="96075"/>
                  <a:pt x="63928" y="104477"/>
                  <a:pt x="53578" y="104477"/>
                </a:cubicBezTo>
                <a:cubicBezTo>
                  <a:pt x="43228" y="104477"/>
                  <a:pt x="34826" y="96075"/>
                  <a:pt x="34826" y="85725"/>
                </a:cubicBezTo>
                <a:cubicBezTo>
                  <a:pt x="34826" y="75375"/>
                  <a:pt x="43228" y="66973"/>
                  <a:pt x="53578" y="66973"/>
                </a:cubicBezTo>
                <a:cubicBezTo>
                  <a:pt x="63928" y="66973"/>
                  <a:pt x="72330" y="75375"/>
                  <a:pt x="72330" y="85725"/>
                </a:cubicBezTo>
                <a:close/>
                <a:moveTo>
                  <a:pt x="53578" y="50899"/>
                </a:moveTo>
                <a:cubicBezTo>
                  <a:pt x="43228" y="50899"/>
                  <a:pt x="34826" y="42497"/>
                  <a:pt x="34826" y="32147"/>
                </a:cubicBezTo>
                <a:cubicBezTo>
                  <a:pt x="34826" y="21797"/>
                  <a:pt x="43228" y="13395"/>
                  <a:pt x="53578" y="13395"/>
                </a:cubicBezTo>
                <a:cubicBezTo>
                  <a:pt x="63928" y="13395"/>
                  <a:pt x="72330" y="21797"/>
                  <a:pt x="72330" y="32147"/>
                </a:cubicBezTo>
                <a:cubicBezTo>
                  <a:pt x="72330" y="42497"/>
                  <a:pt x="63928" y="50899"/>
                  <a:pt x="53578" y="50899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5" name="Text 13"/>
          <p:cNvSpPr/>
          <p:nvPr/>
        </p:nvSpPr>
        <p:spPr>
          <a:xfrm>
            <a:off x="962025" y="3238267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signal timings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543067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Dynamically adjust signal parameters based on predictions.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4140045"/>
            <a:ext cx="5295900" cy="762000"/>
          </a:xfrm>
          <a:custGeom>
            <a:avLst/>
            <a:gdLst/>
            <a:ahLst/>
            <a:cxnLst/>
            <a:rect l="l" t="t" r="r" b="b"/>
            <a:pathLst>
              <a:path w="5295900" h="762000">
                <a:moveTo>
                  <a:pt x="762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685800"/>
                </a:lnTo>
                <a:cubicBezTo>
                  <a:pt x="5295900" y="727856"/>
                  <a:pt x="5261756" y="762000"/>
                  <a:pt x="52197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Shape 16"/>
          <p:cNvSpPr/>
          <p:nvPr/>
        </p:nvSpPr>
        <p:spPr>
          <a:xfrm>
            <a:off x="720328" y="430006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9" name="Text 17"/>
          <p:cNvSpPr/>
          <p:nvPr/>
        </p:nvSpPr>
        <p:spPr>
          <a:xfrm>
            <a:off x="962025" y="425434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historical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55914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Efficiently handle large volumes of past traffic data.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0" y="1447800"/>
            <a:ext cx="5619750" cy="3695700"/>
          </a:xfrm>
          <a:custGeom>
            <a:avLst/>
            <a:gdLst/>
            <a:ahLst/>
            <a:cxnLst/>
            <a:rect l="l" t="t" r="r" b="b"/>
            <a:pathLst>
              <a:path w="5619750" h="369570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3619495"/>
                </a:lnTo>
                <a:cubicBezTo>
                  <a:pt x="5619750" y="3661582"/>
                  <a:pt x="5585632" y="3695700"/>
                  <a:pt x="5543545" y="3695700"/>
                </a:cubicBezTo>
                <a:lnTo>
                  <a:pt x="38100" y="3695700"/>
                </a:lnTo>
                <a:cubicBezTo>
                  <a:pt x="17072" y="3695700"/>
                  <a:pt x="0" y="3678628"/>
                  <a:pt x="0" y="3657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CB5A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6191250" y="1447800"/>
            <a:ext cx="38100" cy="3695700"/>
          </a:xfrm>
          <a:custGeom>
            <a:avLst/>
            <a:gdLst/>
            <a:ahLst/>
            <a:cxnLst/>
            <a:rect l="l" t="t" r="r" b="b"/>
            <a:pathLst>
              <a:path w="38100" h="3695700">
                <a:moveTo>
                  <a:pt x="38100" y="0"/>
                </a:moveTo>
                <a:lnTo>
                  <a:pt x="38100" y="0"/>
                </a:lnTo>
                <a:lnTo>
                  <a:pt x="38100" y="3695700"/>
                </a:lnTo>
                <a:lnTo>
                  <a:pt x="38100" y="3695700"/>
                </a:lnTo>
                <a:cubicBezTo>
                  <a:pt x="17072" y="3695700"/>
                  <a:pt x="0" y="3678628"/>
                  <a:pt x="0" y="3657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91275" y="16381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4" name="Text 22"/>
          <p:cNvSpPr/>
          <p:nvPr/>
        </p:nvSpPr>
        <p:spPr>
          <a:xfrm>
            <a:off x="6648450" y="1600200"/>
            <a:ext cx="512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62700" y="2019179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76199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609601"/>
                </a:lnTo>
                <a:cubicBezTo>
                  <a:pt x="5295900" y="651684"/>
                  <a:pt x="5261784" y="685800"/>
                  <a:pt x="52197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3428" y="214110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6257" y="10716"/>
                </a:moveTo>
                <a:lnTo>
                  <a:pt x="8037" y="10716"/>
                </a:lnTo>
                <a:cubicBezTo>
                  <a:pt x="3583" y="10716"/>
                  <a:pt x="0" y="14299"/>
                  <a:pt x="0" y="18752"/>
                </a:cubicBezTo>
                <a:lnTo>
                  <a:pt x="0" y="66973"/>
                </a:lnTo>
                <a:cubicBezTo>
                  <a:pt x="0" y="70221"/>
                  <a:pt x="1942" y="73168"/>
                  <a:pt x="4956" y="74407"/>
                </a:cubicBezTo>
                <a:cubicBezTo>
                  <a:pt x="7970" y="75646"/>
                  <a:pt x="11419" y="74942"/>
                  <a:pt x="13729" y="72665"/>
                </a:cubicBezTo>
                <a:lnTo>
                  <a:pt x="27124" y="59271"/>
                </a:lnTo>
                <a:lnTo>
                  <a:pt x="53578" y="85725"/>
                </a:lnTo>
                <a:lnTo>
                  <a:pt x="27124" y="112179"/>
                </a:lnTo>
                <a:lnTo>
                  <a:pt x="13729" y="98785"/>
                </a:lnTo>
                <a:cubicBezTo>
                  <a:pt x="11419" y="96474"/>
                  <a:pt x="7970" y="95804"/>
                  <a:pt x="4956" y="97043"/>
                </a:cubicBezTo>
                <a:cubicBezTo>
                  <a:pt x="1942" y="98282"/>
                  <a:pt x="0" y="101229"/>
                  <a:pt x="0" y="104477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lnTo>
                  <a:pt x="56257" y="160734"/>
                </a:lnTo>
                <a:cubicBezTo>
                  <a:pt x="59505" y="160734"/>
                  <a:pt x="62452" y="158792"/>
                  <a:pt x="63691" y="155778"/>
                </a:cubicBezTo>
                <a:cubicBezTo>
                  <a:pt x="64930" y="152765"/>
                  <a:pt x="64260" y="149316"/>
                  <a:pt x="61950" y="147005"/>
                </a:cubicBezTo>
                <a:lnTo>
                  <a:pt x="48555" y="133610"/>
                </a:lnTo>
                <a:lnTo>
                  <a:pt x="75009" y="107156"/>
                </a:lnTo>
                <a:lnTo>
                  <a:pt x="101464" y="133610"/>
                </a:lnTo>
                <a:lnTo>
                  <a:pt x="88069" y="147005"/>
                </a:lnTo>
                <a:cubicBezTo>
                  <a:pt x="85758" y="149316"/>
                  <a:pt x="85089" y="152765"/>
                  <a:pt x="86328" y="155778"/>
                </a:cubicBezTo>
                <a:cubicBezTo>
                  <a:pt x="87567" y="158792"/>
                  <a:pt x="90514" y="160734"/>
                  <a:pt x="93762" y="160734"/>
                </a:cubicBezTo>
                <a:lnTo>
                  <a:pt x="141982" y="160734"/>
                </a:lnTo>
                <a:cubicBezTo>
                  <a:pt x="146436" y="160734"/>
                  <a:pt x="150019" y="157151"/>
                  <a:pt x="150019" y="152698"/>
                </a:cubicBezTo>
                <a:lnTo>
                  <a:pt x="150019" y="104477"/>
                </a:lnTo>
                <a:cubicBezTo>
                  <a:pt x="150019" y="101229"/>
                  <a:pt x="148077" y="98282"/>
                  <a:pt x="145063" y="97043"/>
                </a:cubicBezTo>
                <a:cubicBezTo>
                  <a:pt x="142049" y="95804"/>
                  <a:pt x="138600" y="96474"/>
                  <a:pt x="136289" y="98785"/>
                </a:cubicBezTo>
                <a:lnTo>
                  <a:pt x="122895" y="112179"/>
                </a:lnTo>
                <a:lnTo>
                  <a:pt x="96441" y="85725"/>
                </a:lnTo>
                <a:lnTo>
                  <a:pt x="122895" y="59271"/>
                </a:lnTo>
                <a:lnTo>
                  <a:pt x="136289" y="72665"/>
                </a:lnTo>
                <a:cubicBezTo>
                  <a:pt x="138600" y="74976"/>
                  <a:pt x="142049" y="75646"/>
                  <a:pt x="145063" y="74407"/>
                </a:cubicBezTo>
                <a:cubicBezTo>
                  <a:pt x="148077" y="73168"/>
                  <a:pt x="150019" y="70221"/>
                  <a:pt x="150019" y="66973"/>
                </a:cubicBezTo>
                <a:lnTo>
                  <a:pt x="150019" y="18752"/>
                </a:lnTo>
                <a:cubicBezTo>
                  <a:pt x="150019" y="14299"/>
                  <a:pt x="146436" y="10716"/>
                  <a:pt x="141982" y="10716"/>
                </a:cubicBezTo>
                <a:lnTo>
                  <a:pt x="93762" y="10716"/>
                </a:lnTo>
                <a:cubicBezTo>
                  <a:pt x="90514" y="10716"/>
                  <a:pt x="87567" y="12658"/>
                  <a:pt x="86328" y="15672"/>
                </a:cubicBezTo>
                <a:cubicBezTo>
                  <a:pt x="85089" y="18685"/>
                  <a:pt x="85792" y="22134"/>
                  <a:pt x="88069" y="24445"/>
                </a:cubicBezTo>
                <a:lnTo>
                  <a:pt x="101464" y="37840"/>
                </a:lnTo>
                <a:lnTo>
                  <a:pt x="75009" y="64294"/>
                </a:lnTo>
                <a:lnTo>
                  <a:pt x="48555" y="37840"/>
                </a:lnTo>
                <a:lnTo>
                  <a:pt x="61950" y="24445"/>
                </a:lnTo>
                <a:cubicBezTo>
                  <a:pt x="64260" y="22134"/>
                  <a:pt x="64930" y="18685"/>
                  <a:pt x="63691" y="15672"/>
                </a:cubicBezTo>
                <a:cubicBezTo>
                  <a:pt x="62452" y="12658"/>
                  <a:pt x="59505" y="10716"/>
                  <a:pt x="56257" y="1071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7" name="Text 25"/>
          <p:cNvSpPr/>
          <p:nvPr/>
        </p:nvSpPr>
        <p:spPr>
          <a:xfrm>
            <a:off x="6715125" y="2095379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8900" y="2400179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growing data volumes and multiple intersections.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62700" y="2781179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76199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609601"/>
                </a:lnTo>
                <a:cubicBezTo>
                  <a:pt x="5295900" y="651684"/>
                  <a:pt x="5261784" y="685800"/>
                  <a:pt x="52197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2713" y="290310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1" name="Text 29"/>
          <p:cNvSpPr/>
          <p:nvPr/>
        </p:nvSpPr>
        <p:spPr>
          <a:xfrm>
            <a:off x="6715125" y="2857379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38900" y="3162179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performance with minimal downtime.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62700" y="3543179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76199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609601"/>
                </a:lnTo>
                <a:cubicBezTo>
                  <a:pt x="5295900" y="651684"/>
                  <a:pt x="5261784" y="685800"/>
                  <a:pt x="52197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4859" y="3665107"/>
            <a:ext cx="107156" cy="171450"/>
          </a:xfrm>
          <a:custGeom>
            <a:avLst/>
            <a:gdLst/>
            <a:ahLst/>
            <a:cxnLst/>
            <a:rect l="l" t="t" r="r" b="b"/>
            <a:pathLst>
              <a:path w="107156" h="171450">
                <a:moveTo>
                  <a:pt x="45541" y="8037"/>
                </a:moveTo>
                <a:cubicBezTo>
                  <a:pt x="45541" y="3583"/>
                  <a:pt x="49124" y="0"/>
                  <a:pt x="53578" y="0"/>
                </a:cubicBezTo>
                <a:cubicBezTo>
                  <a:pt x="58032" y="0"/>
                  <a:pt x="61615" y="3583"/>
                  <a:pt x="61615" y="8037"/>
                </a:cubicBezTo>
                <a:lnTo>
                  <a:pt x="61615" y="21431"/>
                </a:lnTo>
                <a:lnTo>
                  <a:pt x="80367" y="21431"/>
                </a:lnTo>
                <a:cubicBezTo>
                  <a:pt x="86294" y="21431"/>
                  <a:pt x="91083" y="26220"/>
                  <a:pt x="91083" y="32147"/>
                </a:cubicBezTo>
                <a:cubicBezTo>
                  <a:pt x="91083" y="38074"/>
                  <a:pt x="86294" y="42863"/>
                  <a:pt x="80367" y="42863"/>
                </a:cubicBezTo>
                <a:lnTo>
                  <a:pt x="41891" y="42863"/>
                </a:lnTo>
                <a:cubicBezTo>
                  <a:pt x="33553" y="42863"/>
                  <a:pt x="26789" y="49627"/>
                  <a:pt x="26789" y="57965"/>
                </a:cubicBezTo>
                <a:cubicBezTo>
                  <a:pt x="26789" y="65499"/>
                  <a:pt x="32314" y="71862"/>
                  <a:pt x="39748" y="72933"/>
                </a:cubicBezTo>
                <a:lnTo>
                  <a:pt x="70422" y="77320"/>
                </a:lnTo>
                <a:cubicBezTo>
                  <a:pt x="88437" y="79898"/>
                  <a:pt x="101798" y="95302"/>
                  <a:pt x="101798" y="113485"/>
                </a:cubicBezTo>
                <a:cubicBezTo>
                  <a:pt x="101798" y="133677"/>
                  <a:pt x="85424" y="150019"/>
                  <a:pt x="65265" y="150019"/>
                </a:cubicBezTo>
                <a:lnTo>
                  <a:pt x="61615" y="150019"/>
                </a:lnTo>
                <a:lnTo>
                  <a:pt x="61615" y="163413"/>
                </a:lnTo>
                <a:cubicBezTo>
                  <a:pt x="61615" y="167867"/>
                  <a:pt x="58032" y="171450"/>
                  <a:pt x="53578" y="171450"/>
                </a:cubicBezTo>
                <a:cubicBezTo>
                  <a:pt x="49124" y="171450"/>
                  <a:pt x="45541" y="167867"/>
                  <a:pt x="45541" y="163413"/>
                </a:cubicBezTo>
                <a:lnTo>
                  <a:pt x="45541" y="150019"/>
                </a:lnTo>
                <a:lnTo>
                  <a:pt x="21431" y="150019"/>
                </a:lnTo>
                <a:cubicBezTo>
                  <a:pt x="15504" y="150019"/>
                  <a:pt x="10716" y="145230"/>
                  <a:pt x="10716" y="139303"/>
                </a:cubicBezTo>
                <a:cubicBezTo>
                  <a:pt x="10716" y="133376"/>
                  <a:pt x="15504" y="128588"/>
                  <a:pt x="21431" y="128588"/>
                </a:cubicBezTo>
                <a:lnTo>
                  <a:pt x="65265" y="128588"/>
                </a:lnTo>
                <a:cubicBezTo>
                  <a:pt x="73603" y="128588"/>
                  <a:pt x="80367" y="121823"/>
                  <a:pt x="80367" y="113485"/>
                </a:cubicBezTo>
                <a:cubicBezTo>
                  <a:pt x="80367" y="105951"/>
                  <a:pt x="74842" y="99588"/>
                  <a:pt x="67408" y="98517"/>
                </a:cubicBezTo>
                <a:lnTo>
                  <a:pt x="36735" y="94130"/>
                </a:lnTo>
                <a:cubicBezTo>
                  <a:pt x="18719" y="91585"/>
                  <a:pt x="5358" y="76148"/>
                  <a:pt x="5358" y="57965"/>
                </a:cubicBezTo>
                <a:cubicBezTo>
                  <a:pt x="5358" y="37806"/>
                  <a:pt x="21733" y="21431"/>
                  <a:pt x="41891" y="21431"/>
                </a:cubicBezTo>
                <a:lnTo>
                  <a:pt x="45541" y="21431"/>
                </a:lnTo>
                <a:lnTo>
                  <a:pt x="45541" y="8037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5" name="Text 33"/>
          <p:cNvSpPr/>
          <p:nvPr/>
        </p:nvSpPr>
        <p:spPr>
          <a:xfrm>
            <a:off x="6715125" y="3619379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Cost-effective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38900" y="3924179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infrastructure to reduce TCO.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2700" y="4305179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76199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609601"/>
                </a:lnTo>
                <a:cubicBezTo>
                  <a:pt x="5295900" y="651684"/>
                  <a:pt x="5261784" y="685800"/>
                  <a:pt x="52197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Shape 36"/>
          <p:cNvSpPr/>
          <p:nvPr/>
        </p:nvSpPr>
        <p:spPr>
          <a:xfrm>
            <a:off x="6462713" y="442710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9" name="Text 37"/>
          <p:cNvSpPr/>
          <p:nvPr/>
        </p:nvSpPr>
        <p:spPr>
          <a:xfrm>
            <a:off x="6715125" y="4381379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38900" y="4686179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prediction accuracy for effective signal control.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5257679"/>
            <a:ext cx="5638800" cy="723900"/>
          </a:xfrm>
          <a:custGeom>
            <a:avLst/>
            <a:gdLst/>
            <a:ahLst/>
            <a:cxnLst/>
            <a:rect l="l" t="t" r="r" b="b"/>
            <a:pathLst>
              <a:path w="5638800" h="723900">
                <a:moveTo>
                  <a:pt x="76198" y="0"/>
                </a:moveTo>
                <a:lnTo>
                  <a:pt x="5562602" y="0"/>
                </a:lnTo>
                <a:cubicBezTo>
                  <a:pt x="5604657" y="0"/>
                  <a:pt x="5638800" y="34143"/>
                  <a:pt x="5638800" y="76198"/>
                </a:cubicBezTo>
                <a:lnTo>
                  <a:pt x="5638800" y="647702"/>
                </a:lnTo>
                <a:cubicBezTo>
                  <a:pt x="5638800" y="689757"/>
                  <a:pt x="5604657" y="723900"/>
                  <a:pt x="55626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" y="547675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60734" y="53578"/>
                </a:move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ubicBezTo>
                  <a:pt x="152732" y="71438"/>
                  <a:pt x="160734" y="63435"/>
                  <a:pt x="160734" y="53578"/>
                </a:cubicBezTo>
                <a:close/>
                <a:moveTo>
                  <a:pt x="142875" y="232172"/>
                </a:moveTo>
                <a:cubicBezTo>
                  <a:pt x="162576" y="232172"/>
                  <a:pt x="178594" y="216154"/>
                  <a:pt x="178594" y="196453"/>
                </a:cubicBezTo>
                <a:cubicBezTo>
                  <a:pt x="178594" y="187412"/>
                  <a:pt x="175245" y="179096"/>
                  <a:pt x="169664" y="172845"/>
                </a:cubicBezTo>
                <a:lnTo>
                  <a:pt x="208452" y="95324"/>
                </a:lnTo>
                <a:cubicBezTo>
                  <a:pt x="211745" y="88683"/>
                  <a:pt x="209066" y="80646"/>
                  <a:pt x="202481" y="77353"/>
                </a:cubicBezTo>
                <a:cubicBezTo>
                  <a:pt x="195895" y="74061"/>
                  <a:pt x="187802" y="76740"/>
                  <a:pt x="184510" y="83325"/>
                </a:cubicBezTo>
                <a:lnTo>
                  <a:pt x="145721" y="160846"/>
                </a:lnTo>
                <a:cubicBezTo>
                  <a:pt x="144773" y="160790"/>
                  <a:pt x="143824" y="160734"/>
                  <a:pt x="142875" y="160734"/>
                </a:cubicBezTo>
                <a:cubicBezTo>
                  <a:pt x="123174" y="160734"/>
                  <a:pt x="107156" y="176752"/>
                  <a:pt x="107156" y="196453"/>
                </a:cubicBezTo>
                <a:cubicBezTo>
                  <a:pt x="107156" y="216154"/>
                  <a:pt x="123174" y="232172"/>
                  <a:pt x="142875" y="232172"/>
                </a:cubicBezTo>
                <a:close/>
                <a:moveTo>
                  <a:pt x="98227" y="80367"/>
                </a:moveTo>
                <a:cubicBezTo>
                  <a:pt x="98227" y="70510"/>
                  <a:pt x="90224" y="62508"/>
                  <a:pt x="80367" y="62508"/>
                </a:cubicBezTo>
                <a:cubicBezTo>
                  <a:pt x="70510" y="62508"/>
                  <a:pt x="62508" y="70510"/>
                  <a:pt x="62508" y="80367"/>
                </a:cubicBezTo>
                <a:cubicBezTo>
                  <a:pt x="62508" y="90224"/>
                  <a:pt x="70510" y="98227"/>
                  <a:pt x="80367" y="98227"/>
                </a:cubicBezTo>
                <a:cubicBezTo>
                  <a:pt x="90224" y="98227"/>
                  <a:pt x="98227" y="90224"/>
                  <a:pt x="98227" y="80367"/>
                </a:cubicBezTo>
                <a:close/>
                <a:moveTo>
                  <a:pt x="53578" y="160734"/>
                </a:moveTo>
                <a:cubicBezTo>
                  <a:pt x="63435" y="160734"/>
                  <a:pt x="71438" y="152732"/>
                  <a:pt x="71438" y="142875"/>
                </a:cubicBezTo>
                <a:cubicBezTo>
                  <a:pt x="71438" y="133018"/>
                  <a:pt x="63435" y="125016"/>
                  <a:pt x="53578" y="125016"/>
                </a:cubicBezTo>
                <a:cubicBezTo>
                  <a:pt x="43721" y="125016"/>
                  <a:pt x="35719" y="133018"/>
                  <a:pt x="35719" y="142875"/>
                </a:cubicBezTo>
                <a:cubicBezTo>
                  <a:pt x="35719" y="152732"/>
                  <a:pt x="43721" y="160734"/>
                  <a:pt x="53578" y="160734"/>
                </a:cubicBezTo>
                <a:close/>
                <a:moveTo>
                  <a:pt x="250031" y="142875"/>
                </a:moveTo>
                <a:cubicBezTo>
                  <a:pt x="250031" y="133018"/>
                  <a:pt x="242029" y="125016"/>
                  <a:pt x="232172" y="125016"/>
                </a:cubicBezTo>
                <a:cubicBezTo>
                  <a:pt x="222315" y="125016"/>
                  <a:pt x="214313" y="133018"/>
                  <a:pt x="214313" y="142875"/>
                </a:cubicBezTo>
                <a:cubicBezTo>
                  <a:pt x="214313" y="152732"/>
                  <a:pt x="222315" y="160734"/>
                  <a:pt x="232172" y="160734"/>
                </a:cubicBezTo>
                <a:cubicBezTo>
                  <a:pt x="242029" y="160734"/>
                  <a:pt x="250031" y="152732"/>
                  <a:pt x="250031" y="142875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3" name="Text 41"/>
          <p:cNvSpPr/>
          <p:nvPr/>
        </p:nvSpPr>
        <p:spPr>
          <a:xfrm>
            <a:off x="966788" y="5371979"/>
            <a:ext cx="3152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Large Datasets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6788" y="5638679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processing of high-volume traffic data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2200" y="5257679"/>
            <a:ext cx="5638800" cy="723900"/>
          </a:xfrm>
          <a:custGeom>
            <a:avLst/>
            <a:gdLst/>
            <a:ahLst/>
            <a:cxnLst/>
            <a:rect l="l" t="t" r="r" b="b"/>
            <a:pathLst>
              <a:path w="5638800" h="723900">
                <a:moveTo>
                  <a:pt x="76198" y="0"/>
                </a:moveTo>
                <a:lnTo>
                  <a:pt x="5562602" y="0"/>
                </a:lnTo>
                <a:cubicBezTo>
                  <a:pt x="5604657" y="0"/>
                  <a:pt x="5638800" y="34143"/>
                  <a:pt x="5638800" y="76198"/>
                </a:cubicBezTo>
                <a:lnTo>
                  <a:pt x="5638800" y="647702"/>
                </a:lnTo>
                <a:cubicBezTo>
                  <a:pt x="5638800" y="689757"/>
                  <a:pt x="5604657" y="723900"/>
                  <a:pt x="55626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46" name="Shape 44"/>
          <p:cNvSpPr/>
          <p:nvPr/>
        </p:nvSpPr>
        <p:spPr>
          <a:xfrm>
            <a:off x="6306741" y="547675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5719" y="71438"/>
                </a:moveTo>
                <a:cubicBezTo>
                  <a:pt x="35719" y="36938"/>
                  <a:pt x="63728" y="8930"/>
                  <a:pt x="98227" y="8930"/>
                </a:cubicBezTo>
                <a:cubicBezTo>
                  <a:pt x="132726" y="8930"/>
                  <a:pt x="160734" y="36938"/>
                  <a:pt x="160734" y="71437"/>
                </a:cubicBezTo>
                <a:cubicBezTo>
                  <a:pt x="160734" y="105937"/>
                  <a:pt x="132726" y="133945"/>
                  <a:pt x="98227" y="133945"/>
                </a:cubicBezTo>
                <a:cubicBezTo>
                  <a:pt x="63728" y="133945"/>
                  <a:pt x="35719" y="105937"/>
                  <a:pt x="35719" y="71438"/>
                </a:cubicBezTo>
                <a:close/>
                <a:moveTo>
                  <a:pt x="0" y="258961"/>
                </a:moveTo>
                <a:cubicBezTo>
                  <a:pt x="0" y="204713"/>
                  <a:pt x="43979" y="160734"/>
                  <a:pt x="98227" y="160734"/>
                </a:cubicBezTo>
                <a:cubicBezTo>
                  <a:pt x="152474" y="160734"/>
                  <a:pt x="196453" y="204713"/>
                  <a:pt x="196453" y="258961"/>
                </a:cubicBezTo>
                <a:lnTo>
                  <a:pt x="196453" y="262310"/>
                </a:lnTo>
                <a:cubicBezTo>
                  <a:pt x="196453" y="275258"/>
                  <a:pt x="185961" y="285750"/>
                  <a:pt x="173013" y="285750"/>
                </a:cubicBezTo>
                <a:lnTo>
                  <a:pt x="23440" y="285750"/>
                </a:lnTo>
                <a:cubicBezTo>
                  <a:pt x="10492" y="285750"/>
                  <a:pt x="0" y="275258"/>
                  <a:pt x="0" y="262310"/>
                </a:cubicBezTo>
                <a:lnTo>
                  <a:pt x="0" y="258961"/>
                </a:lnTo>
                <a:close/>
                <a:moveTo>
                  <a:pt x="241102" y="35719"/>
                </a:moveTo>
                <a:cubicBezTo>
                  <a:pt x="270672" y="35719"/>
                  <a:pt x="294680" y="59726"/>
                  <a:pt x="294680" y="89297"/>
                </a:cubicBezTo>
                <a:cubicBezTo>
                  <a:pt x="294680" y="118867"/>
                  <a:pt x="270672" y="142875"/>
                  <a:pt x="241102" y="142875"/>
                </a:cubicBezTo>
                <a:cubicBezTo>
                  <a:pt x="211531" y="142875"/>
                  <a:pt x="187523" y="118867"/>
                  <a:pt x="187523" y="89297"/>
                </a:cubicBezTo>
                <a:cubicBezTo>
                  <a:pt x="187523" y="59726"/>
                  <a:pt x="211531" y="35719"/>
                  <a:pt x="241102" y="35719"/>
                </a:cubicBezTo>
                <a:close/>
                <a:moveTo>
                  <a:pt x="241102" y="169664"/>
                </a:moveTo>
                <a:cubicBezTo>
                  <a:pt x="285471" y="169664"/>
                  <a:pt x="321469" y="205662"/>
                  <a:pt x="321469" y="250031"/>
                </a:cubicBezTo>
                <a:lnTo>
                  <a:pt x="321469" y="262533"/>
                </a:lnTo>
                <a:cubicBezTo>
                  <a:pt x="321469" y="275369"/>
                  <a:pt x="311088" y="285750"/>
                  <a:pt x="298252" y="285750"/>
                </a:cubicBezTo>
                <a:lnTo>
                  <a:pt x="217438" y="285750"/>
                </a:lnTo>
                <a:cubicBezTo>
                  <a:pt x="221121" y="278774"/>
                  <a:pt x="223242" y="270793"/>
                  <a:pt x="223242" y="262310"/>
                </a:cubicBezTo>
                <a:lnTo>
                  <a:pt x="223242" y="258961"/>
                </a:lnTo>
                <a:cubicBezTo>
                  <a:pt x="223242" y="230219"/>
                  <a:pt x="213531" y="203764"/>
                  <a:pt x="197290" y="182668"/>
                </a:cubicBezTo>
                <a:cubicBezTo>
                  <a:pt x="209903" y="174464"/>
                  <a:pt x="224972" y="169664"/>
                  <a:pt x="241102" y="169664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7" name="Text 45"/>
          <p:cNvSpPr/>
          <p:nvPr/>
        </p:nvSpPr>
        <p:spPr>
          <a:xfrm>
            <a:off x="6757988" y="5371979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to Understand &amp; Maintain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57988" y="5638679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documentation for long-term sustainability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BENEFITS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of the Proposed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66850"/>
            <a:ext cx="3705225" cy="1333500"/>
          </a:xfrm>
          <a:custGeom>
            <a:avLst/>
            <a:gdLst/>
            <a:ahLst/>
            <a:cxnLst/>
            <a:rect l="l" t="t" r="r" b="b"/>
            <a:pathLst>
              <a:path w="3705225" h="13335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57304"/>
                </a:lnTo>
                <a:cubicBezTo>
                  <a:pt x="3705225" y="1299386"/>
                  <a:pt x="3671111" y="1333500"/>
                  <a:pt x="3629029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1000" y="14668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7" name="Shape 5"/>
          <p:cNvSpPr/>
          <p:nvPr/>
        </p:nvSpPr>
        <p:spPr>
          <a:xfrm>
            <a:off x="2063710" y="1638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8" name="Text 6"/>
          <p:cNvSpPr/>
          <p:nvPr/>
        </p:nvSpPr>
        <p:spPr>
          <a:xfrm>
            <a:off x="485775" y="20574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Congestion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300" y="2400300"/>
            <a:ext cx="34766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traffic buildup, ensuring smoother flow.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1721" y="1466850"/>
            <a:ext cx="3705225" cy="1333500"/>
          </a:xfrm>
          <a:custGeom>
            <a:avLst/>
            <a:gdLst/>
            <a:ahLst/>
            <a:cxnLst/>
            <a:rect l="l" t="t" r="r" b="b"/>
            <a:pathLst>
              <a:path w="3705225" h="13335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57304"/>
                </a:lnTo>
                <a:cubicBezTo>
                  <a:pt x="3705225" y="1299386"/>
                  <a:pt x="3671111" y="1333500"/>
                  <a:pt x="3629029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4241721" y="14668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2" name="Shape 10"/>
          <p:cNvSpPr/>
          <p:nvPr/>
        </p:nvSpPr>
        <p:spPr>
          <a:xfrm>
            <a:off x="5924431" y="1638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ubicBezTo>
                  <a:pt x="0" y="76824"/>
                  <a:pt x="76824" y="0"/>
                  <a:pt x="171450" y="0"/>
                </a:cubicBezTo>
                <a:close/>
                <a:moveTo>
                  <a:pt x="155377" y="80367"/>
                </a:moveTo>
                <a:lnTo>
                  <a:pt x="155377" y="171450"/>
                </a:lnTo>
                <a:cubicBezTo>
                  <a:pt x="155377" y="176808"/>
                  <a:pt x="158055" y="181831"/>
                  <a:pt x="162543" y="184845"/>
                </a:cubicBezTo>
                <a:lnTo>
                  <a:pt x="226836" y="227707"/>
                </a:lnTo>
                <a:cubicBezTo>
                  <a:pt x="234203" y="232663"/>
                  <a:pt x="244182" y="230654"/>
                  <a:pt x="249138" y="223220"/>
                </a:cubicBezTo>
                <a:cubicBezTo>
                  <a:pt x="254094" y="215786"/>
                  <a:pt x="252085" y="205874"/>
                  <a:pt x="244651" y="200918"/>
                </a:cubicBezTo>
                <a:lnTo>
                  <a:pt x="187523" y="162878"/>
                </a:lnTo>
                <a:lnTo>
                  <a:pt x="187523" y="80367"/>
                </a:lnTo>
                <a:cubicBezTo>
                  <a:pt x="187523" y="71460"/>
                  <a:pt x="180357" y="64294"/>
                  <a:pt x="171450" y="64294"/>
                </a:cubicBezTo>
                <a:cubicBezTo>
                  <a:pt x="162543" y="64294"/>
                  <a:pt x="155377" y="71460"/>
                  <a:pt x="155377" y="80367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3" name="Text 11"/>
          <p:cNvSpPr/>
          <p:nvPr/>
        </p:nvSpPr>
        <p:spPr>
          <a:xfrm>
            <a:off x="4346496" y="20574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Saves Time &amp; Fuel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56021" y="2400300"/>
            <a:ext cx="34766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travel time and fuel consumption.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2561" y="1466850"/>
            <a:ext cx="3705225" cy="1333500"/>
          </a:xfrm>
          <a:custGeom>
            <a:avLst/>
            <a:gdLst/>
            <a:ahLst/>
            <a:cxnLst/>
            <a:rect l="l" t="t" r="r" b="b"/>
            <a:pathLst>
              <a:path w="3705225" h="13335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57304"/>
                </a:lnTo>
                <a:cubicBezTo>
                  <a:pt x="3705225" y="1299386"/>
                  <a:pt x="3671111" y="1333500"/>
                  <a:pt x="3629029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8102561" y="14668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5271" y="1638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92881" y="64294"/>
                </a:moveTo>
                <a:cubicBezTo>
                  <a:pt x="192881" y="52466"/>
                  <a:pt x="183278" y="42863"/>
                  <a:pt x="171450" y="42863"/>
                </a:cubicBezTo>
                <a:cubicBezTo>
                  <a:pt x="159622" y="42863"/>
                  <a:pt x="150019" y="52466"/>
                  <a:pt x="150019" y="64294"/>
                </a:cubicBezTo>
                <a:cubicBezTo>
                  <a:pt x="150019" y="76122"/>
                  <a:pt x="159622" y="85725"/>
                  <a:pt x="171450" y="85725"/>
                </a:cubicBezTo>
                <a:cubicBezTo>
                  <a:pt x="183278" y="85725"/>
                  <a:pt x="192881" y="76122"/>
                  <a:pt x="192881" y="64294"/>
                </a:cubicBezTo>
                <a:close/>
                <a:moveTo>
                  <a:pt x="171450" y="278606"/>
                </a:moveTo>
                <a:cubicBezTo>
                  <a:pt x="195091" y="278606"/>
                  <a:pt x="214313" y="259385"/>
                  <a:pt x="214313" y="235744"/>
                </a:cubicBezTo>
                <a:cubicBezTo>
                  <a:pt x="214313" y="224894"/>
                  <a:pt x="210294" y="214915"/>
                  <a:pt x="203597" y="207414"/>
                </a:cubicBezTo>
                <a:lnTo>
                  <a:pt x="250143" y="114389"/>
                </a:lnTo>
                <a:cubicBezTo>
                  <a:pt x="254094" y="106420"/>
                  <a:pt x="250880" y="96775"/>
                  <a:pt x="242977" y="92824"/>
                </a:cubicBezTo>
                <a:cubicBezTo>
                  <a:pt x="235074" y="88873"/>
                  <a:pt x="225363" y="92087"/>
                  <a:pt x="221412" y="99990"/>
                </a:cubicBezTo>
                <a:lnTo>
                  <a:pt x="174866" y="193015"/>
                </a:lnTo>
                <a:cubicBezTo>
                  <a:pt x="173727" y="192948"/>
                  <a:pt x="172589" y="192881"/>
                  <a:pt x="171450" y="192881"/>
                </a:cubicBezTo>
                <a:cubicBezTo>
                  <a:pt x="147809" y="192881"/>
                  <a:pt x="128588" y="212102"/>
                  <a:pt x="128588" y="235744"/>
                </a:cubicBezTo>
                <a:cubicBezTo>
                  <a:pt x="128588" y="259385"/>
                  <a:pt x="147809" y="278606"/>
                  <a:pt x="171450" y="278606"/>
                </a:cubicBezTo>
                <a:close/>
                <a:moveTo>
                  <a:pt x="117872" y="96441"/>
                </a:moveTo>
                <a:cubicBezTo>
                  <a:pt x="117872" y="84612"/>
                  <a:pt x="108269" y="75009"/>
                  <a:pt x="96441" y="75009"/>
                </a:cubicBezTo>
                <a:cubicBezTo>
                  <a:pt x="84612" y="75009"/>
                  <a:pt x="75009" y="84612"/>
                  <a:pt x="75009" y="96441"/>
                </a:cubicBezTo>
                <a:cubicBezTo>
                  <a:pt x="75009" y="108269"/>
                  <a:pt x="84612" y="117872"/>
                  <a:pt x="96441" y="117872"/>
                </a:cubicBezTo>
                <a:cubicBezTo>
                  <a:pt x="108269" y="117872"/>
                  <a:pt x="117872" y="108269"/>
                  <a:pt x="117872" y="96441"/>
                </a:cubicBezTo>
                <a:close/>
                <a:moveTo>
                  <a:pt x="64294" y="192881"/>
                </a:moveTo>
                <a:cubicBezTo>
                  <a:pt x="76122" y="192881"/>
                  <a:pt x="85725" y="183278"/>
                  <a:pt x="85725" y="171450"/>
                </a:cubicBezTo>
                <a:cubicBezTo>
                  <a:pt x="85725" y="159622"/>
                  <a:pt x="76122" y="150019"/>
                  <a:pt x="64294" y="150019"/>
                </a:cubicBezTo>
                <a:cubicBezTo>
                  <a:pt x="52466" y="150019"/>
                  <a:pt x="42863" y="159622"/>
                  <a:pt x="42863" y="171450"/>
                </a:cubicBezTo>
                <a:cubicBezTo>
                  <a:pt x="42863" y="183278"/>
                  <a:pt x="52466" y="192881"/>
                  <a:pt x="64294" y="192881"/>
                </a:cubicBezTo>
                <a:close/>
                <a:moveTo>
                  <a:pt x="300038" y="171450"/>
                </a:moveTo>
                <a:cubicBezTo>
                  <a:pt x="300038" y="159622"/>
                  <a:pt x="290434" y="150019"/>
                  <a:pt x="278606" y="150019"/>
                </a:cubicBezTo>
                <a:cubicBezTo>
                  <a:pt x="266778" y="150019"/>
                  <a:pt x="257175" y="159622"/>
                  <a:pt x="257175" y="171450"/>
                </a:cubicBezTo>
                <a:cubicBezTo>
                  <a:pt x="257175" y="183278"/>
                  <a:pt x="266778" y="192881"/>
                  <a:pt x="278606" y="192881"/>
                </a:cubicBezTo>
                <a:cubicBezTo>
                  <a:pt x="290434" y="192881"/>
                  <a:pt x="300038" y="183278"/>
                  <a:pt x="300038" y="17145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8" name="Text 16"/>
          <p:cNvSpPr/>
          <p:nvPr/>
        </p:nvSpPr>
        <p:spPr>
          <a:xfrm>
            <a:off x="8207336" y="20574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Efficiency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16861" y="2400300"/>
            <a:ext cx="34766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Maximizes throughput and minimizes delays.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2952750"/>
            <a:ext cx="5619750" cy="2381250"/>
          </a:xfrm>
          <a:custGeom>
            <a:avLst/>
            <a:gdLst/>
            <a:ahLst/>
            <a:cxnLst/>
            <a:rect l="l" t="t" r="r" b="b"/>
            <a:pathLst>
              <a:path w="5619750" h="238125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305050"/>
                </a:lnTo>
                <a:cubicBezTo>
                  <a:pt x="5619750" y="2347106"/>
                  <a:pt x="5585606" y="2381250"/>
                  <a:pt x="5543550" y="2381250"/>
                </a:cubicBezTo>
                <a:lnTo>
                  <a:pt x="38100" y="2381250"/>
                </a:lnTo>
                <a:cubicBezTo>
                  <a:pt x="17072" y="2381250"/>
                  <a:pt x="0" y="2364178"/>
                  <a:pt x="0" y="2343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/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400050" y="2952750"/>
            <a:ext cx="38100" cy="2381250"/>
          </a:xfrm>
          <a:custGeom>
            <a:avLst/>
            <a:gdLst/>
            <a:ahLst/>
            <a:cxnLst/>
            <a:rect l="l" t="t" r="r" b="b"/>
            <a:pathLst>
              <a:path w="38100" h="2381250">
                <a:moveTo>
                  <a:pt x="38100" y="0"/>
                </a:moveTo>
                <a:lnTo>
                  <a:pt x="38100" y="0"/>
                </a:lnTo>
                <a:lnTo>
                  <a:pt x="38100" y="2381250"/>
                </a:lnTo>
                <a:lnTo>
                  <a:pt x="38100" y="2381250"/>
                </a:lnTo>
                <a:cubicBezTo>
                  <a:pt x="17072" y="2381250"/>
                  <a:pt x="0" y="2364178"/>
                  <a:pt x="0" y="2343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363" y="314312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3" name="Text 21"/>
          <p:cNvSpPr/>
          <p:nvPr/>
        </p:nvSpPr>
        <p:spPr>
          <a:xfrm>
            <a:off x="857250" y="3105150"/>
            <a:ext cx="512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Infrastructure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3524129"/>
            <a:ext cx="5381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</a:t>
            </a: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expensive cameras or sensors</a:t>
            </a: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reducing costs.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" y="3917035"/>
            <a:ext cx="5295900" cy="990600"/>
          </a:xfrm>
          <a:custGeom>
            <a:avLst/>
            <a:gdLst/>
            <a:ahLst/>
            <a:cxnLst/>
            <a:rect l="l" t="t" r="r" b="b"/>
            <a:pathLst>
              <a:path w="5295900" h="990600">
                <a:moveTo>
                  <a:pt x="38098" y="0"/>
                </a:moveTo>
                <a:lnTo>
                  <a:pt x="5257802" y="0"/>
                </a:lnTo>
                <a:cubicBezTo>
                  <a:pt x="5278843" y="0"/>
                  <a:pt x="5295900" y="17057"/>
                  <a:pt x="5295900" y="38098"/>
                </a:cubicBezTo>
                <a:lnTo>
                  <a:pt x="5295900" y="952502"/>
                </a:lnTo>
                <a:cubicBezTo>
                  <a:pt x="5295900" y="973543"/>
                  <a:pt x="5278843" y="990600"/>
                  <a:pt x="5257802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4"/>
          <p:cNvSpPr/>
          <p:nvPr/>
        </p:nvSpPr>
        <p:spPr>
          <a:xfrm>
            <a:off x="714375" y="406181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7" name="Text 25"/>
          <p:cNvSpPr/>
          <p:nvPr/>
        </p:nvSpPr>
        <p:spPr>
          <a:xfrm>
            <a:off x="933450" y="4031335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existing traffic data archives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4375" y="432851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9" name="Text 27"/>
          <p:cNvSpPr/>
          <p:nvPr/>
        </p:nvSpPr>
        <p:spPr>
          <a:xfrm>
            <a:off x="933450" y="4298035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computing hardware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4375" y="459521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1" name="Text 29"/>
          <p:cNvSpPr/>
          <p:nvPr/>
        </p:nvSpPr>
        <p:spPr>
          <a:xfrm>
            <a:off x="933450" y="4564735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integration with signal controllers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2952750"/>
            <a:ext cx="5619750" cy="2381250"/>
          </a:xfrm>
          <a:custGeom>
            <a:avLst/>
            <a:gdLst/>
            <a:ahLst/>
            <a:cxnLst/>
            <a:rect l="l" t="t" r="r" b="b"/>
            <a:pathLst>
              <a:path w="5619750" h="238125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305050"/>
                </a:lnTo>
                <a:cubicBezTo>
                  <a:pt x="5619750" y="2347106"/>
                  <a:pt x="5585606" y="2381250"/>
                  <a:pt x="5543550" y="2381250"/>
                </a:cubicBezTo>
                <a:lnTo>
                  <a:pt x="38100" y="2381250"/>
                </a:lnTo>
                <a:cubicBezTo>
                  <a:pt x="17072" y="2381250"/>
                  <a:pt x="0" y="2364178"/>
                  <a:pt x="0" y="2343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CB5A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6191250" y="2952750"/>
            <a:ext cx="38100" cy="2381250"/>
          </a:xfrm>
          <a:custGeom>
            <a:avLst/>
            <a:gdLst/>
            <a:ahLst/>
            <a:cxnLst/>
            <a:rect l="l" t="t" r="r" b="b"/>
            <a:pathLst>
              <a:path w="38100" h="2381250">
                <a:moveTo>
                  <a:pt x="38100" y="0"/>
                </a:moveTo>
                <a:lnTo>
                  <a:pt x="38100" y="0"/>
                </a:lnTo>
                <a:lnTo>
                  <a:pt x="38100" y="2381250"/>
                </a:lnTo>
                <a:lnTo>
                  <a:pt x="38100" y="2381250"/>
                </a:lnTo>
                <a:cubicBezTo>
                  <a:pt x="17072" y="2381250"/>
                  <a:pt x="0" y="2364178"/>
                  <a:pt x="0" y="2343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91275" y="31431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5" name="Text 33"/>
          <p:cNvSpPr/>
          <p:nvPr/>
        </p:nvSpPr>
        <p:spPr>
          <a:xfrm>
            <a:off x="6648450" y="3105150"/>
            <a:ext cx="512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Suitable for Developing Regions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62700" y="3524129"/>
            <a:ext cx="5381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Particularly beneficial for regions with </a:t>
            </a:r>
            <a:r>
              <a:rPr lang="en-US" sz="135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infrastructure and budget constraints</a:t>
            </a:r>
            <a:r>
              <a:rPr lang="en-US" sz="13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2700" y="4195642"/>
            <a:ext cx="5295900" cy="990600"/>
          </a:xfrm>
          <a:custGeom>
            <a:avLst/>
            <a:gdLst/>
            <a:ahLst/>
            <a:cxnLst/>
            <a:rect l="l" t="t" r="r" b="b"/>
            <a:pathLst>
              <a:path w="5295900" h="990600">
                <a:moveTo>
                  <a:pt x="38098" y="0"/>
                </a:moveTo>
                <a:lnTo>
                  <a:pt x="5257802" y="0"/>
                </a:lnTo>
                <a:cubicBezTo>
                  <a:pt x="5278843" y="0"/>
                  <a:pt x="5295900" y="17057"/>
                  <a:pt x="5295900" y="38098"/>
                </a:cubicBezTo>
                <a:lnTo>
                  <a:pt x="5295900" y="952502"/>
                </a:lnTo>
                <a:cubicBezTo>
                  <a:pt x="5295900" y="973543"/>
                  <a:pt x="5278843" y="990600"/>
                  <a:pt x="5257802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Shape 36"/>
          <p:cNvSpPr/>
          <p:nvPr/>
        </p:nvSpPr>
        <p:spPr>
          <a:xfrm>
            <a:off x="6505575" y="43404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9" name="Text 37"/>
          <p:cNvSpPr/>
          <p:nvPr/>
        </p:nvSpPr>
        <p:spPr>
          <a:xfrm>
            <a:off x="6724650" y="4309942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Addresses rapid urbanization challenges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05575" y="46071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1" name="Text 39"/>
          <p:cNvSpPr/>
          <p:nvPr/>
        </p:nvSpPr>
        <p:spPr>
          <a:xfrm>
            <a:off x="6724650" y="4576642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deployment without major construction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05575" y="48738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43" name="Text 41"/>
          <p:cNvSpPr/>
          <p:nvPr/>
        </p:nvSpPr>
        <p:spPr>
          <a:xfrm>
            <a:off x="6724650" y="4843342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quality of life in urban areas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1000" y="5452942"/>
            <a:ext cx="11430000" cy="514350"/>
          </a:xfrm>
          <a:custGeom>
            <a:avLst/>
            <a:gdLst/>
            <a:ahLst/>
            <a:cxnLst/>
            <a:rect l="l" t="t" r="r" b="b"/>
            <a:pathLst>
              <a:path w="11430000" h="514350">
                <a:moveTo>
                  <a:pt x="76201" y="0"/>
                </a:moveTo>
                <a:lnTo>
                  <a:pt x="11353799" y="0"/>
                </a:lnTo>
                <a:cubicBezTo>
                  <a:pt x="11395884" y="0"/>
                  <a:pt x="11430000" y="34116"/>
                  <a:pt x="11430000" y="76201"/>
                </a:cubicBezTo>
                <a:lnTo>
                  <a:pt x="11430000" y="438149"/>
                </a:lnTo>
                <a:cubicBezTo>
                  <a:pt x="11430000" y="480234"/>
                  <a:pt x="11395884" y="514350"/>
                  <a:pt x="11353799" y="514350"/>
                </a:cubicBezTo>
                <a:lnTo>
                  <a:pt x="76201" y="514350"/>
                </a:lnTo>
                <a:cubicBezTo>
                  <a:pt x="34116" y="514350"/>
                  <a:pt x="0" y="480234"/>
                  <a:pt x="0" y="4381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/>
              </a:gs>
              <a:gs pos="100000">
                <a:srgbClr val="4A6C8C"/>
              </a:gs>
            </a:gsLst>
            <a:lin ang="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533400" y="556724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3035" y="3739"/>
                </a:moveTo>
                <a:cubicBezTo>
                  <a:pt x="266607" y="335"/>
                  <a:pt x="271797" y="-893"/>
                  <a:pt x="276597" y="670"/>
                </a:cubicBezTo>
                <a:cubicBezTo>
                  <a:pt x="282067" y="2511"/>
                  <a:pt x="285750" y="7646"/>
                  <a:pt x="285750" y="13395"/>
                </a:cubicBezTo>
                <a:lnTo>
                  <a:pt x="285750" y="117704"/>
                </a:lnTo>
                <a:cubicBezTo>
                  <a:pt x="285750" y="190928"/>
                  <a:pt x="225419" y="250031"/>
                  <a:pt x="152474" y="250031"/>
                </a:cubicBezTo>
                <a:cubicBezTo>
                  <a:pt x="109500" y="250031"/>
                  <a:pt x="72442" y="222405"/>
                  <a:pt x="58992" y="183784"/>
                </a:cubicBezTo>
                <a:cubicBezTo>
                  <a:pt x="39235" y="200974"/>
                  <a:pt x="26789" y="226256"/>
                  <a:pt x="26789" y="254496"/>
                </a:cubicBezTo>
                <a:cubicBezTo>
                  <a:pt x="26789" y="261919"/>
                  <a:pt x="20817" y="267891"/>
                  <a:pt x="13395" y="267891"/>
                </a:cubicBezTo>
                <a:cubicBezTo>
                  <a:pt x="5972" y="267891"/>
                  <a:pt x="0" y="261919"/>
                  <a:pt x="0" y="254496"/>
                </a:cubicBezTo>
                <a:cubicBezTo>
                  <a:pt x="0" y="212694"/>
                  <a:pt x="21320" y="175859"/>
                  <a:pt x="53634" y="154205"/>
                </a:cubicBezTo>
                <a:cubicBezTo>
                  <a:pt x="73335" y="141033"/>
                  <a:pt x="96831" y="133945"/>
                  <a:pt x="120551" y="133945"/>
                </a:cubicBezTo>
                <a:lnTo>
                  <a:pt x="165199" y="133945"/>
                </a:lnTo>
                <a:cubicBezTo>
                  <a:pt x="172622" y="133945"/>
                  <a:pt x="178594" y="127974"/>
                  <a:pt x="178594" y="120551"/>
                </a:cubicBezTo>
                <a:cubicBezTo>
                  <a:pt x="178594" y="113128"/>
                  <a:pt x="172622" y="107156"/>
                  <a:pt x="165199" y="107156"/>
                </a:cubicBezTo>
                <a:lnTo>
                  <a:pt x="120551" y="107156"/>
                </a:lnTo>
                <a:cubicBezTo>
                  <a:pt x="98394" y="107156"/>
                  <a:pt x="77409" y="112068"/>
                  <a:pt x="58601" y="120830"/>
                </a:cubicBezTo>
                <a:cubicBezTo>
                  <a:pt x="71605" y="81762"/>
                  <a:pt x="108384" y="53578"/>
                  <a:pt x="151805" y="53578"/>
                </a:cubicBezTo>
                <a:cubicBezTo>
                  <a:pt x="188863" y="53578"/>
                  <a:pt x="216433" y="41244"/>
                  <a:pt x="234795" y="29021"/>
                </a:cubicBezTo>
                <a:cubicBezTo>
                  <a:pt x="245511" y="21878"/>
                  <a:pt x="254608" y="13339"/>
                  <a:pt x="263091" y="373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Text 44"/>
          <p:cNvSpPr/>
          <p:nvPr/>
        </p:nvSpPr>
        <p:spPr>
          <a:xfrm>
            <a:off x="1004887" y="5576767"/>
            <a:ext cx="690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Impact: Reduces emissions by minimizing idling time and stop-and-go traffic.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9a3290aedd1eb15c54749e94515e0ef0dd0831d8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4A6C8C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12395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14287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Urban Traffic Management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20002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7" name="Shape 4"/>
          <p:cNvSpPr/>
          <p:nvPr/>
        </p:nvSpPr>
        <p:spPr>
          <a:xfrm>
            <a:off x="381000" y="2190750"/>
            <a:ext cx="11430000" cy="2895600"/>
          </a:xfrm>
          <a:custGeom>
            <a:avLst/>
            <a:gdLst/>
            <a:ahLst/>
            <a:cxnLst/>
            <a:rect l="l" t="t" r="r" b="b"/>
            <a:pathLst>
              <a:path w="11430000" h="2895600">
                <a:moveTo>
                  <a:pt x="76212" y="0"/>
                </a:moveTo>
                <a:lnTo>
                  <a:pt x="11353788" y="0"/>
                </a:lnTo>
                <a:cubicBezTo>
                  <a:pt x="11395879" y="0"/>
                  <a:pt x="11430000" y="34121"/>
                  <a:pt x="11430000" y="76212"/>
                </a:cubicBezTo>
                <a:lnTo>
                  <a:pt x="11430000" y="2819388"/>
                </a:lnTo>
                <a:cubicBezTo>
                  <a:pt x="11430000" y="2861479"/>
                  <a:pt x="11395879" y="2895600"/>
                  <a:pt x="11353788" y="2895600"/>
                </a:cubicBezTo>
                <a:lnTo>
                  <a:pt x="76212" y="2895600"/>
                </a:lnTo>
                <a:cubicBezTo>
                  <a:pt x="34121" y="2895600"/>
                  <a:pt x="0" y="2861479"/>
                  <a:pt x="0" y="28193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gradFill flip="none" rotWithShape="1">
            <a:gsLst>
              <a:gs pos="0">
                <a:srgbClr val="2B2D42">
                  <a:alpha val="80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552450" y="2343150"/>
            <a:ext cx="3590925" cy="1143000"/>
          </a:xfrm>
          <a:custGeom>
            <a:avLst/>
            <a:gdLst/>
            <a:ahLst/>
            <a:cxnLst/>
            <a:rect l="l" t="t" r="r" b="b"/>
            <a:pathLst>
              <a:path w="3590925" h="1143000">
                <a:moveTo>
                  <a:pt x="38100" y="0"/>
                </a:moveTo>
                <a:lnTo>
                  <a:pt x="3514721" y="0"/>
                </a:lnTo>
                <a:cubicBezTo>
                  <a:pt x="3556807" y="0"/>
                  <a:pt x="3590925" y="34118"/>
                  <a:pt x="3590925" y="76204"/>
                </a:cubicBezTo>
                <a:lnTo>
                  <a:pt x="3590925" y="1066796"/>
                </a:lnTo>
                <a:cubicBezTo>
                  <a:pt x="3590925" y="1108882"/>
                  <a:pt x="3556807" y="1143000"/>
                  <a:pt x="3514721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Shape 6"/>
          <p:cNvSpPr/>
          <p:nvPr/>
        </p:nvSpPr>
        <p:spPr>
          <a:xfrm>
            <a:off x="552450" y="23431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0" name="Shape 7"/>
          <p:cNvSpPr/>
          <p:nvPr/>
        </p:nvSpPr>
        <p:spPr>
          <a:xfrm>
            <a:off x="735806" y="252603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3" y="0"/>
                </a:moveTo>
                <a:cubicBezTo>
                  <a:pt x="105928" y="0"/>
                  <a:pt x="95250" y="10678"/>
                  <a:pt x="95250" y="23812"/>
                </a:cubicBezTo>
                <a:lnTo>
                  <a:pt x="95250" y="35719"/>
                </a:lnTo>
                <a:lnTo>
                  <a:pt x="77391" y="35719"/>
                </a:lnTo>
                <a:lnTo>
                  <a:pt x="77391" y="8930"/>
                </a:lnTo>
                <a:cubicBezTo>
                  <a:pt x="77391" y="3981"/>
                  <a:pt x="73409" y="0"/>
                  <a:pt x="68461" y="0"/>
                </a:cubicBezTo>
                <a:cubicBezTo>
                  <a:pt x="63512" y="0"/>
                  <a:pt x="59531" y="3981"/>
                  <a:pt x="59531" y="8930"/>
                </a:cubicBezTo>
                <a:lnTo>
                  <a:pt x="59531" y="35719"/>
                </a:lnTo>
                <a:lnTo>
                  <a:pt x="35719" y="35719"/>
                </a:lnTo>
                <a:lnTo>
                  <a:pt x="35719" y="8930"/>
                </a:lnTo>
                <a:cubicBezTo>
                  <a:pt x="35719" y="3981"/>
                  <a:pt x="31738" y="0"/>
                  <a:pt x="26789" y="0"/>
                </a:cubicBezTo>
                <a:cubicBezTo>
                  <a:pt x="21841" y="0"/>
                  <a:pt x="17859" y="3981"/>
                  <a:pt x="17859" y="8930"/>
                </a:cubicBezTo>
                <a:lnTo>
                  <a:pt x="17859" y="36463"/>
                </a:lnTo>
                <a:cubicBezTo>
                  <a:pt x="7590" y="39105"/>
                  <a:pt x="0" y="48444"/>
                  <a:pt x="0" y="59531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90500" y="190500"/>
                </a:lnTo>
                <a:cubicBezTo>
                  <a:pt x="203634" y="190500"/>
                  <a:pt x="214313" y="179822"/>
                  <a:pt x="214313" y="166688"/>
                </a:cubicBezTo>
                <a:lnTo>
                  <a:pt x="214313" y="95250"/>
                </a:lnTo>
                <a:cubicBezTo>
                  <a:pt x="214313" y="82116"/>
                  <a:pt x="203634" y="71438"/>
                  <a:pt x="190500" y="71438"/>
                </a:cubicBezTo>
                <a:lnTo>
                  <a:pt x="166688" y="71438"/>
                </a:lnTo>
                <a:lnTo>
                  <a:pt x="166688" y="23812"/>
                </a:lnTo>
                <a:cubicBezTo>
                  <a:pt x="166688" y="10678"/>
                  <a:pt x="156009" y="0"/>
                  <a:pt x="142875" y="0"/>
                </a:cubicBezTo>
                <a:lnTo>
                  <a:pt x="119063" y="0"/>
                </a:lnTo>
                <a:close/>
                <a:moveTo>
                  <a:pt x="142875" y="41672"/>
                </a:moveTo>
                <a:lnTo>
                  <a:pt x="142875" y="53578"/>
                </a:lnTo>
                <a:cubicBezTo>
                  <a:pt x="142875" y="56852"/>
                  <a:pt x="140196" y="59531"/>
                  <a:pt x="136922" y="59531"/>
                </a:cubicBezTo>
                <a:lnTo>
                  <a:pt x="125016" y="59531"/>
                </a:lnTo>
                <a:cubicBezTo>
                  <a:pt x="121741" y="59531"/>
                  <a:pt x="119063" y="56852"/>
                  <a:pt x="119063" y="53578"/>
                </a:cubicBezTo>
                <a:lnTo>
                  <a:pt x="119063" y="41672"/>
                </a:lnTo>
                <a:cubicBezTo>
                  <a:pt x="119063" y="38398"/>
                  <a:pt x="121741" y="35719"/>
                  <a:pt x="125016" y="35719"/>
                </a:cubicBezTo>
                <a:lnTo>
                  <a:pt x="136922" y="35719"/>
                </a:lnTo>
                <a:cubicBezTo>
                  <a:pt x="140196" y="35719"/>
                  <a:pt x="142875" y="38398"/>
                  <a:pt x="142875" y="41672"/>
                </a:cubicBezTo>
                <a:close/>
                <a:moveTo>
                  <a:pt x="136922" y="71438"/>
                </a:moveTo>
                <a:cubicBezTo>
                  <a:pt x="140196" y="71438"/>
                  <a:pt x="142875" y="74116"/>
                  <a:pt x="142875" y="77391"/>
                </a:cubicBezTo>
                <a:lnTo>
                  <a:pt x="142875" y="89297"/>
                </a:lnTo>
                <a:cubicBezTo>
                  <a:pt x="142875" y="92571"/>
                  <a:pt x="140196" y="95250"/>
                  <a:pt x="136922" y="95250"/>
                </a:cubicBezTo>
                <a:lnTo>
                  <a:pt x="125016" y="95250"/>
                </a:lnTo>
                <a:cubicBezTo>
                  <a:pt x="121741" y="95250"/>
                  <a:pt x="119063" y="92571"/>
                  <a:pt x="119063" y="89297"/>
                </a:cubicBezTo>
                <a:lnTo>
                  <a:pt x="119063" y="77391"/>
                </a:lnTo>
                <a:cubicBezTo>
                  <a:pt x="119063" y="74116"/>
                  <a:pt x="121741" y="71438"/>
                  <a:pt x="125016" y="71438"/>
                </a:cubicBezTo>
                <a:lnTo>
                  <a:pt x="136922" y="71438"/>
                </a:lnTo>
                <a:close/>
                <a:moveTo>
                  <a:pt x="142875" y="113109"/>
                </a:moveTo>
                <a:lnTo>
                  <a:pt x="142875" y="125016"/>
                </a:lnTo>
                <a:cubicBezTo>
                  <a:pt x="142875" y="128290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28290"/>
                  <a:pt x="119063" y="125016"/>
                </a:cubicBezTo>
                <a:lnTo>
                  <a:pt x="119063" y="113109"/>
                </a:lnTo>
                <a:cubicBezTo>
                  <a:pt x="119063" y="109835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9835"/>
                  <a:pt x="142875" y="113109"/>
                </a:cubicBezTo>
                <a:close/>
                <a:moveTo>
                  <a:pt x="184547" y="107156"/>
                </a:moveTo>
                <a:cubicBezTo>
                  <a:pt x="187821" y="107156"/>
                  <a:pt x="190500" y="109835"/>
                  <a:pt x="190500" y="113109"/>
                </a:cubicBezTo>
                <a:lnTo>
                  <a:pt x="190500" y="125016"/>
                </a:lnTo>
                <a:cubicBezTo>
                  <a:pt x="190500" y="128290"/>
                  <a:pt x="187821" y="130969"/>
                  <a:pt x="184547" y="130969"/>
                </a:cubicBezTo>
                <a:lnTo>
                  <a:pt x="172641" y="130969"/>
                </a:lnTo>
                <a:cubicBezTo>
                  <a:pt x="169366" y="130969"/>
                  <a:pt x="166688" y="128290"/>
                  <a:pt x="166688" y="125016"/>
                </a:cubicBezTo>
                <a:lnTo>
                  <a:pt x="166688" y="113109"/>
                </a:lnTo>
                <a:cubicBezTo>
                  <a:pt x="166688" y="109835"/>
                  <a:pt x="169366" y="107156"/>
                  <a:pt x="172641" y="107156"/>
                </a:cubicBezTo>
                <a:lnTo>
                  <a:pt x="184547" y="107156"/>
                </a:lnTo>
                <a:close/>
                <a:moveTo>
                  <a:pt x="95250" y="113109"/>
                </a:moveTo>
                <a:lnTo>
                  <a:pt x="95250" y="125016"/>
                </a:lnTo>
                <a:cubicBezTo>
                  <a:pt x="95250" y="128290"/>
                  <a:pt x="92571" y="130969"/>
                  <a:pt x="89297" y="130969"/>
                </a:cubicBezTo>
                <a:lnTo>
                  <a:pt x="77391" y="130969"/>
                </a:lnTo>
                <a:cubicBezTo>
                  <a:pt x="74116" y="130969"/>
                  <a:pt x="71438" y="128290"/>
                  <a:pt x="71438" y="125016"/>
                </a:cubicBezTo>
                <a:lnTo>
                  <a:pt x="71438" y="113109"/>
                </a:lnTo>
                <a:cubicBezTo>
                  <a:pt x="71438" y="109835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9835"/>
                  <a:pt x="95250" y="113109"/>
                </a:cubicBezTo>
                <a:close/>
                <a:moveTo>
                  <a:pt x="89297" y="71438"/>
                </a:moveTo>
                <a:cubicBezTo>
                  <a:pt x="92571" y="71438"/>
                  <a:pt x="95250" y="74116"/>
                  <a:pt x="95250" y="77391"/>
                </a:cubicBezTo>
                <a:lnTo>
                  <a:pt x="95250" y="89297"/>
                </a:lnTo>
                <a:cubicBezTo>
                  <a:pt x="95250" y="92571"/>
                  <a:pt x="92571" y="95250"/>
                  <a:pt x="89297" y="95250"/>
                </a:cubicBezTo>
                <a:lnTo>
                  <a:pt x="77391" y="95250"/>
                </a:lnTo>
                <a:cubicBezTo>
                  <a:pt x="74116" y="95250"/>
                  <a:pt x="71438" y="92571"/>
                  <a:pt x="71438" y="89297"/>
                </a:cubicBezTo>
                <a:lnTo>
                  <a:pt x="71438" y="77391"/>
                </a:lnTo>
                <a:cubicBezTo>
                  <a:pt x="71438" y="74116"/>
                  <a:pt x="74116" y="71438"/>
                  <a:pt x="77391" y="71438"/>
                </a:cubicBezTo>
                <a:lnTo>
                  <a:pt x="89297" y="71438"/>
                </a:lnTo>
                <a:close/>
                <a:moveTo>
                  <a:pt x="47625" y="113109"/>
                </a:moveTo>
                <a:lnTo>
                  <a:pt x="47625" y="125016"/>
                </a:lnTo>
                <a:cubicBezTo>
                  <a:pt x="47625" y="128290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28290"/>
                  <a:pt x="23812" y="125016"/>
                </a:cubicBezTo>
                <a:lnTo>
                  <a:pt x="23812" y="113109"/>
                </a:lnTo>
                <a:cubicBezTo>
                  <a:pt x="23812" y="109835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9835"/>
                  <a:pt x="47625" y="113109"/>
                </a:cubicBezTo>
                <a:close/>
                <a:moveTo>
                  <a:pt x="41672" y="71438"/>
                </a:moveTo>
                <a:cubicBezTo>
                  <a:pt x="44946" y="71438"/>
                  <a:pt x="47625" y="74116"/>
                  <a:pt x="47625" y="77391"/>
                </a:cubicBezTo>
                <a:lnTo>
                  <a:pt x="47625" y="89297"/>
                </a:lnTo>
                <a:cubicBezTo>
                  <a:pt x="47625" y="92571"/>
                  <a:pt x="44946" y="95250"/>
                  <a:pt x="41672" y="95250"/>
                </a:cubicBezTo>
                <a:lnTo>
                  <a:pt x="29766" y="95250"/>
                </a:lnTo>
                <a:cubicBezTo>
                  <a:pt x="26491" y="95250"/>
                  <a:pt x="23812" y="92571"/>
                  <a:pt x="23812" y="89297"/>
                </a:cubicBezTo>
                <a:lnTo>
                  <a:pt x="23812" y="77391"/>
                </a:lnTo>
                <a:cubicBezTo>
                  <a:pt x="23812" y="74116"/>
                  <a:pt x="26491" y="71438"/>
                  <a:pt x="29766" y="71438"/>
                </a:cubicBezTo>
                <a:lnTo>
                  <a:pt x="41672" y="71438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1" name="Text 8"/>
          <p:cNvSpPr/>
          <p:nvPr/>
        </p:nvSpPr>
        <p:spPr>
          <a:xfrm>
            <a:off x="1019175" y="2495550"/>
            <a:ext cx="306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Urban Problem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3900" y="2838450"/>
            <a:ext cx="3343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congestion is a </a:t>
            </a: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urban challenge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significant impacts.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11610" y="2343150"/>
            <a:ext cx="3590925" cy="1143000"/>
          </a:xfrm>
          <a:custGeom>
            <a:avLst/>
            <a:gdLst/>
            <a:ahLst/>
            <a:cxnLst/>
            <a:rect l="l" t="t" r="r" b="b"/>
            <a:pathLst>
              <a:path w="3590925" h="1143000">
                <a:moveTo>
                  <a:pt x="38100" y="0"/>
                </a:moveTo>
                <a:lnTo>
                  <a:pt x="3514721" y="0"/>
                </a:lnTo>
                <a:cubicBezTo>
                  <a:pt x="3556807" y="0"/>
                  <a:pt x="3590925" y="34118"/>
                  <a:pt x="3590925" y="76204"/>
                </a:cubicBezTo>
                <a:lnTo>
                  <a:pt x="3590925" y="1066796"/>
                </a:lnTo>
                <a:cubicBezTo>
                  <a:pt x="3590925" y="1108882"/>
                  <a:pt x="3556807" y="1143000"/>
                  <a:pt x="3514721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1"/>
          <p:cNvSpPr/>
          <p:nvPr/>
        </p:nvSpPr>
        <p:spPr>
          <a:xfrm>
            <a:off x="4311610" y="23431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5" name="Shape 12"/>
          <p:cNvSpPr/>
          <p:nvPr/>
        </p:nvSpPr>
        <p:spPr>
          <a:xfrm>
            <a:off x="4506873" y="25260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" name="Text 13"/>
          <p:cNvSpPr/>
          <p:nvPr/>
        </p:nvSpPr>
        <p:spPr>
          <a:xfrm>
            <a:off x="4778335" y="2495550"/>
            <a:ext cx="306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83060" y="2838450"/>
            <a:ext cx="3343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systems are </a:t>
            </a: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reactive, costly, and difficult to scale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70771" y="2343150"/>
            <a:ext cx="3590925" cy="1143000"/>
          </a:xfrm>
          <a:custGeom>
            <a:avLst/>
            <a:gdLst/>
            <a:ahLst/>
            <a:cxnLst/>
            <a:rect l="l" t="t" r="r" b="b"/>
            <a:pathLst>
              <a:path w="3590925" h="1143000">
                <a:moveTo>
                  <a:pt x="38100" y="0"/>
                </a:moveTo>
                <a:lnTo>
                  <a:pt x="3514721" y="0"/>
                </a:lnTo>
                <a:cubicBezTo>
                  <a:pt x="3556807" y="0"/>
                  <a:pt x="3590925" y="34118"/>
                  <a:pt x="3590925" y="76204"/>
                </a:cubicBezTo>
                <a:lnTo>
                  <a:pt x="3590925" y="1066796"/>
                </a:lnTo>
                <a:cubicBezTo>
                  <a:pt x="3590925" y="1108882"/>
                  <a:pt x="3556807" y="1143000"/>
                  <a:pt x="3514721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Shape 16"/>
          <p:cNvSpPr/>
          <p:nvPr/>
        </p:nvSpPr>
        <p:spPr>
          <a:xfrm>
            <a:off x="8070771" y="23431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0" name="Shape 17"/>
          <p:cNvSpPr/>
          <p:nvPr/>
        </p:nvSpPr>
        <p:spPr>
          <a:xfrm>
            <a:off x="8289846" y="252603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1" name="Text 18"/>
          <p:cNvSpPr/>
          <p:nvPr/>
        </p:nvSpPr>
        <p:spPr>
          <a:xfrm>
            <a:off x="8537496" y="2495550"/>
            <a:ext cx="306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ML Solution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42221" y="2838450"/>
            <a:ext cx="3343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Proactive, cost-effective, and scalable approach using ML.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3400" y="3638550"/>
            <a:ext cx="11125200" cy="1295400"/>
          </a:xfrm>
          <a:custGeom>
            <a:avLst/>
            <a:gdLst/>
            <a:ahLst/>
            <a:cxnLst/>
            <a:rect l="l" t="t" r="r" b="b"/>
            <a:pathLst>
              <a:path w="11125200" h="1295400">
                <a:moveTo>
                  <a:pt x="76195" y="0"/>
                </a:moveTo>
                <a:lnTo>
                  <a:pt x="11049005" y="0"/>
                </a:lnTo>
                <a:cubicBezTo>
                  <a:pt x="11091058" y="0"/>
                  <a:pt x="11125200" y="34142"/>
                  <a:pt x="11125200" y="76195"/>
                </a:cubicBezTo>
                <a:lnTo>
                  <a:pt x="11125200" y="1219205"/>
                </a:lnTo>
                <a:cubicBezTo>
                  <a:pt x="11125200" y="1261286"/>
                  <a:pt x="11091086" y="1295400"/>
                  <a:pt x="110490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>
                  <a:alpha val="20000"/>
                </a:srgbClr>
              </a:gs>
              <a:gs pos="100000">
                <a:srgbClr val="4A6C8C">
                  <a:alpha val="15000"/>
                </a:srgbClr>
              </a:gs>
            </a:gsLst>
            <a:lin ang="0" scaled="1"/>
          </a:gradFill>
          <a:ln/>
        </p:spPr>
      </p:sp>
      <p:sp>
        <p:nvSpPr>
          <p:cNvPr id="24" name="Shape 21"/>
          <p:cNvSpPr/>
          <p:nvPr/>
        </p:nvSpPr>
        <p:spPr>
          <a:xfrm>
            <a:off x="714375" y="38289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5" name="Text 22"/>
          <p:cNvSpPr/>
          <p:nvPr/>
        </p:nvSpPr>
        <p:spPr>
          <a:xfrm>
            <a:off x="971550" y="3790950"/>
            <a:ext cx="10648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B5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Contributions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09613" y="424802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7" name="Text 24"/>
          <p:cNvSpPr/>
          <p:nvPr/>
        </p:nvSpPr>
        <p:spPr>
          <a:xfrm>
            <a:off x="1038225" y="4209929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Prediction: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Forecasts before it occurs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76963" y="424802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9" name="Text 26"/>
          <p:cNvSpPr/>
          <p:nvPr/>
        </p:nvSpPr>
        <p:spPr>
          <a:xfrm>
            <a:off x="6505575" y="4209929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Cost-Effective: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Minimal infrastructure needs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09613" y="459092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1" name="Text 28"/>
          <p:cNvSpPr/>
          <p:nvPr/>
        </p:nvSpPr>
        <p:spPr>
          <a:xfrm>
            <a:off x="1038225" y="4552829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historical patterns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176963" y="459092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33" name="Text 30"/>
          <p:cNvSpPr/>
          <p:nvPr/>
        </p:nvSpPr>
        <p:spPr>
          <a:xfrm>
            <a:off x="6505575" y="4552829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Deployable across cities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81000" y="5238629"/>
            <a:ext cx="11430000" cy="495300"/>
          </a:xfrm>
          <a:custGeom>
            <a:avLst/>
            <a:gdLst/>
            <a:ahLst/>
            <a:cxnLst/>
            <a:rect l="l" t="t" r="r" b="b"/>
            <a:pathLst>
              <a:path w="11430000" h="4953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419098"/>
                </a:lnTo>
                <a:cubicBezTo>
                  <a:pt x="11430000" y="461183"/>
                  <a:pt x="11395883" y="495300"/>
                  <a:pt x="113537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CB5AB"/>
              </a:gs>
              <a:gs pos="100000">
                <a:srgbClr val="4A6C8C"/>
              </a:gs>
            </a:gsLst>
            <a:lin ang="0" scaled="1"/>
          </a:gradFill>
          <a:ln/>
        </p:spPr>
      </p:sp>
      <p:sp>
        <p:nvSpPr>
          <p:cNvPr id="35" name="Text 32"/>
          <p:cNvSpPr/>
          <p:nvPr/>
        </p:nvSpPr>
        <p:spPr>
          <a:xfrm>
            <a:off x="447675" y="5352929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Vision: A step toward smarter, more efficient cities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02da7fd9d9e35afb788656d63051907c664ff80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4A6C8C">
                  <a:alpha val="4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372928" y="939403"/>
            <a:ext cx="3448050" cy="876300"/>
          </a:xfrm>
          <a:custGeom>
            <a:avLst/>
            <a:gdLst/>
            <a:ahLst/>
            <a:cxnLst/>
            <a:rect l="l" t="t" r="r" b="b"/>
            <a:pathLst>
              <a:path w="3448050" h="876300">
                <a:moveTo>
                  <a:pt x="76203" y="0"/>
                </a:moveTo>
                <a:lnTo>
                  <a:pt x="3371847" y="0"/>
                </a:lnTo>
                <a:cubicBezTo>
                  <a:pt x="3413933" y="0"/>
                  <a:pt x="3448050" y="34117"/>
                  <a:pt x="3448050" y="76203"/>
                </a:cubicBezTo>
                <a:lnTo>
                  <a:pt x="3448050" y="800097"/>
                </a:lnTo>
                <a:cubicBezTo>
                  <a:pt x="3448050" y="842183"/>
                  <a:pt x="3413933" y="876300"/>
                  <a:pt x="33718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5" name="Text 2"/>
          <p:cNvSpPr/>
          <p:nvPr/>
        </p:nvSpPr>
        <p:spPr>
          <a:xfrm>
            <a:off x="4534853" y="1091803"/>
            <a:ext cx="312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81481" y="2044303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7" name="Text 4"/>
          <p:cNvSpPr/>
          <p:nvPr/>
        </p:nvSpPr>
        <p:spPr>
          <a:xfrm>
            <a:off x="4301490" y="2311003"/>
            <a:ext cx="35909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79413" y="3003947"/>
            <a:ext cx="4429125" cy="2343150"/>
          </a:xfrm>
          <a:custGeom>
            <a:avLst/>
            <a:gdLst/>
            <a:ahLst/>
            <a:cxnLst/>
            <a:rect l="l" t="t" r="r" b="b"/>
            <a:pathLst>
              <a:path w="4429125" h="2343150">
                <a:moveTo>
                  <a:pt x="76199" y="0"/>
                </a:moveTo>
                <a:lnTo>
                  <a:pt x="4352926" y="0"/>
                </a:lnTo>
                <a:cubicBezTo>
                  <a:pt x="4395009" y="0"/>
                  <a:pt x="4429125" y="34116"/>
                  <a:pt x="4429125" y="76199"/>
                </a:cubicBezTo>
                <a:lnTo>
                  <a:pt x="4429125" y="2266951"/>
                </a:lnTo>
                <a:cubicBezTo>
                  <a:pt x="4429125" y="2309034"/>
                  <a:pt x="4395009" y="2343150"/>
                  <a:pt x="4352926" y="2343150"/>
                </a:cubicBezTo>
                <a:lnTo>
                  <a:pt x="76199" y="2343150"/>
                </a:lnTo>
                <a:cubicBezTo>
                  <a:pt x="34116" y="2343150"/>
                  <a:pt x="0" y="2309034"/>
                  <a:pt x="0" y="22669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60225" y="323254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0" name="Shape 7"/>
          <p:cNvSpPr/>
          <p:nvPr/>
        </p:nvSpPr>
        <p:spPr>
          <a:xfrm>
            <a:off x="4918591" y="3470672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14201"/>
                  <a:pt x="196565" y="169664"/>
                  <a:pt x="141591" y="169664"/>
                </a:cubicBezTo>
                <a:lnTo>
                  <a:pt x="108440" y="16966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8"/>
          <p:cNvSpPr/>
          <p:nvPr/>
        </p:nvSpPr>
        <p:spPr>
          <a:xfrm>
            <a:off x="5650825" y="3289697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50825" y="3594497"/>
            <a:ext cx="2019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Kathera Karthik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08013" y="4223147"/>
            <a:ext cx="1171575" cy="895350"/>
          </a:xfrm>
          <a:custGeom>
            <a:avLst/>
            <a:gdLst/>
            <a:ahLst/>
            <a:cxnLst/>
            <a:rect l="l" t="t" r="r" b="b"/>
            <a:pathLst>
              <a:path w="1171575" h="895350">
                <a:moveTo>
                  <a:pt x="76203" y="0"/>
                </a:moveTo>
                <a:lnTo>
                  <a:pt x="1095372" y="0"/>
                </a:lnTo>
                <a:cubicBezTo>
                  <a:pt x="1137458" y="0"/>
                  <a:pt x="1171575" y="34117"/>
                  <a:pt x="1171575" y="76203"/>
                </a:cubicBezTo>
                <a:lnTo>
                  <a:pt x="1171575" y="819147"/>
                </a:lnTo>
                <a:cubicBezTo>
                  <a:pt x="1171575" y="861233"/>
                  <a:pt x="1137458" y="895350"/>
                  <a:pt x="109537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1"/>
          <p:cNvSpPr/>
          <p:nvPr/>
        </p:nvSpPr>
        <p:spPr>
          <a:xfrm>
            <a:off x="4553903" y="437554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5" name="Text 12"/>
          <p:cNvSpPr/>
          <p:nvPr/>
        </p:nvSpPr>
        <p:spPr>
          <a:xfrm>
            <a:off x="4222313" y="4737497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509498" y="4223147"/>
            <a:ext cx="1171575" cy="895350"/>
          </a:xfrm>
          <a:custGeom>
            <a:avLst/>
            <a:gdLst/>
            <a:ahLst/>
            <a:cxnLst/>
            <a:rect l="l" t="t" r="r" b="b"/>
            <a:pathLst>
              <a:path w="1171575" h="895350">
                <a:moveTo>
                  <a:pt x="76203" y="0"/>
                </a:moveTo>
                <a:lnTo>
                  <a:pt x="1095372" y="0"/>
                </a:lnTo>
                <a:cubicBezTo>
                  <a:pt x="1137458" y="0"/>
                  <a:pt x="1171575" y="34117"/>
                  <a:pt x="1171575" y="76203"/>
                </a:cubicBezTo>
                <a:lnTo>
                  <a:pt x="1171575" y="819147"/>
                </a:lnTo>
                <a:cubicBezTo>
                  <a:pt x="1171575" y="861233"/>
                  <a:pt x="1137458" y="895350"/>
                  <a:pt x="109537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Shape 14"/>
          <p:cNvSpPr/>
          <p:nvPr/>
        </p:nvSpPr>
        <p:spPr>
          <a:xfrm>
            <a:off x="5937528" y="437554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18" name="Text 15"/>
          <p:cNvSpPr/>
          <p:nvPr/>
        </p:nvSpPr>
        <p:spPr>
          <a:xfrm>
            <a:off x="5623798" y="4737497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10983" y="4223147"/>
            <a:ext cx="1171575" cy="895350"/>
          </a:xfrm>
          <a:custGeom>
            <a:avLst/>
            <a:gdLst/>
            <a:ahLst/>
            <a:cxnLst/>
            <a:rect l="l" t="t" r="r" b="b"/>
            <a:pathLst>
              <a:path w="1171575" h="895350">
                <a:moveTo>
                  <a:pt x="76203" y="0"/>
                </a:moveTo>
                <a:lnTo>
                  <a:pt x="1095372" y="0"/>
                </a:lnTo>
                <a:cubicBezTo>
                  <a:pt x="1137458" y="0"/>
                  <a:pt x="1171575" y="34117"/>
                  <a:pt x="1171575" y="76203"/>
                </a:cubicBezTo>
                <a:lnTo>
                  <a:pt x="1171575" y="819147"/>
                </a:lnTo>
                <a:cubicBezTo>
                  <a:pt x="1171575" y="861233"/>
                  <a:pt x="1137458" y="895350"/>
                  <a:pt x="109537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Shape 17"/>
          <p:cNvSpPr/>
          <p:nvPr/>
        </p:nvSpPr>
        <p:spPr>
          <a:xfrm>
            <a:off x="7374731" y="437554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61559" y="0"/>
                  <a:pt x="53578" y="7981"/>
                  <a:pt x="53578" y="17859"/>
                </a:cubicBezTo>
                <a:lnTo>
                  <a:pt x="53578" y="35719"/>
                </a:lnTo>
                <a:lnTo>
                  <a:pt x="35719" y="35719"/>
                </a:lnTo>
                <a:cubicBezTo>
                  <a:pt x="16018" y="35719"/>
                  <a:pt x="0" y="51736"/>
                  <a:pt x="0" y="71438"/>
                </a:cubicBezTo>
                <a:lnTo>
                  <a:pt x="0" y="98227"/>
                </a:lnTo>
                <a:lnTo>
                  <a:pt x="250031" y="98227"/>
                </a:ln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196453" y="35719"/>
                </a:lnTo>
                <a:lnTo>
                  <a:pt x="196453" y="17859"/>
                </a:lnTo>
                <a:cubicBezTo>
                  <a:pt x="196453" y="7981"/>
                  <a:pt x="188472" y="0"/>
                  <a:pt x="178594" y="0"/>
                </a:cubicBezTo>
                <a:cubicBezTo>
                  <a:pt x="168715" y="0"/>
                  <a:pt x="160734" y="7981"/>
                  <a:pt x="160734" y="17859"/>
                </a:cubicBezTo>
                <a:lnTo>
                  <a:pt x="160734" y="35719"/>
                </a:lnTo>
                <a:lnTo>
                  <a:pt x="89297" y="35719"/>
                </a:lnTo>
                <a:lnTo>
                  <a:pt x="89297" y="17859"/>
                </a:lnTo>
                <a:cubicBezTo>
                  <a:pt x="89297" y="7981"/>
                  <a:pt x="81316" y="0"/>
                  <a:pt x="71438" y="0"/>
                </a:cubicBezTo>
                <a:close/>
                <a:moveTo>
                  <a:pt x="0" y="125016"/>
                </a:move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25016"/>
                </a:lnTo>
                <a:lnTo>
                  <a:pt x="0" y="125016"/>
                </a:lnTo>
                <a:close/>
              </a:path>
            </a:pathLst>
          </a:custGeom>
          <a:solidFill>
            <a:srgbClr val="4CB5AB"/>
          </a:solidFill>
          <a:ln/>
        </p:spPr>
      </p:sp>
      <p:sp>
        <p:nvSpPr>
          <p:cNvPr id="21" name="Text 18"/>
          <p:cNvSpPr/>
          <p:nvPr/>
        </p:nvSpPr>
        <p:spPr>
          <a:xfrm>
            <a:off x="7025283" y="4737497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 2026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737729" y="5651897"/>
            <a:ext cx="471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4CB5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"Transforming Traffic Management Through Intelligence"</a:t>
            </a: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729779-43E9-4151-88C5-BF93BE4A926A}"/>
              </a:ext>
            </a:extLst>
          </p:cNvPr>
          <p:cNvSpPr/>
          <p:nvPr/>
        </p:nvSpPr>
        <p:spPr>
          <a:xfrm>
            <a:off x="58133" y="67678"/>
            <a:ext cx="12071683" cy="6790322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endParaRPr lang="en-IN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419C6B5-B7A4-0C99-B658-01A7DE5A30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811463" y="429001"/>
            <a:ext cx="10666663" cy="59999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80</TotalTime>
  <Words>1437</Words>
  <Application>Microsoft Office PowerPoint</Application>
  <PresentationFormat>Widescreen</PresentationFormat>
  <Paragraphs>313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Liter</vt:lpstr>
      <vt:lpstr>Arial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Proactive Traffic Congestion Prediction and Signal Optimization Using Machine Learning</dc:title>
  <dc:subject>Proactive Traffic Congestion Prediction and Signal Optimization Using Machine Learning</dc:subject>
  <dc:creator>Kimi</dc:creator>
  <cp:lastModifiedBy>Karthik Kathera</cp:lastModifiedBy>
  <cp:revision>4</cp:revision>
  <dcterms:created xsi:type="dcterms:W3CDTF">2026-01-26T07:16:30Z</dcterms:created>
  <dcterms:modified xsi:type="dcterms:W3CDTF">2026-01-27T06:41:40Z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{"Label":"Proactive Traffic Congestion Prediction and Signal Optimization Using Machine Learning","ContentProducer":"001191110108MACG2KBH8F10000","ProduceID":"19bf91f9-d2b2-8860-8000-00009cfe53fe","ReservedCode1":"","ContentPropagator":"001191110108MACG2KBH8F20000","PropagateID":"19bf91f9-d2b2-8860-8000-00009cfe53fe","ReservedCode2":""}</vt:lpwstr>
  </property>
</Properties>
</file>